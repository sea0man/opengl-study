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72" r:id="rId12"/>
  </p:sldIdLst>
  <p:sldSz cx="10690225" cy="7562850"/>
  <p:notesSz cx="7772400" cy="10058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/>
        <a:cs typeface="DejaVu San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CC"/>
    <a:srgbClr val="F8C6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01" autoAdjust="0"/>
    <p:restoredTop sz="94660"/>
  </p:normalViewPr>
  <p:slideViewPr>
    <p:cSldViewPr snapToGrid="0">
      <p:cViewPr>
        <p:scale>
          <a:sx n="100" d="100"/>
          <a:sy n="100" d="100"/>
        </p:scale>
        <p:origin x="-336" y="-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91D161A-041C-4D1C-B884-5E12A18CDB1E}" type="datetimeFigureOut">
              <a:rPr lang="en-US"/>
              <a:pPr>
                <a:defRPr/>
              </a:pPr>
              <a:t>3/19/2025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87488" y="1257300"/>
            <a:ext cx="4797425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98082B9-34CC-4F08-8E00-96788EDEA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146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000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32800" y="300600"/>
            <a:ext cx="9618840" cy="1261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33520" y="1768680"/>
            <a:ext cx="4694040" cy="43851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99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32800" y="300600"/>
            <a:ext cx="9618840" cy="1261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33520" y="1768680"/>
            <a:ext cx="4694040" cy="43851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32800" y="300600"/>
            <a:ext cx="9618840" cy="1261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33520" y="1768680"/>
            <a:ext cx="2290680" cy="43851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2939040" y="1768680"/>
            <a:ext cx="2290680" cy="43851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13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32800" y="300600"/>
            <a:ext cx="9618840" cy="1261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203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32800" y="300600"/>
            <a:ext cx="9618840" cy="585036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51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32800" y="300600"/>
            <a:ext cx="9618840" cy="1261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33520" y="1768680"/>
            <a:ext cx="2290680" cy="209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2939040" y="1768680"/>
            <a:ext cx="2290680" cy="43851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33520" y="4059360"/>
            <a:ext cx="2290680" cy="209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661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32800" y="300600"/>
            <a:ext cx="9618840" cy="1261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33520" y="1768680"/>
            <a:ext cx="2290680" cy="43851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2939040" y="1768680"/>
            <a:ext cx="2290680" cy="209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2939040" y="4059360"/>
            <a:ext cx="2290680" cy="209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74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32800" y="300600"/>
            <a:ext cx="9618840" cy="1261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33520" y="1768680"/>
            <a:ext cx="2290680" cy="209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2939040" y="1768680"/>
            <a:ext cx="2290680" cy="209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33520" y="4059360"/>
            <a:ext cx="4694040" cy="209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802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32800" y="300600"/>
            <a:ext cx="9618840" cy="1261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33520" y="1768680"/>
            <a:ext cx="4694040" cy="209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33520" y="4059360"/>
            <a:ext cx="4694040" cy="209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54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2800" y="300600"/>
            <a:ext cx="9618840" cy="1261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33520" y="1768680"/>
            <a:ext cx="2290680" cy="209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2939040" y="1768680"/>
            <a:ext cx="2290680" cy="209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33520" y="4059360"/>
            <a:ext cx="2290680" cy="209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2939040" y="4059360"/>
            <a:ext cx="2290680" cy="209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80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32800" y="300600"/>
            <a:ext cx="9618840" cy="1261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33520" y="1768680"/>
            <a:ext cx="1511280" cy="209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2120760" y="1768680"/>
            <a:ext cx="1511280" cy="209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3708000" y="1768680"/>
            <a:ext cx="1511280" cy="209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33520" y="4059360"/>
            <a:ext cx="1511280" cy="209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2120760" y="4059360"/>
            <a:ext cx="1511280" cy="209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3708000" y="4059360"/>
            <a:ext cx="1511280" cy="2091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834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3000">
              <a:srgbClr val="FFFFCC"/>
            </a:gs>
            <a:gs pos="100000">
              <a:srgbClr val="F8C64A"/>
            </a:gs>
            <a:gs pos="100000">
              <a:schemeClr val="accent1">
                <a:lumMod val="30000"/>
                <a:lumOff val="70000"/>
              </a:schemeClr>
            </a:gs>
          </a:gsLst>
          <a:lin ang="5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ceHolder 1"/>
          <p:cNvSpPr>
            <a:spLocks noGrp="1"/>
          </p:cNvSpPr>
          <p:nvPr>
            <p:ph type="title"/>
          </p:nvPr>
        </p:nvSpPr>
        <p:spPr bwMode="auto">
          <a:xfrm>
            <a:off x="534988" y="301625"/>
            <a:ext cx="9620250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34988" y="1770063"/>
            <a:ext cx="9620250" cy="4384675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/>
          <a:cs typeface="DejaVu Sans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/>
          <a:cs typeface="DejaVu Sans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/>
          <a:cs typeface="DejaVu Sans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/>
          <a:cs typeface="DejaVu Sans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/>
          <a:cs typeface="DejaVu Sans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/>
          <a:cs typeface="DejaVu Sans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/>
          <a:cs typeface="DejaVu Sans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DejaVu Sans"/>
          <a:cs typeface="DejaVu Sans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CustomShape 1"/>
          <p:cNvSpPr/>
          <p:nvPr/>
        </p:nvSpPr>
        <p:spPr>
          <a:xfrm>
            <a:off x="712788" y="239713"/>
            <a:ext cx="9240837" cy="103663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marL="72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defRPr/>
            </a:pPr>
            <a:r>
              <a:rPr lang="en-US" sz="2800" b="1" spc="-1" dirty="0">
                <a:solidFill>
                  <a:srgbClr val="000000"/>
                </a:solidFill>
              </a:rPr>
              <a:t>Ilia State University</a:t>
            </a:r>
            <a:r>
              <a:rPr sz="2800" b="1" dirty="0"/>
              <a:t/>
            </a:r>
            <a:br>
              <a:rPr sz="2800" b="1" dirty="0"/>
            </a:br>
            <a:r>
              <a:rPr lang="en-US" sz="2800" b="1" spc="-1" dirty="0">
                <a:solidFill>
                  <a:srgbClr val="000000"/>
                </a:solidFill>
              </a:rPr>
              <a:t>Prof. Dr. George </a:t>
            </a:r>
            <a:r>
              <a:rPr lang="en-US" sz="2800" b="1" spc="-1" dirty="0" err="1">
                <a:solidFill>
                  <a:srgbClr val="000000"/>
                </a:solidFill>
              </a:rPr>
              <a:t>Partskhaladze</a:t>
            </a:r>
            <a:endParaRPr lang="en-US" sz="2800" b="1" spc="-1" dirty="0"/>
          </a:p>
        </p:txBody>
      </p:sp>
      <p:sp>
        <p:nvSpPr>
          <p:cNvPr id="236" name="CustomShape 2"/>
          <p:cNvSpPr/>
          <p:nvPr/>
        </p:nvSpPr>
        <p:spPr>
          <a:xfrm>
            <a:off x="712788" y="1779588"/>
            <a:ext cx="9139238" cy="124936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rmAutofit fontScale="82500" lnSpcReduction="20000"/>
          </a:bodyPr>
          <a:lstStyle/>
          <a:p>
            <a:pPr algn="ctr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spc="-1" dirty="0" smtClean="0">
                <a:solidFill>
                  <a:srgbClr val="000000"/>
                </a:solidFill>
                <a:ea typeface="Times New Roman"/>
              </a:rPr>
              <a:t>Computer Graphics and</a:t>
            </a:r>
          </a:p>
          <a:p>
            <a:pPr algn="ctr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b="1" spc="-1" dirty="0" smtClean="0">
                <a:solidFill>
                  <a:srgbClr val="000000"/>
                </a:solidFill>
              </a:rPr>
              <a:t>Computational Geometry</a:t>
            </a:r>
            <a:endParaRPr lang="en-US" sz="4400" spc="-1" dirty="0"/>
          </a:p>
        </p:txBody>
      </p:sp>
      <p:sp>
        <p:nvSpPr>
          <p:cNvPr id="237" name="CustomShape 3"/>
          <p:cNvSpPr/>
          <p:nvPr/>
        </p:nvSpPr>
        <p:spPr>
          <a:xfrm>
            <a:off x="814387" y="3781424"/>
            <a:ext cx="9139238" cy="26574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/>
            <a:r>
              <a:rPr lang="en-US" sz="2000" b="1" dirty="0" smtClean="0"/>
              <a:t>Lecture </a:t>
            </a:r>
            <a:r>
              <a:rPr lang="ka-GE" sz="2000" b="1" dirty="0" smtClean="0"/>
              <a:t>3</a:t>
            </a:r>
            <a:r>
              <a:rPr lang="en-US" sz="2000" b="1" dirty="0" smtClean="0"/>
              <a:t>.</a:t>
            </a:r>
            <a:endParaRPr lang="en-US" sz="2000" b="1" dirty="0" smtClean="0"/>
          </a:p>
          <a:p>
            <a:pPr algn="ctr"/>
            <a:endParaRPr lang="en-US" sz="2000" b="1" dirty="0" smtClean="0"/>
          </a:p>
          <a:p>
            <a:pPr algn="ctr"/>
            <a:r>
              <a:rPr lang="en-US" sz="4800" b="1" spc="-1" dirty="0" smtClean="0">
                <a:solidFill>
                  <a:srgbClr val="C00000"/>
                </a:solidFill>
              </a:rPr>
              <a:t>Vectorization. </a:t>
            </a:r>
          </a:p>
          <a:p>
            <a:pPr algn="ctr"/>
            <a:r>
              <a:rPr lang="en-US" sz="4800" b="1" spc="-1" dirty="0" err="1" smtClean="0">
                <a:solidFill>
                  <a:srgbClr val="C00000"/>
                </a:solidFill>
              </a:rPr>
              <a:t>Bresenham</a:t>
            </a:r>
            <a:r>
              <a:rPr lang="en-US" sz="4800" b="1" spc="-1" dirty="0" smtClean="0">
                <a:solidFill>
                  <a:srgbClr val="C00000"/>
                </a:solidFill>
              </a:rPr>
              <a:t> algorithm.</a:t>
            </a:r>
            <a:endParaRPr lang="en-US" sz="4800" b="1" spc="-1" dirty="0">
              <a:solidFill>
                <a:srgbClr val="C00000"/>
              </a:solidFill>
            </a:endParaRPr>
          </a:p>
          <a:p>
            <a:pPr algn="ctr" eaLnBrk="1" fontAlgn="auto" hangingPunct="1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defRPr/>
            </a:pPr>
            <a:endParaRPr lang="en-US" sz="3200" spc="-1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91837" y="266610"/>
            <a:ext cx="4221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Raster and Vector Graphics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2800" y="703391"/>
            <a:ext cx="9325575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Raster </a:t>
            </a:r>
            <a:r>
              <a:rPr lang="en-US" sz="2400" b="1" dirty="0"/>
              <a:t>Graphics</a:t>
            </a:r>
            <a:r>
              <a:rPr lang="en-US" sz="2400" dirty="0"/>
              <a:t> – consists of simple, uniformly sized and typed elements (pixels, voxels) whose positions remain fixed. The characteristics of these elements include color (and possibly transparency, managed via the α-channel</a:t>
            </a:r>
            <a:r>
              <a:rPr lang="en-US" sz="2400" dirty="0" smtClean="0"/>
              <a:t>).</a:t>
            </a: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/>
              <a:t>Vector Graphics</a:t>
            </a:r>
            <a:r>
              <a:rPr lang="en-US" sz="2400" dirty="0"/>
              <a:t> – consists of so-called graphical primitives, which represent graphical objects such as: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206500" y="3818602"/>
            <a:ext cx="367982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Circle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Arc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Polygon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Spline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 smtClean="0">
                <a:solidFill>
                  <a:schemeClr val="bg1">
                    <a:lumMod val="50000"/>
                  </a:schemeClr>
                </a:solidFill>
              </a:rPr>
              <a:t>+ </a:t>
            </a:r>
            <a:r>
              <a:rPr lang="en-US" sz="2400" i="1" dirty="0" err="1" smtClean="0">
                <a:solidFill>
                  <a:schemeClr val="bg1">
                    <a:lumMod val="50000"/>
                  </a:schemeClr>
                </a:solidFill>
              </a:rPr>
              <a:t>Evtl</a:t>
            </a:r>
            <a:r>
              <a:rPr lang="en-US" sz="2400" i="1" dirty="0" smtClean="0">
                <a:solidFill>
                  <a:schemeClr val="bg1">
                    <a:lumMod val="50000"/>
                  </a:schemeClr>
                </a:solidFill>
              </a:rPr>
              <a:t>. others</a:t>
            </a:r>
            <a:endParaRPr lang="en-US" sz="2400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30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70899" y="3981450"/>
            <a:ext cx="9192225" cy="3133724"/>
          </a:xfrm>
        </p:spPr>
        <p:txBody>
          <a:bodyPr/>
          <a:lstStyle/>
          <a:p>
            <a:r>
              <a:rPr lang="en-US" sz="2400" dirty="0" smtClean="0"/>
              <a:t>An </a:t>
            </a:r>
            <a:r>
              <a:rPr lang="en-US" sz="2400" dirty="0"/>
              <a:t>example of </a:t>
            </a:r>
            <a:r>
              <a:rPr lang="en-US" sz="2400" b="1" dirty="0" err="1" smtClean="0"/>
              <a:t>rasterisation</a:t>
            </a:r>
            <a:r>
              <a:rPr lang="en-US" sz="2400" dirty="0" smtClean="0"/>
              <a:t> </a:t>
            </a:r>
            <a:r>
              <a:rPr lang="en-US" sz="2400" dirty="0"/>
              <a:t>is converting a vector primitive into video memory.</a:t>
            </a:r>
            <a:br>
              <a:rPr lang="en-US" sz="2400" dirty="0"/>
            </a:br>
            <a:r>
              <a:rPr lang="en-US" sz="2400" dirty="0"/>
              <a:t>A computer screen is a raster device (composed of rows and columns of LEDs). The displayed image is read from </a:t>
            </a:r>
            <a:r>
              <a:rPr lang="en-US" sz="2400" dirty="0" smtClean="0"/>
              <a:t>graphic memory, where </a:t>
            </a:r>
            <a:r>
              <a:rPr lang="en-US" sz="2400" dirty="0"/>
              <a:t>each pixel on the screen corresponds to a unique address with its own value. This value (bits) represents the pixel’s color.</a:t>
            </a:r>
            <a:br>
              <a:rPr lang="en-US" sz="2400" dirty="0"/>
            </a:br>
            <a:r>
              <a:rPr lang="en-US" sz="2400" dirty="0"/>
              <a:t>Thus, a vector primitive must be converted into an appropriate raster image</a:t>
            </a:r>
            <a:r>
              <a:rPr lang="en-US" sz="2400" dirty="0" smtClean="0"/>
              <a:t>.</a:t>
            </a:r>
            <a:endParaRPr lang="en-US" sz="1200" dirty="0"/>
          </a:p>
        </p:txBody>
      </p:sp>
      <p:sp>
        <p:nvSpPr>
          <p:cNvPr id="4" name="Rectangle 3"/>
          <p:cNvSpPr/>
          <p:nvPr/>
        </p:nvSpPr>
        <p:spPr>
          <a:xfrm>
            <a:off x="3291837" y="266610"/>
            <a:ext cx="42216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Raster and Vector Graphics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70900" y="952411"/>
            <a:ext cx="90112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Graphical primitives have multiple attributes, such as </a:t>
            </a:r>
            <a:r>
              <a:rPr lang="en-US" sz="2400" dirty="0">
                <a:solidFill>
                  <a:srgbClr val="C00000"/>
                </a:solidFill>
              </a:rPr>
              <a:t>color</a:t>
            </a:r>
            <a:r>
              <a:rPr lang="en-US" sz="2400" dirty="0"/>
              <a:t> (often separately defined for the outline and fill),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transparency</a:t>
            </a:r>
            <a:r>
              <a:rPr lang="en-US" sz="2400" dirty="0"/>
              <a:t>, </a:t>
            </a:r>
            <a:r>
              <a:rPr lang="en-US" sz="2400" b="1" dirty="0"/>
              <a:t>line thickness</a:t>
            </a:r>
            <a:r>
              <a:rPr lang="en-US" sz="2400" dirty="0"/>
              <a:t>, and line style (solid, dashed, dotted, etc.).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0900" y="2282265"/>
            <a:ext cx="901125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Rasterization</a:t>
            </a:r>
            <a:r>
              <a:rPr lang="en-US" sz="2400" dirty="0"/>
              <a:t> – converting a vector image into a raster image (pixels).</a:t>
            </a:r>
            <a:br>
              <a:rPr lang="en-US" sz="2400" dirty="0"/>
            </a:br>
            <a:r>
              <a:rPr lang="en-US" sz="2400" b="1" dirty="0"/>
              <a:t>Vectorization</a:t>
            </a:r>
            <a:r>
              <a:rPr lang="en-US" sz="2400" dirty="0"/>
              <a:t> – the reverse process, converting a raster image into vector data.</a:t>
            </a:r>
          </a:p>
        </p:txBody>
      </p:sp>
    </p:spTree>
    <p:extLst>
      <p:ext uri="{BB962C8B-B14F-4D97-AF65-F5344CB8AC3E}">
        <p14:creationId xmlns:p14="http://schemas.microsoft.com/office/powerpoint/2010/main" val="331743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600076" y="428307"/>
            <a:ext cx="6089015" cy="3781425"/>
            <a:chOff x="964696" y="1495107"/>
            <a:chExt cx="6089015" cy="3781425"/>
          </a:xfrm>
        </p:grpSpPr>
        <p:grpSp>
          <p:nvGrpSpPr>
            <p:cNvPr id="8" name="Group 7"/>
            <p:cNvGrpSpPr>
              <a:grpSpLocks/>
            </p:cNvGrpSpPr>
            <p:nvPr/>
          </p:nvGrpSpPr>
          <p:grpSpPr bwMode="auto">
            <a:xfrm>
              <a:off x="1093424" y="1542732"/>
              <a:ext cx="5670490" cy="3277235"/>
              <a:chOff x="2697" y="8750"/>
              <a:chExt cx="6865" cy="3970"/>
            </a:xfrm>
          </p:grpSpPr>
          <p:cxnSp>
            <p:nvCxnSpPr>
              <p:cNvPr id="9" name="AutoShape 29"/>
              <p:cNvCxnSpPr>
                <a:cxnSpLocks noChangeShapeType="1"/>
              </p:cNvCxnSpPr>
              <p:nvPr/>
            </p:nvCxnSpPr>
            <p:spPr bwMode="auto">
              <a:xfrm>
                <a:off x="715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" name="AutoShape 30"/>
              <p:cNvCxnSpPr>
                <a:cxnSpLocks noChangeShapeType="1"/>
              </p:cNvCxnSpPr>
              <p:nvPr/>
            </p:nvCxnSpPr>
            <p:spPr bwMode="auto">
              <a:xfrm>
                <a:off x="733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" name="AutoShape 31"/>
              <p:cNvCxnSpPr>
                <a:cxnSpLocks noChangeShapeType="1"/>
              </p:cNvCxnSpPr>
              <p:nvPr/>
            </p:nvCxnSpPr>
            <p:spPr bwMode="auto">
              <a:xfrm>
                <a:off x="752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" name="AutoShape 32"/>
              <p:cNvCxnSpPr>
                <a:cxnSpLocks noChangeShapeType="1"/>
              </p:cNvCxnSpPr>
              <p:nvPr/>
            </p:nvCxnSpPr>
            <p:spPr bwMode="auto">
              <a:xfrm>
                <a:off x="770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" name="AutoShape 33"/>
              <p:cNvCxnSpPr>
                <a:cxnSpLocks noChangeShapeType="1"/>
              </p:cNvCxnSpPr>
              <p:nvPr/>
            </p:nvCxnSpPr>
            <p:spPr bwMode="auto">
              <a:xfrm>
                <a:off x="789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" name="AutoShape 34"/>
              <p:cNvCxnSpPr>
                <a:cxnSpLocks noChangeShapeType="1"/>
              </p:cNvCxnSpPr>
              <p:nvPr/>
            </p:nvCxnSpPr>
            <p:spPr bwMode="auto">
              <a:xfrm>
                <a:off x="807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" name="AutoShape 35"/>
              <p:cNvCxnSpPr>
                <a:cxnSpLocks noChangeShapeType="1"/>
              </p:cNvCxnSpPr>
              <p:nvPr/>
            </p:nvCxnSpPr>
            <p:spPr bwMode="auto">
              <a:xfrm>
                <a:off x="826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AutoShape 36"/>
              <p:cNvCxnSpPr>
                <a:cxnSpLocks noChangeShapeType="1"/>
              </p:cNvCxnSpPr>
              <p:nvPr/>
            </p:nvCxnSpPr>
            <p:spPr bwMode="auto">
              <a:xfrm>
                <a:off x="844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" name="AutoShape 37"/>
              <p:cNvCxnSpPr>
                <a:cxnSpLocks noChangeShapeType="1"/>
              </p:cNvCxnSpPr>
              <p:nvPr/>
            </p:nvCxnSpPr>
            <p:spPr bwMode="auto">
              <a:xfrm>
                <a:off x="863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" name="AutoShape 38"/>
              <p:cNvCxnSpPr>
                <a:cxnSpLocks noChangeShapeType="1"/>
              </p:cNvCxnSpPr>
              <p:nvPr/>
            </p:nvCxnSpPr>
            <p:spPr bwMode="auto">
              <a:xfrm>
                <a:off x="881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AutoShape 39"/>
              <p:cNvCxnSpPr>
                <a:cxnSpLocks noChangeShapeType="1"/>
              </p:cNvCxnSpPr>
              <p:nvPr/>
            </p:nvCxnSpPr>
            <p:spPr bwMode="auto">
              <a:xfrm>
                <a:off x="900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AutoShape 40"/>
              <p:cNvCxnSpPr>
                <a:cxnSpLocks noChangeShapeType="1"/>
              </p:cNvCxnSpPr>
              <p:nvPr/>
            </p:nvCxnSpPr>
            <p:spPr bwMode="auto">
              <a:xfrm>
                <a:off x="918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AutoShape 41"/>
              <p:cNvCxnSpPr>
                <a:cxnSpLocks noChangeShapeType="1"/>
              </p:cNvCxnSpPr>
              <p:nvPr/>
            </p:nvCxnSpPr>
            <p:spPr bwMode="auto">
              <a:xfrm>
                <a:off x="937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AutoShape 42"/>
              <p:cNvCxnSpPr>
                <a:cxnSpLocks noChangeShapeType="1"/>
              </p:cNvCxnSpPr>
              <p:nvPr/>
            </p:nvCxnSpPr>
            <p:spPr bwMode="auto">
              <a:xfrm>
                <a:off x="955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" name="AutoShape 5"/>
              <p:cNvCxnSpPr>
                <a:cxnSpLocks noChangeShapeType="1"/>
              </p:cNvCxnSpPr>
              <p:nvPr/>
            </p:nvCxnSpPr>
            <p:spPr bwMode="auto">
              <a:xfrm>
                <a:off x="2712" y="8750"/>
                <a:ext cx="0" cy="3969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" name="AutoShape 6"/>
              <p:cNvCxnSpPr>
                <a:cxnSpLocks noChangeShapeType="1"/>
              </p:cNvCxnSpPr>
              <p:nvPr/>
            </p:nvCxnSpPr>
            <p:spPr bwMode="auto">
              <a:xfrm>
                <a:off x="289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AutoShape 7"/>
              <p:cNvCxnSpPr>
                <a:cxnSpLocks noChangeShapeType="1"/>
              </p:cNvCxnSpPr>
              <p:nvPr/>
            </p:nvCxnSpPr>
            <p:spPr bwMode="auto">
              <a:xfrm>
                <a:off x="308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6" name="AutoShape 8"/>
              <p:cNvCxnSpPr>
                <a:cxnSpLocks noChangeShapeType="1"/>
              </p:cNvCxnSpPr>
              <p:nvPr/>
            </p:nvCxnSpPr>
            <p:spPr bwMode="auto">
              <a:xfrm>
                <a:off x="326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7" name="AutoShape 9"/>
              <p:cNvCxnSpPr>
                <a:cxnSpLocks noChangeShapeType="1"/>
              </p:cNvCxnSpPr>
              <p:nvPr/>
            </p:nvCxnSpPr>
            <p:spPr bwMode="auto">
              <a:xfrm>
                <a:off x="345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" name="AutoShape 10"/>
              <p:cNvCxnSpPr>
                <a:cxnSpLocks noChangeShapeType="1"/>
              </p:cNvCxnSpPr>
              <p:nvPr/>
            </p:nvCxnSpPr>
            <p:spPr bwMode="auto">
              <a:xfrm>
                <a:off x="363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" name="AutoShape 11"/>
              <p:cNvCxnSpPr>
                <a:cxnSpLocks noChangeShapeType="1"/>
              </p:cNvCxnSpPr>
              <p:nvPr/>
            </p:nvCxnSpPr>
            <p:spPr bwMode="auto">
              <a:xfrm>
                <a:off x="382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" name="AutoShape 12"/>
              <p:cNvCxnSpPr>
                <a:cxnSpLocks noChangeShapeType="1"/>
              </p:cNvCxnSpPr>
              <p:nvPr/>
            </p:nvCxnSpPr>
            <p:spPr bwMode="auto">
              <a:xfrm>
                <a:off x="400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" name="AutoShape 13"/>
              <p:cNvCxnSpPr>
                <a:cxnSpLocks noChangeShapeType="1"/>
              </p:cNvCxnSpPr>
              <p:nvPr/>
            </p:nvCxnSpPr>
            <p:spPr bwMode="auto">
              <a:xfrm>
                <a:off x="419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" name="AutoShape 14"/>
              <p:cNvCxnSpPr>
                <a:cxnSpLocks noChangeShapeType="1"/>
              </p:cNvCxnSpPr>
              <p:nvPr/>
            </p:nvCxnSpPr>
            <p:spPr bwMode="auto">
              <a:xfrm>
                <a:off x="437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3" name="AutoShape 15"/>
              <p:cNvCxnSpPr>
                <a:cxnSpLocks noChangeShapeType="1"/>
              </p:cNvCxnSpPr>
              <p:nvPr/>
            </p:nvCxnSpPr>
            <p:spPr bwMode="auto">
              <a:xfrm>
                <a:off x="456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4" name="AutoShape 16"/>
              <p:cNvCxnSpPr>
                <a:cxnSpLocks noChangeShapeType="1"/>
              </p:cNvCxnSpPr>
              <p:nvPr/>
            </p:nvCxnSpPr>
            <p:spPr bwMode="auto">
              <a:xfrm>
                <a:off x="474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5" name="AutoShape 17"/>
              <p:cNvCxnSpPr>
                <a:cxnSpLocks noChangeShapeType="1"/>
              </p:cNvCxnSpPr>
              <p:nvPr/>
            </p:nvCxnSpPr>
            <p:spPr bwMode="auto">
              <a:xfrm>
                <a:off x="493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6" name="AutoShape 18"/>
              <p:cNvCxnSpPr>
                <a:cxnSpLocks noChangeShapeType="1"/>
              </p:cNvCxnSpPr>
              <p:nvPr/>
            </p:nvCxnSpPr>
            <p:spPr bwMode="auto">
              <a:xfrm>
                <a:off x="511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" name="AutoShape 19"/>
              <p:cNvCxnSpPr>
                <a:cxnSpLocks noChangeShapeType="1"/>
              </p:cNvCxnSpPr>
              <p:nvPr/>
            </p:nvCxnSpPr>
            <p:spPr bwMode="auto">
              <a:xfrm>
                <a:off x="530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8" name="AutoShape 20"/>
              <p:cNvCxnSpPr>
                <a:cxnSpLocks noChangeShapeType="1"/>
              </p:cNvCxnSpPr>
              <p:nvPr/>
            </p:nvCxnSpPr>
            <p:spPr bwMode="auto">
              <a:xfrm>
                <a:off x="548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9" name="AutoShape 21"/>
              <p:cNvCxnSpPr>
                <a:cxnSpLocks noChangeShapeType="1"/>
              </p:cNvCxnSpPr>
              <p:nvPr/>
            </p:nvCxnSpPr>
            <p:spPr bwMode="auto">
              <a:xfrm>
                <a:off x="567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0" name="AutoShape 22"/>
              <p:cNvCxnSpPr>
                <a:cxnSpLocks noChangeShapeType="1"/>
              </p:cNvCxnSpPr>
              <p:nvPr/>
            </p:nvCxnSpPr>
            <p:spPr bwMode="auto">
              <a:xfrm>
                <a:off x="585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1" name="AutoShape 23"/>
              <p:cNvCxnSpPr>
                <a:cxnSpLocks noChangeShapeType="1"/>
              </p:cNvCxnSpPr>
              <p:nvPr/>
            </p:nvCxnSpPr>
            <p:spPr bwMode="auto">
              <a:xfrm>
                <a:off x="604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2" name="AutoShape 24"/>
              <p:cNvCxnSpPr>
                <a:cxnSpLocks noChangeShapeType="1"/>
              </p:cNvCxnSpPr>
              <p:nvPr/>
            </p:nvCxnSpPr>
            <p:spPr bwMode="auto">
              <a:xfrm>
                <a:off x="622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3" name="AutoShape 25"/>
              <p:cNvCxnSpPr>
                <a:cxnSpLocks noChangeShapeType="1"/>
              </p:cNvCxnSpPr>
              <p:nvPr/>
            </p:nvCxnSpPr>
            <p:spPr bwMode="auto">
              <a:xfrm>
                <a:off x="641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4" name="AutoShape 26"/>
              <p:cNvCxnSpPr>
                <a:cxnSpLocks noChangeShapeType="1"/>
              </p:cNvCxnSpPr>
              <p:nvPr/>
            </p:nvCxnSpPr>
            <p:spPr bwMode="auto">
              <a:xfrm>
                <a:off x="659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5" name="AutoShape 27"/>
              <p:cNvCxnSpPr>
                <a:cxnSpLocks noChangeShapeType="1"/>
              </p:cNvCxnSpPr>
              <p:nvPr/>
            </p:nvCxnSpPr>
            <p:spPr bwMode="auto">
              <a:xfrm>
                <a:off x="678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6" name="AutoShape 28"/>
              <p:cNvCxnSpPr>
                <a:cxnSpLocks noChangeShapeType="1"/>
              </p:cNvCxnSpPr>
              <p:nvPr/>
            </p:nvCxnSpPr>
            <p:spPr bwMode="auto">
              <a:xfrm>
                <a:off x="696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7" name="AutoShape 43"/>
              <p:cNvCxnSpPr>
                <a:cxnSpLocks noChangeShapeType="1"/>
              </p:cNvCxnSpPr>
              <p:nvPr/>
            </p:nvCxnSpPr>
            <p:spPr bwMode="auto">
              <a:xfrm>
                <a:off x="2712" y="8750"/>
                <a:ext cx="6846" cy="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8" name="AutoShape 44"/>
              <p:cNvCxnSpPr>
                <a:cxnSpLocks noChangeShapeType="1"/>
              </p:cNvCxnSpPr>
              <p:nvPr/>
            </p:nvCxnSpPr>
            <p:spPr bwMode="auto">
              <a:xfrm>
                <a:off x="2711" y="8935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" name="AutoShape 45"/>
              <p:cNvCxnSpPr>
                <a:cxnSpLocks noChangeShapeType="1"/>
              </p:cNvCxnSpPr>
              <p:nvPr/>
            </p:nvCxnSpPr>
            <p:spPr bwMode="auto">
              <a:xfrm>
                <a:off x="2709" y="9120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0" name="AutoShape 58"/>
              <p:cNvCxnSpPr>
                <a:cxnSpLocks noChangeShapeType="1"/>
              </p:cNvCxnSpPr>
              <p:nvPr/>
            </p:nvCxnSpPr>
            <p:spPr bwMode="auto">
              <a:xfrm>
                <a:off x="2712" y="11526"/>
                <a:ext cx="6847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" name="AutoShape 59"/>
              <p:cNvCxnSpPr>
                <a:cxnSpLocks noChangeShapeType="1"/>
              </p:cNvCxnSpPr>
              <p:nvPr/>
            </p:nvCxnSpPr>
            <p:spPr bwMode="auto">
              <a:xfrm>
                <a:off x="2699" y="11711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2" name="AutoShape 60"/>
              <p:cNvCxnSpPr>
                <a:cxnSpLocks noChangeShapeType="1"/>
              </p:cNvCxnSpPr>
              <p:nvPr/>
            </p:nvCxnSpPr>
            <p:spPr bwMode="auto">
              <a:xfrm>
                <a:off x="2715" y="11896"/>
                <a:ext cx="6845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3" name="AutoShape 61"/>
              <p:cNvCxnSpPr>
                <a:cxnSpLocks noChangeShapeType="1"/>
              </p:cNvCxnSpPr>
              <p:nvPr/>
            </p:nvCxnSpPr>
            <p:spPr bwMode="auto">
              <a:xfrm>
                <a:off x="2701" y="12080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" name="AutoShape 62"/>
              <p:cNvCxnSpPr>
                <a:cxnSpLocks noChangeShapeType="1"/>
              </p:cNvCxnSpPr>
              <p:nvPr/>
            </p:nvCxnSpPr>
            <p:spPr bwMode="auto">
              <a:xfrm>
                <a:off x="2715" y="12263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5" name="AutoShape 63"/>
              <p:cNvCxnSpPr>
                <a:cxnSpLocks noChangeShapeType="1"/>
              </p:cNvCxnSpPr>
              <p:nvPr/>
            </p:nvCxnSpPr>
            <p:spPr bwMode="auto">
              <a:xfrm>
                <a:off x="2713" y="12451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6" name="AutoShape 64"/>
              <p:cNvCxnSpPr>
                <a:cxnSpLocks noChangeShapeType="1"/>
              </p:cNvCxnSpPr>
              <p:nvPr/>
            </p:nvCxnSpPr>
            <p:spPr bwMode="auto">
              <a:xfrm>
                <a:off x="2715" y="12634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7" name="AutoShape 51"/>
              <p:cNvCxnSpPr>
                <a:cxnSpLocks noChangeShapeType="1"/>
              </p:cNvCxnSpPr>
              <p:nvPr/>
            </p:nvCxnSpPr>
            <p:spPr bwMode="auto">
              <a:xfrm>
                <a:off x="2697" y="10230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8" name="AutoShape 52"/>
              <p:cNvCxnSpPr>
                <a:cxnSpLocks noChangeShapeType="1"/>
              </p:cNvCxnSpPr>
              <p:nvPr/>
            </p:nvCxnSpPr>
            <p:spPr bwMode="auto">
              <a:xfrm>
                <a:off x="2715" y="10413"/>
                <a:ext cx="6847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9" name="AutoShape 53"/>
              <p:cNvCxnSpPr>
                <a:cxnSpLocks noChangeShapeType="1"/>
              </p:cNvCxnSpPr>
              <p:nvPr/>
            </p:nvCxnSpPr>
            <p:spPr bwMode="auto">
              <a:xfrm>
                <a:off x="2705" y="10600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0" name="AutoShape 54"/>
              <p:cNvCxnSpPr>
                <a:cxnSpLocks noChangeShapeType="1"/>
              </p:cNvCxnSpPr>
              <p:nvPr/>
            </p:nvCxnSpPr>
            <p:spPr bwMode="auto">
              <a:xfrm>
                <a:off x="2712" y="10784"/>
                <a:ext cx="6847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1" name="AutoShape 55"/>
              <p:cNvCxnSpPr>
                <a:cxnSpLocks noChangeShapeType="1"/>
              </p:cNvCxnSpPr>
              <p:nvPr/>
            </p:nvCxnSpPr>
            <p:spPr bwMode="auto">
              <a:xfrm>
                <a:off x="2714" y="10970"/>
                <a:ext cx="6845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" name="AutoShape 56"/>
              <p:cNvCxnSpPr>
                <a:cxnSpLocks noChangeShapeType="1"/>
              </p:cNvCxnSpPr>
              <p:nvPr/>
            </p:nvCxnSpPr>
            <p:spPr bwMode="auto">
              <a:xfrm>
                <a:off x="2714" y="11154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3" name="AutoShape 57"/>
              <p:cNvCxnSpPr>
                <a:cxnSpLocks noChangeShapeType="1"/>
              </p:cNvCxnSpPr>
              <p:nvPr/>
            </p:nvCxnSpPr>
            <p:spPr bwMode="auto">
              <a:xfrm>
                <a:off x="2714" y="11341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4" name="AutoShape 46"/>
              <p:cNvCxnSpPr>
                <a:cxnSpLocks noChangeShapeType="1"/>
              </p:cNvCxnSpPr>
              <p:nvPr/>
            </p:nvCxnSpPr>
            <p:spPr bwMode="auto">
              <a:xfrm>
                <a:off x="2707" y="9305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5" name="AutoShape 47"/>
              <p:cNvCxnSpPr>
                <a:cxnSpLocks noChangeShapeType="1"/>
              </p:cNvCxnSpPr>
              <p:nvPr/>
            </p:nvCxnSpPr>
            <p:spPr bwMode="auto">
              <a:xfrm>
                <a:off x="2705" y="9490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6" name="AutoShape 48"/>
              <p:cNvCxnSpPr>
                <a:cxnSpLocks noChangeShapeType="1"/>
              </p:cNvCxnSpPr>
              <p:nvPr/>
            </p:nvCxnSpPr>
            <p:spPr bwMode="auto">
              <a:xfrm>
                <a:off x="2703" y="9675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7" name="AutoShape 49"/>
              <p:cNvCxnSpPr>
                <a:cxnSpLocks noChangeShapeType="1"/>
              </p:cNvCxnSpPr>
              <p:nvPr/>
            </p:nvCxnSpPr>
            <p:spPr bwMode="auto">
              <a:xfrm>
                <a:off x="2701" y="9860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8" name="AutoShape 50"/>
              <p:cNvCxnSpPr>
                <a:cxnSpLocks noChangeShapeType="1"/>
              </p:cNvCxnSpPr>
              <p:nvPr/>
            </p:nvCxnSpPr>
            <p:spPr bwMode="auto">
              <a:xfrm>
                <a:off x="2699" y="10045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69" name="AutoShape 4"/>
            <p:cNvCxnSpPr>
              <a:cxnSpLocks noChangeShapeType="1"/>
            </p:cNvCxnSpPr>
            <p:nvPr/>
          </p:nvCxnSpPr>
          <p:spPr bwMode="auto">
            <a:xfrm flipV="1">
              <a:off x="1496191" y="2088197"/>
              <a:ext cx="4885690" cy="2237740"/>
            </a:xfrm>
            <a:prstGeom prst="straightConnector1">
              <a:avLst/>
            </a:prstGeom>
            <a:noFill/>
            <a:ln w="38100">
              <a:solidFill>
                <a:srgbClr val="0070C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AutoShape 76"/>
            <p:cNvCxnSpPr>
              <a:cxnSpLocks noChangeShapeType="1"/>
            </p:cNvCxnSpPr>
            <p:nvPr/>
          </p:nvCxnSpPr>
          <p:spPr bwMode="auto">
            <a:xfrm>
              <a:off x="964696" y="1542732"/>
              <a:ext cx="6089015" cy="1016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AutoShape 78"/>
            <p:cNvCxnSpPr>
              <a:cxnSpLocks noChangeShapeType="1"/>
            </p:cNvCxnSpPr>
            <p:nvPr/>
          </p:nvCxnSpPr>
          <p:spPr bwMode="auto">
            <a:xfrm>
              <a:off x="1093601" y="1495107"/>
              <a:ext cx="0" cy="360045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2" name="Text Box 79"/>
            <p:cNvSpPr txBox="1">
              <a:spLocks noChangeArrowheads="1"/>
            </p:cNvSpPr>
            <p:nvPr/>
          </p:nvSpPr>
          <p:spPr bwMode="auto">
            <a:xfrm>
              <a:off x="6672076" y="1495107"/>
              <a:ext cx="38163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X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 Box 80"/>
            <p:cNvSpPr txBox="1">
              <a:spLocks noChangeArrowheads="1"/>
            </p:cNvSpPr>
            <p:nvPr/>
          </p:nvSpPr>
          <p:spPr bwMode="auto">
            <a:xfrm>
              <a:off x="1044706" y="4819332"/>
              <a:ext cx="38163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Y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AutoShape 66"/>
            <p:cNvCxnSpPr>
              <a:cxnSpLocks noChangeShapeType="1"/>
            </p:cNvCxnSpPr>
            <p:nvPr/>
          </p:nvCxnSpPr>
          <p:spPr bwMode="auto">
            <a:xfrm flipV="1">
              <a:off x="2401570" y="2001012"/>
              <a:ext cx="535305" cy="6934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" name="AutoShape 65"/>
            <p:cNvCxnSpPr>
              <a:cxnSpLocks noChangeShapeType="1"/>
            </p:cNvCxnSpPr>
            <p:nvPr/>
          </p:nvCxnSpPr>
          <p:spPr bwMode="auto">
            <a:xfrm flipV="1">
              <a:off x="1782445" y="1902587"/>
              <a:ext cx="916305" cy="1739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7" name="Text Box 73"/>
            <p:cNvSpPr txBox="1">
              <a:spLocks noChangeArrowheads="1"/>
            </p:cNvSpPr>
            <p:nvPr/>
          </p:nvSpPr>
          <p:spPr bwMode="auto">
            <a:xfrm>
              <a:off x="2691738" y="1541716"/>
              <a:ext cx="1765935" cy="404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2400" b="1" dirty="0" smtClean="0">
                  <a:solidFill>
                    <a:srgbClr val="C00000"/>
                  </a:solidFill>
                  <a:effectLst/>
                  <a:latin typeface="+mj-lt"/>
                  <a:ea typeface="Calibri" panose="020F0502020204030204" pitchFamily="34" charset="0"/>
                  <a:cs typeface="Times New Roman" panose="02020603050405020304" pitchFamily="18" charset="0"/>
                </a:rPr>
                <a:t>pixels</a:t>
              </a:r>
              <a:endParaRPr lang="en-US" sz="2400" b="1" dirty="0">
                <a:solidFill>
                  <a:srgbClr val="C00000"/>
                </a:solidFill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Text Box 74"/>
            <p:cNvSpPr txBox="1">
              <a:spLocks noChangeArrowheads="1"/>
            </p:cNvSpPr>
            <p:nvPr/>
          </p:nvSpPr>
          <p:spPr bwMode="auto">
            <a:xfrm>
              <a:off x="1484543" y="4291647"/>
              <a:ext cx="883920" cy="404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ka-GE" sz="1600" b="1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</a:t>
              </a:r>
              <a:r>
                <a:rPr lang="en-US" sz="1600" b="1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X</a:t>
              </a:r>
              <a:r>
                <a:rPr lang="en-US" sz="1600" b="1" baseline="-25000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r>
                <a:rPr lang="en-US" sz="1600" b="1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,Y</a:t>
              </a:r>
              <a:r>
                <a:rPr lang="en-US" sz="1600" b="1" baseline="-25000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r>
                <a:rPr lang="en-US" sz="1600" b="1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)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Text Box 75"/>
            <p:cNvSpPr txBox="1">
              <a:spLocks noChangeArrowheads="1"/>
            </p:cNvSpPr>
            <p:nvPr/>
          </p:nvSpPr>
          <p:spPr bwMode="auto">
            <a:xfrm>
              <a:off x="5533303" y="1794192"/>
              <a:ext cx="884555" cy="4044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ka-GE" sz="1600" b="1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</a:t>
              </a:r>
              <a:r>
                <a:rPr lang="en-US" sz="1600" b="1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X</a:t>
              </a:r>
              <a:r>
                <a:rPr lang="en-US" sz="1600" b="1" baseline="-25000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r>
                <a:rPr lang="en-US" sz="1600" b="1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,Y</a:t>
              </a:r>
              <a:r>
                <a:rPr lang="en-US" sz="1600" b="1" baseline="-25000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r>
                <a:rPr lang="en-US" sz="1600" b="1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)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0" name="Rectangle 139"/>
          <p:cNvSpPr/>
          <p:nvPr/>
        </p:nvSpPr>
        <p:spPr>
          <a:xfrm>
            <a:off x="600076" y="4398834"/>
            <a:ext cx="980122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example, in a two-dimensional space (i.e., on a plane), a line segment is stored in vector format as:</a:t>
            </a:r>
          </a:p>
          <a:p>
            <a:r>
              <a:rPr lang="en-US" b="1" dirty="0"/>
              <a:t>Line (X</a:t>
            </a:r>
            <a:r>
              <a:rPr lang="en-US" b="1" baseline="-25000" dirty="0"/>
              <a:t>0</a:t>
            </a:r>
            <a:r>
              <a:rPr lang="en-US" b="1" dirty="0"/>
              <a:t>, Y</a:t>
            </a:r>
            <a:r>
              <a:rPr lang="en-US" b="1" baseline="-25000" dirty="0"/>
              <a:t>0</a:t>
            </a:r>
            <a:r>
              <a:rPr lang="en-US" b="1" dirty="0"/>
              <a:t> – X</a:t>
            </a:r>
            <a:r>
              <a:rPr lang="en-US" b="1" baseline="-25000" dirty="0"/>
              <a:t>1</a:t>
            </a:r>
            <a:r>
              <a:rPr lang="en-US" b="1" dirty="0"/>
              <a:t>, Y</a:t>
            </a:r>
            <a:r>
              <a:rPr lang="en-US" b="1" baseline="-25000" dirty="0"/>
              <a:t>1</a:t>
            </a:r>
            <a:r>
              <a:rPr lang="en-US" b="1" dirty="0"/>
              <a:t>), </a:t>
            </a:r>
            <a:r>
              <a:rPr lang="en-US" b="1" dirty="0">
                <a:solidFill>
                  <a:srgbClr val="C00000"/>
                </a:solidFill>
              </a:rPr>
              <a:t>C</a:t>
            </a:r>
            <a:r>
              <a:rPr lang="en-US" b="1" dirty="0"/>
              <a:t>, LW</a:t>
            </a:r>
            <a:r>
              <a:rPr lang="en-US" dirty="0"/>
              <a:t>,</a:t>
            </a:r>
          </a:p>
          <a:p>
            <a:r>
              <a:rPr lang="en-US" dirty="0"/>
              <a:t>where </a:t>
            </a:r>
            <a:r>
              <a:rPr lang="en-US" b="1" dirty="0"/>
              <a:t>X</a:t>
            </a:r>
            <a:r>
              <a:rPr lang="en-US" b="1" baseline="-25000" dirty="0"/>
              <a:t>0</a:t>
            </a:r>
            <a:r>
              <a:rPr lang="en-US" b="1" dirty="0"/>
              <a:t>, Y</a:t>
            </a:r>
            <a:r>
              <a:rPr lang="en-US" b="1" baseline="-25000" dirty="0"/>
              <a:t>0</a:t>
            </a:r>
            <a:r>
              <a:rPr lang="en-US" dirty="0"/>
              <a:t> and </a:t>
            </a:r>
            <a:r>
              <a:rPr lang="en-US" b="1" dirty="0"/>
              <a:t>X</a:t>
            </a:r>
            <a:r>
              <a:rPr lang="en-US" b="1" baseline="-25000" dirty="0"/>
              <a:t>1</a:t>
            </a:r>
            <a:r>
              <a:rPr lang="en-US" b="1" dirty="0"/>
              <a:t>, Y</a:t>
            </a:r>
            <a:r>
              <a:rPr lang="en-US" b="1" baseline="-25000" dirty="0"/>
              <a:t>1</a:t>
            </a:r>
            <a:r>
              <a:rPr lang="en-US" dirty="0"/>
              <a:t> are the coordinates of the start and end points, </a:t>
            </a:r>
            <a:r>
              <a:rPr lang="en-US" b="1" dirty="0">
                <a:solidFill>
                  <a:srgbClr val="C00000"/>
                </a:solidFill>
              </a:rPr>
              <a:t>C</a:t>
            </a:r>
            <a:r>
              <a:rPr lang="en-US" dirty="0"/>
              <a:t> is its color, and </a:t>
            </a:r>
            <a:r>
              <a:rPr lang="en-US" b="1" dirty="0"/>
              <a:t>LW</a:t>
            </a:r>
            <a:r>
              <a:rPr lang="en-US" dirty="0"/>
              <a:t> (</a:t>
            </a:r>
            <a:r>
              <a:rPr lang="en-US" dirty="0" err="1"/>
              <a:t>LineWeight</a:t>
            </a:r>
            <a:r>
              <a:rPr lang="en-US" dirty="0"/>
              <a:t>) is its thickness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In contrast, the raster representation of this figure consists of the coordinates of the pixels that correspond to this figure (on a screen or in a raster file).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815811" y="429259"/>
            <a:ext cx="3599411" cy="3060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/>
              <a:t>Information stored in </a:t>
            </a:r>
            <a:r>
              <a:rPr lang="en-US" b="1" dirty="0"/>
              <a:t>vector</a:t>
            </a:r>
            <a:r>
              <a:rPr lang="en-US" dirty="0"/>
              <a:t> form is precise (its accuracy is limited only by the capacity of the corresponding data types, which is usually more than sufficient</a:t>
            </a:r>
            <a:r>
              <a:rPr lang="en-US" dirty="0" smtClean="0"/>
              <a:t>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 smtClean="0"/>
              <a:t>In </a:t>
            </a:r>
            <a:r>
              <a:rPr lang="en-US" dirty="0"/>
              <a:t>contrast, </a:t>
            </a:r>
            <a:r>
              <a:rPr lang="en-US" b="1" dirty="0"/>
              <a:t>raster</a:t>
            </a:r>
            <a:r>
              <a:rPr lang="en-US" dirty="0"/>
              <a:t> information is discrete, meaning it consists of pixel coordinates that are whole numbers.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407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0225" y="431161"/>
            <a:ext cx="9728200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/>
              <a:t>Now, we will consider a method that allows us to determine which pixels should "light up" when drawing a given line segment.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0225" y="6166961"/>
            <a:ext cx="914717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simplicity, we will not consider the line's color or thickness. Additionally, instead of using the coordinate system typical for screens (where the Y-axis points downward), we will switch to a more convenient system.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960562" y="2385536"/>
            <a:ext cx="6286500" cy="3781425"/>
            <a:chOff x="1960562" y="1681162"/>
            <a:chExt cx="6286500" cy="3781425"/>
          </a:xfrm>
        </p:grpSpPr>
        <p:sp>
          <p:nvSpPr>
            <p:cNvPr id="79" name="Rectangle 78"/>
            <p:cNvSpPr/>
            <p:nvPr/>
          </p:nvSpPr>
          <p:spPr>
            <a:xfrm>
              <a:off x="1960562" y="1681162"/>
              <a:ext cx="6286500" cy="3781425"/>
            </a:xfrm>
            <a:prstGeom prst="rect">
              <a:avLst/>
            </a:prstGeom>
            <a:noFill/>
          </p:spPr>
        </p:sp>
        <p:sp>
          <p:nvSpPr>
            <p:cNvPr id="80" name="Rectangle 79"/>
            <p:cNvSpPr>
              <a:spLocks noChangeArrowheads="1"/>
            </p:cNvSpPr>
            <p:nvPr/>
          </p:nvSpPr>
          <p:spPr bwMode="auto">
            <a:xfrm>
              <a:off x="7479962" y="2197365"/>
              <a:ext cx="151100" cy="1511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81" name="Text Box 434"/>
            <p:cNvSpPr txBox="1">
              <a:spLocks noChangeArrowheads="1"/>
            </p:cNvSpPr>
            <p:nvPr/>
          </p:nvSpPr>
          <p:spPr bwMode="auto">
            <a:xfrm>
              <a:off x="3895728" y="1884429"/>
              <a:ext cx="1766600" cy="683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0"/>
                </a:spcAft>
              </a:pPr>
              <a:r>
                <a:rPr lang="en-US" sz="1400" dirty="0">
                  <a:solidFill>
                    <a:srgbClr val="C00000"/>
                  </a:solidFill>
                </a:rPr>
                <a:t>Pixels Representing the Line</a:t>
              </a:r>
              <a:endParaRPr lang="en-US" sz="11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Text Box 435"/>
            <p:cNvSpPr txBox="1">
              <a:spLocks noChangeArrowheads="1"/>
            </p:cNvSpPr>
            <p:nvPr/>
          </p:nvSpPr>
          <p:spPr bwMode="auto">
            <a:xfrm>
              <a:off x="2697162" y="4390680"/>
              <a:ext cx="884500" cy="404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ka-GE" sz="1600" b="1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</a:t>
              </a:r>
              <a:r>
                <a:rPr lang="en-US" sz="1600" b="1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X</a:t>
              </a:r>
              <a:r>
                <a:rPr lang="en-US" sz="1600" b="1" baseline="-25000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r>
                <a:rPr lang="en-US" sz="1600" b="1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,Y</a:t>
              </a:r>
              <a:r>
                <a:rPr lang="en-US" sz="1600" b="1" baseline="-25000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r>
                <a:rPr lang="en-US" sz="1600" b="1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)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 Box 436"/>
            <p:cNvSpPr txBox="1">
              <a:spLocks noChangeArrowheads="1"/>
            </p:cNvSpPr>
            <p:nvPr/>
          </p:nvSpPr>
          <p:spPr bwMode="auto">
            <a:xfrm>
              <a:off x="6745862" y="1892563"/>
              <a:ext cx="885200" cy="404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ka-GE" sz="1600" b="1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(</a:t>
              </a:r>
              <a:r>
                <a:rPr lang="en-US" sz="1600" b="1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X</a:t>
              </a:r>
              <a:r>
                <a:rPr lang="en-US" sz="1600" b="1" baseline="-25000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r>
                <a:rPr lang="en-US" sz="1600" b="1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,Y</a:t>
              </a:r>
              <a:r>
                <a:rPr lang="en-US" sz="1600" b="1" baseline="-25000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r>
                <a:rPr lang="en-US" sz="1600" b="1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)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Text Box 439"/>
            <p:cNvSpPr txBox="1">
              <a:spLocks noChangeArrowheads="1"/>
            </p:cNvSpPr>
            <p:nvPr/>
          </p:nvSpPr>
          <p:spPr bwMode="auto">
            <a:xfrm>
              <a:off x="7854562" y="4919683"/>
              <a:ext cx="381700" cy="457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X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Text Box 440"/>
            <p:cNvSpPr txBox="1">
              <a:spLocks noChangeArrowheads="1"/>
            </p:cNvSpPr>
            <p:nvPr/>
          </p:nvSpPr>
          <p:spPr bwMode="auto">
            <a:xfrm>
              <a:off x="1960562" y="1681162"/>
              <a:ext cx="381000" cy="457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Y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Rectangle 85"/>
            <p:cNvSpPr>
              <a:spLocks noChangeArrowheads="1"/>
            </p:cNvSpPr>
            <p:nvPr/>
          </p:nvSpPr>
          <p:spPr bwMode="auto">
            <a:xfrm>
              <a:off x="2591062" y="4489081"/>
              <a:ext cx="151800" cy="1537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87" name="Rectangle 86"/>
            <p:cNvSpPr>
              <a:spLocks noChangeArrowheads="1"/>
            </p:cNvSpPr>
            <p:nvPr/>
          </p:nvSpPr>
          <p:spPr bwMode="auto">
            <a:xfrm>
              <a:off x="2744762" y="4337380"/>
              <a:ext cx="151700" cy="1536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88" name="Rectangle 87"/>
            <p:cNvSpPr>
              <a:spLocks noChangeArrowheads="1"/>
            </p:cNvSpPr>
            <p:nvPr/>
          </p:nvSpPr>
          <p:spPr bwMode="auto">
            <a:xfrm>
              <a:off x="2895862" y="4335480"/>
              <a:ext cx="151800" cy="1530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89" name="Rectangle 88"/>
            <p:cNvSpPr>
              <a:spLocks noChangeArrowheads="1"/>
            </p:cNvSpPr>
            <p:nvPr/>
          </p:nvSpPr>
          <p:spPr bwMode="auto">
            <a:xfrm>
              <a:off x="3050162" y="4185579"/>
              <a:ext cx="151800" cy="1518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90" name="Rectangle 89"/>
            <p:cNvSpPr>
              <a:spLocks noChangeArrowheads="1"/>
            </p:cNvSpPr>
            <p:nvPr/>
          </p:nvSpPr>
          <p:spPr bwMode="auto">
            <a:xfrm>
              <a:off x="3201262" y="4186879"/>
              <a:ext cx="151800" cy="1517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91" name="Rectangle 90"/>
            <p:cNvSpPr>
              <a:spLocks noChangeArrowheads="1"/>
            </p:cNvSpPr>
            <p:nvPr/>
          </p:nvSpPr>
          <p:spPr bwMode="auto">
            <a:xfrm>
              <a:off x="3352462" y="4030678"/>
              <a:ext cx="151700" cy="1511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92" name="Rectangle 91"/>
            <p:cNvSpPr>
              <a:spLocks noChangeArrowheads="1"/>
            </p:cNvSpPr>
            <p:nvPr/>
          </p:nvSpPr>
          <p:spPr bwMode="auto">
            <a:xfrm>
              <a:off x="3503562" y="4031878"/>
              <a:ext cx="151800" cy="1512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93" name="Rectangle 92"/>
            <p:cNvSpPr>
              <a:spLocks noChangeArrowheads="1"/>
            </p:cNvSpPr>
            <p:nvPr/>
          </p:nvSpPr>
          <p:spPr bwMode="auto">
            <a:xfrm>
              <a:off x="3661062" y="3882077"/>
              <a:ext cx="151700" cy="1511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94" name="Rectangle 93"/>
            <p:cNvSpPr>
              <a:spLocks noChangeArrowheads="1"/>
            </p:cNvSpPr>
            <p:nvPr/>
          </p:nvSpPr>
          <p:spPr bwMode="auto">
            <a:xfrm>
              <a:off x="3818562" y="3883277"/>
              <a:ext cx="152400" cy="1512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95" name="Rectangle 94"/>
            <p:cNvSpPr>
              <a:spLocks noChangeArrowheads="1"/>
            </p:cNvSpPr>
            <p:nvPr/>
          </p:nvSpPr>
          <p:spPr bwMode="auto">
            <a:xfrm>
              <a:off x="3965162" y="3723876"/>
              <a:ext cx="150500" cy="1512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96" name="Rectangle 95"/>
            <p:cNvSpPr>
              <a:spLocks noChangeArrowheads="1"/>
            </p:cNvSpPr>
            <p:nvPr/>
          </p:nvSpPr>
          <p:spPr bwMode="auto">
            <a:xfrm>
              <a:off x="4115662" y="3727076"/>
              <a:ext cx="151200" cy="1512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97" name="Rectangle 96"/>
            <p:cNvSpPr>
              <a:spLocks noChangeArrowheads="1"/>
            </p:cNvSpPr>
            <p:nvPr/>
          </p:nvSpPr>
          <p:spPr bwMode="auto">
            <a:xfrm>
              <a:off x="4272562" y="3724576"/>
              <a:ext cx="151100" cy="1511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98" name="Rectangle 97"/>
            <p:cNvSpPr>
              <a:spLocks noChangeArrowheads="1"/>
            </p:cNvSpPr>
            <p:nvPr/>
          </p:nvSpPr>
          <p:spPr bwMode="auto">
            <a:xfrm>
              <a:off x="4423062" y="3570874"/>
              <a:ext cx="151100" cy="1511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99" name="Rectangle 98"/>
            <p:cNvSpPr>
              <a:spLocks noChangeArrowheads="1"/>
            </p:cNvSpPr>
            <p:nvPr/>
          </p:nvSpPr>
          <p:spPr bwMode="auto">
            <a:xfrm>
              <a:off x="4573562" y="3575975"/>
              <a:ext cx="151100" cy="1511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00" name="Rectangle 99"/>
            <p:cNvSpPr>
              <a:spLocks noChangeArrowheads="1"/>
            </p:cNvSpPr>
            <p:nvPr/>
          </p:nvSpPr>
          <p:spPr bwMode="auto">
            <a:xfrm>
              <a:off x="4729162" y="3424874"/>
              <a:ext cx="151100" cy="1511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01" name="Rectangle 100"/>
            <p:cNvSpPr>
              <a:spLocks noChangeArrowheads="1"/>
            </p:cNvSpPr>
            <p:nvPr/>
          </p:nvSpPr>
          <p:spPr bwMode="auto">
            <a:xfrm>
              <a:off x="4880262" y="3421074"/>
              <a:ext cx="151100" cy="1511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02" name="Rectangle 101"/>
            <p:cNvSpPr>
              <a:spLocks noChangeArrowheads="1"/>
            </p:cNvSpPr>
            <p:nvPr/>
          </p:nvSpPr>
          <p:spPr bwMode="auto">
            <a:xfrm>
              <a:off x="5036462" y="3266072"/>
              <a:ext cx="151100" cy="1511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03" name="Rectangle 102"/>
            <p:cNvSpPr>
              <a:spLocks noChangeArrowheads="1"/>
            </p:cNvSpPr>
            <p:nvPr/>
          </p:nvSpPr>
          <p:spPr bwMode="auto">
            <a:xfrm>
              <a:off x="5187562" y="3267372"/>
              <a:ext cx="151200" cy="1511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04" name="Rectangle 103"/>
            <p:cNvSpPr>
              <a:spLocks noChangeArrowheads="1"/>
            </p:cNvSpPr>
            <p:nvPr/>
          </p:nvSpPr>
          <p:spPr bwMode="auto">
            <a:xfrm>
              <a:off x="5348862" y="3116271"/>
              <a:ext cx="151100" cy="1511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05" name="Rectangle 104"/>
            <p:cNvSpPr>
              <a:spLocks noChangeArrowheads="1"/>
            </p:cNvSpPr>
            <p:nvPr/>
          </p:nvSpPr>
          <p:spPr bwMode="auto">
            <a:xfrm>
              <a:off x="5491762" y="3111171"/>
              <a:ext cx="151100" cy="1511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06" name="Rectangle 105"/>
            <p:cNvSpPr>
              <a:spLocks noChangeArrowheads="1"/>
            </p:cNvSpPr>
            <p:nvPr/>
          </p:nvSpPr>
          <p:spPr bwMode="auto">
            <a:xfrm>
              <a:off x="5642862" y="3116271"/>
              <a:ext cx="151100" cy="1511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07" name="Rectangle 106"/>
            <p:cNvSpPr>
              <a:spLocks noChangeArrowheads="1"/>
            </p:cNvSpPr>
            <p:nvPr/>
          </p:nvSpPr>
          <p:spPr bwMode="auto">
            <a:xfrm>
              <a:off x="5799762" y="2959970"/>
              <a:ext cx="151100" cy="1512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08" name="Rectangle 107"/>
            <p:cNvSpPr>
              <a:spLocks noChangeArrowheads="1"/>
            </p:cNvSpPr>
            <p:nvPr/>
          </p:nvSpPr>
          <p:spPr bwMode="auto">
            <a:xfrm>
              <a:off x="5950262" y="2965070"/>
              <a:ext cx="151100" cy="1512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09" name="Rectangle 108"/>
            <p:cNvSpPr>
              <a:spLocks noChangeArrowheads="1"/>
            </p:cNvSpPr>
            <p:nvPr/>
          </p:nvSpPr>
          <p:spPr bwMode="auto">
            <a:xfrm>
              <a:off x="6105162" y="2807569"/>
              <a:ext cx="151100" cy="1512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0" name="Rectangle 109"/>
            <p:cNvSpPr>
              <a:spLocks noChangeArrowheads="1"/>
            </p:cNvSpPr>
            <p:nvPr/>
          </p:nvSpPr>
          <p:spPr bwMode="auto">
            <a:xfrm>
              <a:off x="6255662" y="2813969"/>
              <a:ext cx="151100" cy="1511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1" name="Rectangle 110"/>
            <p:cNvSpPr>
              <a:spLocks noChangeArrowheads="1"/>
            </p:cNvSpPr>
            <p:nvPr/>
          </p:nvSpPr>
          <p:spPr bwMode="auto">
            <a:xfrm>
              <a:off x="6410562" y="2656468"/>
              <a:ext cx="151200" cy="1511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2" name="Rectangle 111"/>
            <p:cNvSpPr>
              <a:spLocks noChangeArrowheads="1"/>
            </p:cNvSpPr>
            <p:nvPr/>
          </p:nvSpPr>
          <p:spPr bwMode="auto">
            <a:xfrm>
              <a:off x="6561062" y="2657768"/>
              <a:ext cx="151200" cy="1511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3" name="Rectangle 112"/>
            <p:cNvSpPr>
              <a:spLocks noChangeArrowheads="1"/>
            </p:cNvSpPr>
            <p:nvPr/>
          </p:nvSpPr>
          <p:spPr bwMode="auto">
            <a:xfrm>
              <a:off x="6716062" y="2502767"/>
              <a:ext cx="151100" cy="1512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4" name="Rectangle 113"/>
            <p:cNvSpPr>
              <a:spLocks noChangeArrowheads="1"/>
            </p:cNvSpPr>
            <p:nvPr/>
          </p:nvSpPr>
          <p:spPr bwMode="auto">
            <a:xfrm>
              <a:off x="6866562" y="2506667"/>
              <a:ext cx="151100" cy="1511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5" name="Rectangle 114"/>
            <p:cNvSpPr>
              <a:spLocks noChangeArrowheads="1"/>
            </p:cNvSpPr>
            <p:nvPr/>
          </p:nvSpPr>
          <p:spPr bwMode="auto">
            <a:xfrm>
              <a:off x="7017062" y="2349766"/>
              <a:ext cx="151100" cy="1511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6" name="Rectangle 115"/>
            <p:cNvSpPr>
              <a:spLocks noChangeArrowheads="1"/>
            </p:cNvSpPr>
            <p:nvPr/>
          </p:nvSpPr>
          <p:spPr bwMode="auto">
            <a:xfrm>
              <a:off x="7167562" y="2350366"/>
              <a:ext cx="151100" cy="1512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7" name="Rectangle 116"/>
            <p:cNvSpPr>
              <a:spLocks noChangeArrowheads="1"/>
            </p:cNvSpPr>
            <p:nvPr/>
          </p:nvSpPr>
          <p:spPr bwMode="auto">
            <a:xfrm>
              <a:off x="7324362" y="2198665"/>
              <a:ext cx="151100" cy="151101"/>
            </a:xfrm>
            <a:prstGeom prst="rect">
              <a:avLst/>
            </a:prstGeom>
            <a:solidFill>
              <a:schemeClr val="bg1">
                <a:lumMod val="7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grpSp>
          <p:nvGrpSpPr>
            <p:cNvPr id="118" name="Group 117"/>
            <p:cNvGrpSpPr>
              <a:grpSpLocks/>
            </p:cNvGrpSpPr>
            <p:nvPr/>
          </p:nvGrpSpPr>
          <p:grpSpPr bwMode="auto">
            <a:xfrm>
              <a:off x="2273476" y="1738862"/>
              <a:ext cx="5670490" cy="3277922"/>
              <a:chOff x="2697" y="8750"/>
              <a:chExt cx="6865" cy="3970"/>
            </a:xfrm>
          </p:grpSpPr>
          <p:cxnSp>
            <p:nvCxnSpPr>
              <p:cNvPr id="124" name="AutoShape 369"/>
              <p:cNvCxnSpPr>
                <a:cxnSpLocks noChangeShapeType="1"/>
              </p:cNvCxnSpPr>
              <p:nvPr/>
            </p:nvCxnSpPr>
            <p:spPr bwMode="auto">
              <a:xfrm>
                <a:off x="715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5" name="AutoShape 370"/>
              <p:cNvCxnSpPr>
                <a:cxnSpLocks noChangeShapeType="1"/>
              </p:cNvCxnSpPr>
              <p:nvPr/>
            </p:nvCxnSpPr>
            <p:spPr bwMode="auto">
              <a:xfrm>
                <a:off x="733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6" name="AutoShape 371"/>
              <p:cNvCxnSpPr>
                <a:cxnSpLocks noChangeShapeType="1"/>
              </p:cNvCxnSpPr>
              <p:nvPr/>
            </p:nvCxnSpPr>
            <p:spPr bwMode="auto">
              <a:xfrm>
                <a:off x="752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7" name="AutoShape 372"/>
              <p:cNvCxnSpPr>
                <a:cxnSpLocks noChangeShapeType="1"/>
              </p:cNvCxnSpPr>
              <p:nvPr/>
            </p:nvCxnSpPr>
            <p:spPr bwMode="auto">
              <a:xfrm>
                <a:off x="770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8" name="AutoShape 373"/>
              <p:cNvCxnSpPr>
                <a:cxnSpLocks noChangeShapeType="1"/>
              </p:cNvCxnSpPr>
              <p:nvPr/>
            </p:nvCxnSpPr>
            <p:spPr bwMode="auto">
              <a:xfrm>
                <a:off x="789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9" name="AutoShape 374"/>
              <p:cNvCxnSpPr>
                <a:cxnSpLocks noChangeShapeType="1"/>
              </p:cNvCxnSpPr>
              <p:nvPr/>
            </p:nvCxnSpPr>
            <p:spPr bwMode="auto">
              <a:xfrm>
                <a:off x="807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0" name="AutoShape 375"/>
              <p:cNvCxnSpPr>
                <a:cxnSpLocks noChangeShapeType="1"/>
              </p:cNvCxnSpPr>
              <p:nvPr/>
            </p:nvCxnSpPr>
            <p:spPr bwMode="auto">
              <a:xfrm>
                <a:off x="826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1" name="AutoShape 376"/>
              <p:cNvCxnSpPr>
                <a:cxnSpLocks noChangeShapeType="1"/>
              </p:cNvCxnSpPr>
              <p:nvPr/>
            </p:nvCxnSpPr>
            <p:spPr bwMode="auto">
              <a:xfrm>
                <a:off x="844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2" name="AutoShape 377"/>
              <p:cNvCxnSpPr>
                <a:cxnSpLocks noChangeShapeType="1"/>
              </p:cNvCxnSpPr>
              <p:nvPr/>
            </p:nvCxnSpPr>
            <p:spPr bwMode="auto">
              <a:xfrm>
                <a:off x="863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3" name="AutoShape 378"/>
              <p:cNvCxnSpPr>
                <a:cxnSpLocks noChangeShapeType="1"/>
              </p:cNvCxnSpPr>
              <p:nvPr/>
            </p:nvCxnSpPr>
            <p:spPr bwMode="auto">
              <a:xfrm>
                <a:off x="881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4" name="AutoShape 379"/>
              <p:cNvCxnSpPr>
                <a:cxnSpLocks noChangeShapeType="1"/>
              </p:cNvCxnSpPr>
              <p:nvPr/>
            </p:nvCxnSpPr>
            <p:spPr bwMode="auto">
              <a:xfrm>
                <a:off x="900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5" name="AutoShape 380"/>
              <p:cNvCxnSpPr>
                <a:cxnSpLocks noChangeShapeType="1"/>
              </p:cNvCxnSpPr>
              <p:nvPr/>
            </p:nvCxnSpPr>
            <p:spPr bwMode="auto">
              <a:xfrm>
                <a:off x="918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6" name="AutoShape 381"/>
              <p:cNvCxnSpPr>
                <a:cxnSpLocks noChangeShapeType="1"/>
              </p:cNvCxnSpPr>
              <p:nvPr/>
            </p:nvCxnSpPr>
            <p:spPr bwMode="auto">
              <a:xfrm>
                <a:off x="937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7" name="AutoShape 382"/>
              <p:cNvCxnSpPr>
                <a:cxnSpLocks noChangeShapeType="1"/>
              </p:cNvCxnSpPr>
              <p:nvPr/>
            </p:nvCxnSpPr>
            <p:spPr bwMode="auto">
              <a:xfrm>
                <a:off x="955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2" name="AutoShape 383"/>
              <p:cNvCxnSpPr>
                <a:cxnSpLocks noChangeShapeType="1"/>
              </p:cNvCxnSpPr>
              <p:nvPr/>
            </p:nvCxnSpPr>
            <p:spPr bwMode="auto">
              <a:xfrm>
                <a:off x="2712" y="8750"/>
                <a:ext cx="0" cy="3969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3" name="AutoShape 384"/>
              <p:cNvCxnSpPr>
                <a:cxnSpLocks noChangeShapeType="1"/>
              </p:cNvCxnSpPr>
              <p:nvPr/>
            </p:nvCxnSpPr>
            <p:spPr bwMode="auto">
              <a:xfrm>
                <a:off x="289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4" name="AutoShape 385"/>
              <p:cNvCxnSpPr>
                <a:cxnSpLocks noChangeShapeType="1"/>
              </p:cNvCxnSpPr>
              <p:nvPr/>
            </p:nvCxnSpPr>
            <p:spPr bwMode="auto">
              <a:xfrm>
                <a:off x="308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5" name="AutoShape 386"/>
              <p:cNvCxnSpPr>
                <a:cxnSpLocks noChangeShapeType="1"/>
              </p:cNvCxnSpPr>
              <p:nvPr/>
            </p:nvCxnSpPr>
            <p:spPr bwMode="auto">
              <a:xfrm>
                <a:off x="326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6" name="AutoShape 387"/>
              <p:cNvCxnSpPr>
                <a:cxnSpLocks noChangeShapeType="1"/>
              </p:cNvCxnSpPr>
              <p:nvPr/>
            </p:nvCxnSpPr>
            <p:spPr bwMode="auto">
              <a:xfrm>
                <a:off x="345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7" name="AutoShape 388"/>
              <p:cNvCxnSpPr>
                <a:cxnSpLocks noChangeShapeType="1"/>
              </p:cNvCxnSpPr>
              <p:nvPr/>
            </p:nvCxnSpPr>
            <p:spPr bwMode="auto">
              <a:xfrm>
                <a:off x="363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8" name="AutoShape 389"/>
              <p:cNvCxnSpPr>
                <a:cxnSpLocks noChangeShapeType="1"/>
              </p:cNvCxnSpPr>
              <p:nvPr/>
            </p:nvCxnSpPr>
            <p:spPr bwMode="auto">
              <a:xfrm>
                <a:off x="382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9" name="AutoShape 390"/>
              <p:cNvCxnSpPr>
                <a:cxnSpLocks noChangeShapeType="1"/>
              </p:cNvCxnSpPr>
              <p:nvPr/>
            </p:nvCxnSpPr>
            <p:spPr bwMode="auto">
              <a:xfrm>
                <a:off x="400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0" name="AutoShape 391"/>
              <p:cNvCxnSpPr>
                <a:cxnSpLocks noChangeShapeType="1"/>
              </p:cNvCxnSpPr>
              <p:nvPr/>
            </p:nvCxnSpPr>
            <p:spPr bwMode="auto">
              <a:xfrm>
                <a:off x="419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1" name="AutoShape 392"/>
              <p:cNvCxnSpPr>
                <a:cxnSpLocks noChangeShapeType="1"/>
              </p:cNvCxnSpPr>
              <p:nvPr/>
            </p:nvCxnSpPr>
            <p:spPr bwMode="auto">
              <a:xfrm>
                <a:off x="437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2" name="AutoShape 393"/>
              <p:cNvCxnSpPr>
                <a:cxnSpLocks noChangeShapeType="1"/>
              </p:cNvCxnSpPr>
              <p:nvPr/>
            </p:nvCxnSpPr>
            <p:spPr bwMode="auto">
              <a:xfrm>
                <a:off x="456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" name="AutoShape 394"/>
              <p:cNvCxnSpPr>
                <a:cxnSpLocks noChangeShapeType="1"/>
              </p:cNvCxnSpPr>
              <p:nvPr/>
            </p:nvCxnSpPr>
            <p:spPr bwMode="auto">
              <a:xfrm>
                <a:off x="474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4" name="AutoShape 395"/>
              <p:cNvCxnSpPr>
                <a:cxnSpLocks noChangeShapeType="1"/>
              </p:cNvCxnSpPr>
              <p:nvPr/>
            </p:nvCxnSpPr>
            <p:spPr bwMode="auto">
              <a:xfrm>
                <a:off x="493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5" name="AutoShape 396"/>
              <p:cNvCxnSpPr>
                <a:cxnSpLocks noChangeShapeType="1"/>
              </p:cNvCxnSpPr>
              <p:nvPr/>
            </p:nvCxnSpPr>
            <p:spPr bwMode="auto">
              <a:xfrm>
                <a:off x="511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6" name="AutoShape 397"/>
              <p:cNvCxnSpPr>
                <a:cxnSpLocks noChangeShapeType="1"/>
              </p:cNvCxnSpPr>
              <p:nvPr/>
            </p:nvCxnSpPr>
            <p:spPr bwMode="auto">
              <a:xfrm>
                <a:off x="530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7" name="AutoShape 398"/>
              <p:cNvCxnSpPr>
                <a:cxnSpLocks noChangeShapeType="1"/>
              </p:cNvCxnSpPr>
              <p:nvPr/>
            </p:nvCxnSpPr>
            <p:spPr bwMode="auto">
              <a:xfrm>
                <a:off x="548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8" name="AutoShape 399"/>
              <p:cNvCxnSpPr>
                <a:cxnSpLocks noChangeShapeType="1"/>
              </p:cNvCxnSpPr>
              <p:nvPr/>
            </p:nvCxnSpPr>
            <p:spPr bwMode="auto">
              <a:xfrm>
                <a:off x="567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9" name="AutoShape 400"/>
              <p:cNvCxnSpPr>
                <a:cxnSpLocks noChangeShapeType="1"/>
              </p:cNvCxnSpPr>
              <p:nvPr/>
            </p:nvCxnSpPr>
            <p:spPr bwMode="auto">
              <a:xfrm>
                <a:off x="585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0" name="AutoShape 401"/>
              <p:cNvCxnSpPr>
                <a:cxnSpLocks noChangeShapeType="1"/>
              </p:cNvCxnSpPr>
              <p:nvPr/>
            </p:nvCxnSpPr>
            <p:spPr bwMode="auto">
              <a:xfrm>
                <a:off x="604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1" name="AutoShape 402"/>
              <p:cNvCxnSpPr>
                <a:cxnSpLocks noChangeShapeType="1"/>
              </p:cNvCxnSpPr>
              <p:nvPr/>
            </p:nvCxnSpPr>
            <p:spPr bwMode="auto">
              <a:xfrm>
                <a:off x="622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2" name="AutoShape 403"/>
              <p:cNvCxnSpPr>
                <a:cxnSpLocks noChangeShapeType="1"/>
              </p:cNvCxnSpPr>
              <p:nvPr/>
            </p:nvCxnSpPr>
            <p:spPr bwMode="auto">
              <a:xfrm>
                <a:off x="641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3" name="AutoShape 404"/>
              <p:cNvCxnSpPr>
                <a:cxnSpLocks noChangeShapeType="1"/>
              </p:cNvCxnSpPr>
              <p:nvPr/>
            </p:nvCxnSpPr>
            <p:spPr bwMode="auto">
              <a:xfrm>
                <a:off x="659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4" name="AutoShape 405"/>
              <p:cNvCxnSpPr>
                <a:cxnSpLocks noChangeShapeType="1"/>
              </p:cNvCxnSpPr>
              <p:nvPr/>
            </p:nvCxnSpPr>
            <p:spPr bwMode="auto">
              <a:xfrm>
                <a:off x="6782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5" name="AutoShape 406"/>
              <p:cNvCxnSpPr>
                <a:cxnSpLocks noChangeShapeType="1"/>
              </p:cNvCxnSpPr>
              <p:nvPr/>
            </p:nvCxnSpPr>
            <p:spPr bwMode="auto">
              <a:xfrm>
                <a:off x="6967" y="8750"/>
                <a:ext cx="1" cy="397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6" name="AutoShape 407"/>
              <p:cNvCxnSpPr>
                <a:cxnSpLocks noChangeShapeType="1"/>
              </p:cNvCxnSpPr>
              <p:nvPr/>
            </p:nvCxnSpPr>
            <p:spPr bwMode="auto">
              <a:xfrm>
                <a:off x="2712" y="8750"/>
                <a:ext cx="6846" cy="0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7" name="AutoShape 408"/>
              <p:cNvCxnSpPr>
                <a:cxnSpLocks noChangeShapeType="1"/>
              </p:cNvCxnSpPr>
              <p:nvPr/>
            </p:nvCxnSpPr>
            <p:spPr bwMode="auto">
              <a:xfrm>
                <a:off x="2711" y="8935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8" name="AutoShape 409"/>
              <p:cNvCxnSpPr>
                <a:cxnSpLocks noChangeShapeType="1"/>
              </p:cNvCxnSpPr>
              <p:nvPr/>
            </p:nvCxnSpPr>
            <p:spPr bwMode="auto">
              <a:xfrm>
                <a:off x="2709" y="9120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9" name="AutoShape 410"/>
              <p:cNvCxnSpPr>
                <a:cxnSpLocks noChangeShapeType="1"/>
              </p:cNvCxnSpPr>
              <p:nvPr/>
            </p:nvCxnSpPr>
            <p:spPr bwMode="auto">
              <a:xfrm>
                <a:off x="2712" y="11526"/>
                <a:ext cx="6847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0" name="AutoShape 411"/>
              <p:cNvCxnSpPr>
                <a:cxnSpLocks noChangeShapeType="1"/>
              </p:cNvCxnSpPr>
              <p:nvPr/>
            </p:nvCxnSpPr>
            <p:spPr bwMode="auto">
              <a:xfrm>
                <a:off x="2699" y="11711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1" name="AutoShape 412"/>
              <p:cNvCxnSpPr>
                <a:cxnSpLocks noChangeShapeType="1"/>
              </p:cNvCxnSpPr>
              <p:nvPr/>
            </p:nvCxnSpPr>
            <p:spPr bwMode="auto">
              <a:xfrm>
                <a:off x="2715" y="11896"/>
                <a:ext cx="6845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2" name="AutoShape 413"/>
              <p:cNvCxnSpPr>
                <a:cxnSpLocks noChangeShapeType="1"/>
              </p:cNvCxnSpPr>
              <p:nvPr/>
            </p:nvCxnSpPr>
            <p:spPr bwMode="auto">
              <a:xfrm>
                <a:off x="2701" y="12080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3" name="AutoShape 414"/>
              <p:cNvCxnSpPr>
                <a:cxnSpLocks noChangeShapeType="1"/>
              </p:cNvCxnSpPr>
              <p:nvPr/>
            </p:nvCxnSpPr>
            <p:spPr bwMode="auto">
              <a:xfrm>
                <a:off x="2715" y="12263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" name="AutoShape 415"/>
              <p:cNvCxnSpPr>
                <a:cxnSpLocks noChangeShapeType="1"/>
              </p:cNvCxnSpPr>
              <p:nvPr/>
            </p:nvCxnSpPr>
            <p:spPr bwMode="auto">
              <a:xfrm>
                <a:off x="2713" y="12451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5" name="AutoShape 416"/>
              <p:cNvCxnSpPr>
                <a:cxnSpLocks noChangeShapeType="1"/>
              </p:cNvCxnSpPr>
              <p:nvPr/>
            </p:nvCxnSpPr>
            <p:spPr bwMode="auto">
              <a:xfrm>
                <a:off x="2715" y="12634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6" name="AutoShape 417"/>
              <p:cNvCxnSpPr>
                <a:cxnSpLocks noChangeShapeType="1"/>
              </p:cNvCxnSpPr>
              <p:nvPr/>
            </p:nvCxnSpPr>
            <p:spPr bwMode="auto">
              <a:xfrm>
                <a:off x="2697" y="10230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7" name="AutoShape 418"/>
              <p:cNvCxnSpPr>
                <a:cxnSpLocks noChangeShapeType="1"/>
              </p:cNvCxnSpPr>
              <p:nvPr/>
            </p:nvCxnSpPr>
            <p:spPr bwMode="auto">
              <a:xfrm>
                <a:off x="2715" y="10413"/>
                <a:ext cx="6847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8" name="AutoShape 419"/>
              <p:cNvCxnSpPr>
                <a:cxnSpLocks noChangeShapeType="1"/>
              </p:cNvCxnSpPr>
              <p:nvPr/>
            </p:nvCxnSpPr>
            <p:spPr bwMode="auto">
              <a:xfrm>
                <a:off x="2705" y="10600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9" name="AutoShape 420"/>
              <p:cNvCxnSpPr>
                <a:cxnSpLocks noChangeShapeType="1"/>
              </p:cNvCxnSpPr>
              <p:nvPr/>
            </p:nvCxnSpPr>
            <p:spPr bwMode="auto">
              <a:xfrm>
                <a:off x="2712" y="10784"/>
                <a:ext cx="6847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0" name="AutoShape 421"/>
              <p:cNvCxnSpPr>
                <a:cxnSpLocks noChangeShapeType="1"/>
              </p:cNvCxnSpPr>
              <p:nvPr/>
            </p:nvCxnSpPr>
            <p:spPr bwMode="auto">
              <a:xfrm>
                <a:off x="2714" y="10970"/>
                <a:ext cx="6845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1" name="AutoShape 422"/>
              <p:cNvCxnSpPr>
                <a:cxnSpLocks noChangeShapeType="1"/>
              </p:cNvCxnSpPr>
              <p:nvPr/>
            </p:nvCxnSpPr>
            <p:spPr bwMode="auto">
              <a:xfrm>
                <a:off x="2714" y="11154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2" name="AutoShape 423"/>
              <p:cNvCxnSpPr>
                <a:cxnSpLocks noChangeShapeType="1"/>
              </p:cNvCxnSpPr>
              <p:nvPr/>
            </p:nvCxnSpPr>
            <p:spPr bwMode="auto">
              <a:xfrm>
                <a:off x="2714" y="11341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3" name="AutoShape 424"/>
              <p:cNvCxnSpPr>
                <a:cxnSpLocks noChangeShapeType="1"/>
              </p:cNvCxnSpPr>
              <p:nvPr/>
            </p:nvCxnSpPr>
            <p:spPr bwMode="auto">
              <a:xfrm>
                <a:off x="2707" y="9305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4" name="AutoShape 425"/>
              <p:cNvCxnSpPr>
                <a:cxnSpLocks noChangeShapeType="1"/>
              </p:cNvCxnSpPr>
              <p:nvPr/>
            </p:nvCxnSpPr>
            <p:spPr bwMode="auto">
              <a:xfrm>
                <a:off x="2705" y="9490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5" name="AutoShape 426"/>
              <p:cNvCxnSpPr>
                <a:cxnSpLocks noChangeShapeType="1"/>
              </p:cNvCxnSpPr>
              <p:nvPr/>
            </p:nvCxnSpPr>
            <p:spPr bwMode="auto">
              <a:xfrm>
                <a:off x="2703" y="9675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6" name="AutoShape 427"/>
              <p:cNvCxnSpPr>
                <a:cxnSpLocks noChangeShapeType="1"/>
              </p:cNvCxnSpPr>
              <p:nvPr/>
            </p:nvCxnSpPr>
            <p:spPr bwMode="auto">
              <a:xfrm>
                <a:off x="2701" y="9860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7" name="AutoShape 428"/>
              <p:cNvCxnSpPr>
                <a:cxnSpLocks noChangeShapeType="1"/>
              </p:cNvCxnSpPr>
              <p:nvPr/>
            </p:nvCxnSpPr>
            <p:spPr bwMode="auto">
              <a:xfrm>
                <a:off x="2699" y="10045"/>
                <a:ext cx="6846" cy="1"/>
              </a:xfrm>
              <a:prstGeom prst="straightConnector1">
                <a:avLst/>
              </a:prstGeom>
              <a:noFill/>
              <a:ln w="9525">
                <a:solidFill>
                  <a:schemeClr val="bg1">
                    <a:lumMod val="65000"/>
                    <a:lumOff val="0"/>
                  </a:schemeClr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19" name="AutoShape 433"/>
            <p:cNvCxnSpPr>
              <a:cxnSpLocks noChangeShapeType="1"/>
            </p:cNvCxnSpPr>
            <p:nvPr/>
          </p:nvCxnSpPr>
          <p:spPr bwMode="auto">
            <a:xfrm flipV="1">
              <a:off x="2689462" y="2274166"/>
              <a:ext cx="4885700" cy="2237115"/>
            </a:xfrm>
            <a:prstGeom prst="straightConnector1">
              <a:avLst/>
            </a:prstGeom>
            <a:noFill/>
            <a:ln w="38100">
              <a:solidFill>
                <a:srgbClr val="0070C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0" name="AutoShape 432"/>
            <p:cNvCxnSpPr>
              <a:cxnSpLocks noChangeShapeType="1"/>
            </p:cNvCxnSpPr>
            <p:nvPr/>
          </p:nvCxnSpPr>
          <p:spPr bwMode="auto">
            <a:xfrm flipV="1">
              <a:off x="4498562" y="2500867"/>
              <a:ext cx="263600" cy="110560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1" name="AutoShape 431"/>
            <p:cNvCxnSpPr>
              <a:cxnSpLocks noChangeShapeType="1"/>
            </p:cNvCxnSpPr>
            <p:nvPr/>
          </p:nvCxnSpPr>
          <p:spPr bwMode="auto">
            <a:xfrm flipH="1" flipV="1">
              <a:off x="4828162" y="2480567"/>
              <a:ext cx="586800" cy="6909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2" name="AutoShape 437"/>
            <p:cNvCxnSpPr>
              <a:cxnSpLocks noChangeShapeType="1"/>
            </p:cNvCxnSpPr>
            <p:nvPr/>
          </p:nvCxnSpPr>
          <p:spPr bwMode="auto">
            <a:xfrm>
              <a:off x="2061462" y="4946284"/>
              <a:ext cx="6089000" cy="1020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" name="AutoShape 438"/>
            <p:cNvCxnSpPr>
              <a:cxnSpLocks noChangeShapeType="1"/>
            </p:cNvCxnSpPr>
            <p:nvPr/>
          </p:nvCxnSpPr>
          <p:spPr bwMode="auto">
            <a:xfrm>
              <a:off x="2286862" y="1681162"/>
              <a:ext cx="0" cy="360042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TextBox 4"/>
          <p:cNvSpPr txBox="1"/>
          <p:nvPr/>
        </p:nvSpPr>
        <p:spPr>
          <a:xfrm>
            <a:off x="1249680" y="1325880"/>
            <a:ext cx="7566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C00000"/>
                </a:solidFill>
              </a:rPr>
              <a:t>Bresenham</a:t>
            </a:r>
            <a:r>
              <a:rPr lang="en-US" dirty="0" smtClean="0">
                <a:solidFill>
                  <a:srgbClr val="C00000"/>
                </a:solidFill>
              </a:rPr>
              <a:t> Algorithm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0306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2429" y="351074"/>
            <a:ext cx="10037445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It is sufficient to consider an algorithm for drawing lines where the endpoint is to the right of the starting point (i.e., </a:t>
            </a:r>
            <a:r>
              <a:rPr lang="en-US" dirty="0" smtClean="0"/>
              <a:t>X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en-US" dirty="0"/>
              <a:t>&gt; </a:t>
            </a:r>
            <a:r>
              <a:rPr lang="en-US" dirty="0" smtClean="0"/>
              <a:t>X</a:t>
            </a:r>
            <a:r>
              <a:rPr lang="en-US" baseline="-25000" dirty="0" smtClean="0"/>
              <a:t>0</a:t>
            </a:r>
            <a:r>
              <a:rPr lang="en-US" dirty="0" smtClean="0"/>
              <a:t>​</a:t>
            </a:r>
            <a:r>
              <a:rPr lang="en-US" dirty="0"/>
              <a:t>).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this condition is not met, we can either swap the start and end points or draw the "symmetrical" segment and then, when rendering on the screen (or in a file), light up the pixels at (−</a:t>
            </a:r>
            <a:r>
              <a:rPr lang="en-US" dirty="0" smtClean="0"/>
              <a:t>X,Y) </a:t>
            </a:r>
            <a:r>
              <a:rPr lang="en-US" dirty="0"/>
              <a:t>instead of (</a:t>
            </a:r>
            <a:r>
              <a:rPr lang="en-US" dirty="0" smtClean="0"/>
              <a:t>X,Y).</a:t>
            </a:r>
          </a:p>
          <a:p>
            <a:endParaRPr lang="en-US" dirty="0"/>
          </a:p>
          <a:p>
            <a:r>
              <a:rPr lang="en-US" dirty="0"/>
              <a:t>This eliminates the left half of the diagram below (marked with a gray arc), where we reflect the line symmetrically by changing the sign of the X-values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Similarly, if </a:t>
            </a:r>
            <a:r>
              <a:rPr lang="en-US" dirty="0" smtClean="0"/>
              <a:t>Y</a:t>
            </a:r>
            <a:r>
              <a:rPr lang="en-US" baseline="-25000" dirty="0" smtClean="0"/>
              <a:t>1</a:t>
            </a:r>
            <a:r>
              <a:rPr lang="en-US" dirty="0"/>
              <a:t>​&lt;Y</a:t>
            </a:r>
            <a:r>
              <a:rPr lang="en-US" baseline="-25000" dirty="0"/>
              <a:t>0</a:t>
            </a:r>
            <a:r>
              <a:rPr lang="en-US" dirty="0"/>
              <a:t>​ (meaning the line is going downward), we can calculate its symmetrical counterpart and then light up the pixels at </a:t>
            </a:r>
            <a:r>
              <a:rPr lang="en-US" dirty="0" smtClean="0"/>
              <a:t>(</a:t>
            </a:r>
            <a:r>
              <a:rPr lang="en-US" dirty="0"/>
              <a:t>X,−Y</a:t>
            </a:r>
            <a:r>
              <a:rPr lang="en-US" dirty="0" smtClean="0"/>
              <a:t>).</a:t>
            </a:r>
          </a:p>
          <a:p>
            <a:endParaRPr lang="en-US" sz="1400" dirty="0"/>
          </a:p>
        </p:txBody>
      </p:sp>
      <p:sp>
        <p:nvSpPr>
          <p:cNvPr id="139" name="Rectangle 138"/>
          <p:cNvSpPr/>
          <p:nvPr/>
        </p:nvSpPr>
        <p:spPr>
          <a:xfrm>
            <a:off x="5616575" y="3348037"/>
            <a:ext cx="5553075" cy="5305425"/>
          </a:xfrm>
          <a:prstGeom prst="rect">
            <a:avLst/>
          </a:prstGeom>
          <a:noFill/>
        </p:spPr>
      </p:sp>
      <p:grpSp>
        <p:nvGrpSpPr>
          <p:cNvPr id="7" name="Group 6"/>
          <p:cNvGrpSpPr/>
          <p:nvPr/>
        </p:nvGrpSpPr>
        <p:grpSpPr>
          <a:xfrm>
            <a:off x="5616575" y="3213119"/>
            <a:ext cx="4878070" cy="4314825"/>
            <a:chOff x="5712460" y="3481387"/>
            <a:chExt cx="4878070" cy="4314825"/>
          </a:xfrm>
        </p:grpSpPr>
        <p:sp>
          <p:nvSpPr>
            <p:cNvPr id="140" name="Arc 137"/>
            <p:cNvSpPr>
              <a:spLocks/>
            </p:cNvSpPr>
            <p:nvPr/>
          </p:nvSpPr>
          <p:spPr bwMode="auto">
            <a:xfrm>
              <a:off x="7897495" y="4451667"/>
              <a:ext cx="1836420" cy="1833880"/>
            </a:xfrm>
            <a:custGeom>
              <a:avLst/>
              <a:gdLst>
                <a:gd name="T0" fmla="*/ 1288045 w 21600"/>
                <a:gd name="T1" fmla="*/ 0 h 21600"/>
                <a:gd name="T2" fmla="*/ 1836420 w 21600"/>
                <a:gd name="T3" fmla="*/ 1308735 h 21600"/>
                <a:gd name="T4" fmla="*/ 0 w 21600"/>
                <a:gd name="T5" fmla="*/ 1308735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15150" y="-1"/>
                  </a:moveTo>
                  <a:cubicBezTo>
                    <a:pt x="19276" y="4060"/>
                    <a:pt x="21600" y="9607"/>
                    <a:pt x="21600" y="15396"/>
                  </a:cubicBezTo>
                </a:path>
                <a:path w="21600" h="21600" stroke="0" extrusionOk="0">
                  <a:moveTo>
                    <a:pt x="15150" y="-1"/>
                  </a:moveTo>
                  <a:cubicBezTo>
                    <a:pt x="19276" y="4060"/>
                    <a:pt x="21600" y="9607"/>
                    <a:pt x="21600" y="15396"/>
                  </a:cubicBezTo>
                  <a:lnTo>
                    <a:pt x="0" y="15396"/>
                  </a:lnTo>
                  <a:lnTo>
                    <a:pt x="15150" y="-1"/>
                  </a:lnTo>
                  <a:close/>
                </a:path>
              </a:pathLst>
            </a:custGeom>
            <a:noFill/>
            <a:ln w="76200">
              <a:solidFill>
                <a:srgbClr val="FF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41" name="Arc 138"/>
            <p:cNvSpPr>
              <a:spLocks/>
            </p:cNvSpPr>
            <p:nvPr/>
          </p:nvSpPr>
          <p:spPr bwMode="auto">
            <a:xfrm flipV="1">
              <a:off x="7898130" y="5242877"/>
              <a:ext cx="1836420" cy="1821815"/>
            </a:xfrm>
            <a:custGeom>
              <a:avLst/>
              <a:gdLst>
                <a:gd name="T0" fmla="*/ 1288045 w 21600"/>
                <a:gd name="T1" fmla="*/ 0 h 21600"/>
                <a:gd name="T2" fmla="*/ 1836420 w 21600"/>
                <a:gd name="T3" fmla="*/ 1308735 h 21600"/>
                <a:gd name="T4" fmla="*/ 0 w 21600"/>
                <a:gd name="T5" fmla="*/ 1308735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15150" y="-1"/>
                  </a:moveTo>
                  <a:cubicBezTo>
                    <a:pt x="19276" y="4060"/>
                    <a:pt x="21600" y="9607"/>
                    <a:pt x="21600" y="15396"/>
                  </a:cubicBezTo>
                </a:path>
                <a:path w="21600" h="21600" stroke="0" extrusionOk="0">
                  <a:moveTo>
                    <a:pt x="15150" y="-1"/>
                  </a:moveTo>
                  <a:cubicBezTo>
                    <a:pt x="19276" y="4060"/>
                    <a:pt x="21600" y="9607"/>
                    <a:pt x="21600" y="15396"/>
                  </a:cubicBezTo>
                  <a:lnTo>
                    <a:pt x="0" y="15396"/>
                  </a:lnTo>
                  <a:lnTo>
                    <a:pt x="15150" y="-1"/>
                  </a:lnTo>
                  <a:close/>
                </a:path>
              </a:pathLst>
            </a:custGeom>
            <a:noFill/>
            <a:ln w="7620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3">
                      <a:lumMod val="40000"/>
                      <a:lumOff val="60000"/>
                    </a:schemeClr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88" name="Arc 139"/>
            <p:cNvSpPr>
              <a:spLocks/>
            </p:cNvSpPr>
            <p:nvPr/>
          </p:nvSpPr>
          <p:spPr bwMode="auto">
            <a:xfrm flipH="1">
              <a:off x="6029960" y="4461827"/>
              <a:ext cx="1836420" cy="1823720"/>
            </a:xfrm>
            <a:custGeom>
              <a:avLst/>
              <a:gdLst>
                <a:gd name="T0" fmla="*/ 1288045 w 21600"/>
                <a:gd name="T1" fmla="*/ 0 h 21600"/>
                <a:gd name="T2" fmla="*/ 1836420 w 21600"/>
                <a:gd name="T3" fmla="*/ 1309370 h 21600"/>
                <a:gd name="T4" fmla="*/ 0 w 21600"/>
                <a:gd name="T5" fmla="*/ 130937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15150" y="-1"/>
                  </a:moveTo>
                  <a:cubicBezTo>
                    <a:pt x="19276" y="4060"/>
                    <a:pt x="21600" y="9607"/>
                    <a:pt x="21600" y="15396"/>
                  </a:cubicBezTo>
                </a:path>
                <a:path w="21600" h="21600" stroke="0" extrusionOk="0">
                  <a:moveTo>
                    <a:pt x="15150" y="-1"/>
                  </a:moveTo>
                  <a:cubicBezTo>
                    <a:pt x="19276" y="4060"/>
                    <a:pt x="21600" y="9607"/>
                    <a:pt x="21600" y="15396"/>
                  </a:cubicBezTo>
                  <a:lnTo>
                    <a:pt x="0" y="15396"/>
                  </a:lnTo>
                  <a:lnTo>
                    <a:pt x="15150" y="-1"/>
                  </a:lnTo>
                  <a:close/>
                </a:path>
              </a:pathLst>
            </a:custGeom>
            <a:noFill/>
            <a:ln w="76200">
              <a:solidFill>
                <a:schemeClr val="bg1">
                  <a:lumMod val="65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>
                      <a:lumMod val="90000"/>
                      <a:lumOff val="0"/>
                    </a:schemeClr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89" name="Arc 140"/>
            <p:cNvSpPr>
              <a:spLocks/>
            </p:cNvSpPr>
            <p:nvPr/>
          </p:nvSpPr>
          <p:spPr bwMode="auto">
            <a:xfrm flipH="1" flipV="1">
              <a:off x="6025515" y="5242877"/>
              <a:ext cx="1836420" cy="1811020"/>
            </a:xfrm>
            <a:custGeom>
              <a:avLst/>
              <a:gdLst>
                <a:gd name="T0" fmla="*/ 1288045 w 21600"/>
                <a:gd name="T1" fmla="*/ 0 h 21600"/>
                <a:gd name="T2" fmla="*/ 1836420 w 21600"/>
                <a:gd name="T3" fmla="*/ 1308735 h 21600"/>
                <a:gd name="T4" fmla="*/ 0 w 21600"/>
                <a:gd name="T5" fmla="*/ 1308735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15150" y="-1"/>
                  </a:moveTo>
                  <a:cubicBezTo>
                    <a:pt x="19276" y="4060"/>
                    <a:pt x="21600" y="9607"/>
                    <a:pt x="21600" y="15396"/>
                  </a:cubicBezTo>
                </a:path>
                <a:path w="21600" h="21600" stroke="0" extrusionOk="0">
                  <a:moveTo>
                    <a:pt x="15150" y="-1"/>
                  </a:moveTo>
                  <a:cubicBezTo>
                    <a:pt x="19276" y="4060"/>
                    <a:pt x="21600" y="9607"/>
                    <a:pt x="21600" y="15396"/>
                  </a:cubicBezTo>
                  <a:lnTo>
                    <a:pt x="0" y="15396"/>
                  </a:lnTo>
                  <a:lnTo>
                    <a:pt x="15150" y="-1"/>
                  </a:lnTo>
                  <a:close/>
                </a:path>
              </a:pathLst>
            </a:custGeom>
            <a:noFill/>
            <a:ln w="76200">
              <a:solidFill>
                <a:schemeClr val="bg1">
                  <a:lumMod val="75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>
                      <a:lumMod val="90000"/>
                      <a:lumOff val="0"/>
                    </a:schemeClr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90" name="Arc 141"/>
            <p:cNvSpPr>
              <a:spLocks/>
            </p:cNvSpPr>
            <p:nvPr/>
          </p:nvSpPr>
          <p:spPr bwMode="auto">
            <a:xfrm rot="16200000">
              <a:off x="6564630" y="3915727"/>
              <a:ext cx="1836420" cy="1830070"/>
            </a:xfrm>
            <a:custGeom>
              <a:avLst/>
              <a:gdLst>
                <a:gd name="T0" fmla="*/ 1288045 w 21600"/>
                <a:gd name="T1" fmla="*/ 0 h 21600"/>
                <a:gd name="T2" fmla="*/ 1836420 w 21600"/>
                <a:gd name="T3" fmla="*/ 1308735 h 21600"/>
                <a:gd name="T4" fmla="*/ 0 w 21600"/>
                <a:gd name="T5" fmla="*/ 1308735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15150" y="-1"/>
                  </a:moveTo>
                  <a:cubicBezTo>
                    <a:pt x="19276" y="4060"/>
                    <a:pt x="21600" y="9607"/>
                    <a:pt x="21600" y="15396"/>
                  </a:cubicBezTo>
                </a:path>
                <a:path w="21600" h="21600" stroke="0" extrusionOk="0">
                  <a:moveTo>
                    <a:pt x="15150" y="-1"/>
                  </a:moveTo>
                  <a:cubicBezTo>
                    <a:pt x="19276" y="4060"/>
                    <a:pt x="21600" y="9607"/>
                    <a:pt x="21600" y="15396"/>
                  </a:cubicBezTo>
                  <a:lnTo>
                    <a:pt x="0" y="15396"/>
                  </a:lnTo>
                  <a:lnTo>
                    <a:pt x="15150" y="-1"/>
                  </a:lnTo>
                  <a:close/>
                </a:path>
              </a:pathLst>
            </a:custGeom>
            <a:noFill/>
            <a:ln w="76200">
              <a:solidFill>
                <a:schemeClr val="bg1">
                  <a:lumMod val="75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>
                      <a:lumMod val="90000"/>
                      <a:lumOff val="0"/>
                    </a:schemeClr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91" name="Arc 142"/>
            <p:cNvSpPr>
              <a:spLocks/>
            </p:cNvSpPr>
            <p:nvPr/>
          </p:nvSpPr>
          <p:spPr bwMode="auto">
            <a:xfrm rot="16200000" flipV="1">
              <a:off x="7350125" y="3904297"/>
              <a:ext cx="1836420" cy="1855470"/>
            </a:xfrm>
            <a:custGeom>
              <a:avLst/>
              <a:gdLst>
                <a:gd name="T0" fmla="*/ 1288045 w 21600"/>
                <a:gd name="T1" fmla="*/ 0 h 21600"/>
                <a:gd name="T2" fmla="*/ 1836420 w 21600"/>
                <a:gd name="T3" fmla="*/ 1309370 h 21600"/>
                <a:gd name="T4" fmla="*/ 0 w 21600"/>
                <a:gd name="T5" fmla="*/ 130937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15150" y="-1"/>
                  </a:moveTo>
                  <a:cubicBezTo>
                    <a:pt x="19276" y="4060"/>
                    <a:pt x="21600" y="9607"/>
                    <a:pt x="21600" y="15396"/>
                  </a:cubicBezTo>
                </a:path>
                <a:path w="21600" h="21600" stroke="0" extrusionOk="0">
                  <a:moveTo>
                    <a:pt x="15150" y="-1"/>
                  </a:moveTo>
                  <a:cubicBezTo>
                    <a:pt x="19276" y="4060"/>
                    <a:pt x="21600" y="9607"/>
                    <a:pt x="21600" y="15396"/>
                  </a:cubicBezTo>
                  <a:lnTo>
                    <a:pt x="0" y="15396"/>
                  </a:lnTo>
                  <a:lnTo>
                    <a:pt x="15150" y="-1"/>
                  </a:lnTo>
                  <a:close/>
                </a:path>
              </a:pathLst>
            </a:cu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3">
                      <a:lumMod val="40000"/>
                      <a:lumOff val="60000"/>
                    </a:schemeClr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92" name="Arc 143"/>
            <p:cNvSpPr>
              <a:spLocks/>
            </p:cNvSpPr>
            <p:nvPr/>
          </p:nvSpPr>
          <p:spPr bwMode="auto">
            <a:xfrm rot="5400000" flipV="1">
              <a:off x="6583680" y="5744527"/>
              <a:ext cx="1837055" cy="1869440"/>
            </a:xfrm>
            <a:custGeom>
              <a:avLst/>
              <a:gdLst>
                <a:gd name="T0" fmla="*/ 1288045 w 21600"/>
                <a:gd name="T1" fmla="*/ 0 h 21600"/>
                <a:gd name="T2" fmla="*/ 1836420 w 21600"/>
                <a:gd name="T3" fmla="*/ 1308735 h 21600"/>
                <a:gd name="T4" fmla="*/ 0 w 21600"/>
                <a:gd name="T5" fmla="*/ 1308735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15150" y="-1"/>
                  </a:moveTo>
                  <a:cubicBezTo>
                    <a:pt x="19276" y="4060"/>
                    <a:pt x="21600" y="9607"/>
                    <a:pt x="21600" y="15396"/>
                  </a:cubicBezTo>
                </a:path>
                <a:path w="21600" h="21600" stroke="0" extrusionOk="0">
                  <a:moveTo>
                    <a:pt x="15150" y="-1"/>
                  </a:moveTo>
                  <a:cubicBezTo>
                    <a:pt x="19276" y="4060"/>
                    <a:pt x="21600" y="9607"/>
                    <a:pt x="21600" y="15396"/>
                  </a:cubicBezTo>
                  <a:lnTo>
                    <a:pt x="0" y="15396"/>
                  </a:lnTo>
                  <a:lnTo>
                    <a:pt x="15150" y="-1"/>
                  </a:lnTo>
                  <a:close/>
                </a:path>
              </a:pathLst>
            </a:custGeom>
            <a:noFill/>
            <a:ln w="76200">
              <a:solidFill>
                <a:schemeClr val="bg1">
                  <a:lumMod val="65000"/>
                  <a:lumOff val="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2">
                      <a:lumMod val="90000"/>
                      <a:lumOff val="0"/>
                    </a:schemeClr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93" name="Arc 144"/>
            <p:cNvSpPr>
              <a:spLocks/>
            </p:cNvSpPr>
            <p:nvPr/>
          </p:nvSpPr>
          <p:spPr bwMode="auto">
            <a:xfrm rot="5400000">
              <a:off x="7367270" y="5773102"/>
              <a:ext cx="1836420" cy="1821815"/>
            </a:xfrm>
            <a:custGeom>
              <a:avLst/>
              <a:gdLst>
                <a:gd name="T0" fmla="*/ 1288045 w 21600"/>
                <a:gd name="T1" fmla="*/ 0 h 21600"/>
                <a:gd name="T2" fmla="*/ 1836420 w 21600"/>
                <a:gd name="T3" fmla="*/ 1309370 h 21600"/>
                <a:gd name="T4" fmla="*/ 0 w 21600"/>
                <a:gd name="T5" fmla="*/ 130937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15150" y="-1"/>
                  </a:moveTo>
                  <a:cubicBezTo>
                    <a:pt x="19276" y="4060"/>
                    <a:pt x="21600" y="9607"/>
                    <a:pt x="21600" y="15396"/>
                  </a:cubicBezTo>
                </a:path>
                <a:path w="21600" h="21600" stroke="0" extrusionOk="0">
                  <a:moveTo>
                    <a:pt x="15150" y="-1"/>
                  </a:moveTo>
                  <a:cubicBezTo>
                    <a:pt x="19276" y="4060"/>
                    <a:pt x="21600" y="9607"/>
                    <a:pt x="21600" y="15396"/>
                  </a:cubicBezTo>
                  <a:lnTo>
                    <a:pt x="0" y="15396"/>
                  </a:lnTo>
                  <a:lnTo>
                    <a:pt x="15150" y="-1"/>
                  </a:lnTo>
                  <a:close/>
                </a:path>
              </a:pathLst>
            </a:custGeom>
            <a:noFill/>
            <a:ln w="76200">
              <a:solidFill>
                <a:schemeClr val="tx2">
                  <a:lumMod val="40000"/>
                  <a:lumOff val="60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3">
                      <a:lumMod val="40000"/>
                      <a:lumOff val="60000"/>
                    </a:schemeClr>
                  </a:solidFill>
                </a14:hiddenFill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cxnSp>
          <p:nvCxnSpPr>
            <p:cNvPr id="194" name="AutoShape 85"/>
            <p:cNvCxnSpPr>
              <a:cxnSpLocks noChangeShapeType="1"/>
            </p:cNvCxnSpPr>
            <p:nvPr/>
          </p:nvCxnSpPr>
          <p:spPr bwMode="auto">
            <a:xfrm>
              <a:off x="5796280" y="5761037"/>
              <a:ext cx="4407535" cy="6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" name="AutoShape 86"/>
            <p:cNvCxnSpPr>
              <a:cxnSpLocks noChangeShapeType="1"/>
            </p:cNvCxnSpPr>
            <p:nvPr/>
          </p:nvCxnSpPr>
          <p:spPr bwMode="auto">
            <a:xfrm flipH="1" flipV="1">
              <a:off x="7878445" y="3531552"/>
              <a:ext cx="25400" cy="42646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8" name="AutoShape 89"/>
            <p:cNvCxnSpPr>
              <a:cxnSpLocks noChangeShapeType="1"/>
            </p:cNvCxnSpPr>
            <p:nvPr/>
          </p:nvCxnSpPr>
          <p:spPr bwMode="auto">
            <a:xfrm flipV="1">
              <a:off x="7886700" y="5348922"/>
              <a:ext cx="1365885" cy="414655"/>
            </a:xfrm>
            <a:prstGeom prst="straightConnector1">
              <a:avLst/>
            </a:prstGeom>
            <a:noFill/>
            <a:ln w="28575">
              <a:solidFill>
                <a:srgbClr val="C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1" name="AutoShape 93"/>
            <p:cNvCxnSpPr>
              <a:cxnSpLocks noChangeShapeType="1"/>
            </p:cNvCxnSpPr>
            <p:nvPr/>
          </p:nvCxnSpPr>
          <p:spPr bwMode="auto">
            <a:xfrm>
              <a:off x="7889875" y="5766117"/>
              <a:ext cx="1316355" cy="37973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2" name="AutoShape 101"/>
            <p:cNvCxnSpPr>
              <a:cxnSpLocks noChangeShapeType="1"/>
            </p:cNvCxnSpPr>
            <p:nvPr/>
          </p:nvCxnSpPr>
          <p:spPr bwMode="auto">
            <a:xfrm flipH="1" flipV="1">
              <a:off x="6487160" y="5296852"/>
              <a:ext cx="1397635" cy="46926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4" name="AutoShape 104"/>
            <p:cNvCxnSpPr>
              <a:cxnSpLocks noChangeShapeType="1"/>
            </p:cNvCxnSpPr>
            <p:nvPr/>
          </p:nvCxnSpPr>
          <p:spPr bwMode="auto">
            <a:xfrm flipH="1">
              <a:off x="6504940" y="5761037"/>
              <a:ext cx="1379855" cy="37973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5" name="Text Box 105"/>
            <p:cNvSpPr txBox="1">
              <a:spLocks noChangeArrowheads="1"/>
            </p:cNvSpPr>
            <p:nvPr/>
          </p:nvSpPr>
          <p:spPr bwMode="auto">
            <a:xfrm>
              <a:off x="9884410" y="5701982"/>
              <a:ext cx="319405" cy="319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X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06" name="Text Box 106"/>
            <p:cNvSpPr txBox="1">
              <a:spLocks noChangeArrowheads="1"/>
            </p:cNvSpPr>
            <p:nvPr/>
          </p:nvSpPr>
          <p:spPr bwMode="auto">
            <a:xfrm>
              <a:off x="7853680" y="3481387"/>
              <a:ext cx="318770" cy="31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y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07" name="Text Box 107"/>
            <p:cNvSpPr txBox="1">
              <a:spLocks noChangeArrowheads="1"/>
            </p:cNvSpPr>
            <p:nvPr/>
          </p:nvSpPr>
          <p:spPr bwMode="auto">
            <a:xfrm>
              <a:off x="8635365" y="5138102"/>
              <a:ext cx="482600" cy="320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>
                  <a:solidFill>
                    <a:srgbClr val="C0000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X,Y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Text Box 109"/>
            <p:cNvSpPr txBox="1">
              <a:spLocks noChangeArrowheads="1"/>
            </p:cNvSpPr>
            <p:nvPr/>
          </p:nvSpPr>
          <p:spPr bwMode="auto">
            <a:xfrm>
              <a:off x="8634095" y="6084887"/>
              <a:ext cx="561975" cy="319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X,-Y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Text Box 113"/>
            <p:cNvSpPr txBox="1">
              <a:spLocks noChangeArrowheads="1"/>
            </p:cNvSpPr>
            <p:nvPr/>
          </p:nvSpPr>
          <p:spPr bwMode="auto">
            <a:xfrm>
              <a:off x="6537960" y="5121592"/>
              <a:ext cx="739775" cy="319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-X,Y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3" name="Text Box 114"/>
            <p:cNvSpPr txBox="1">
              <a:spLocks noChangeArrowheads="1"/>
            </p:cNvSpPr>
            <p:nvPr/>
          </p:nvSpPr>
          <p:spPr bwMode="auto">
            <a:xfrm>
              <a:off x="6477000" y="6181407"/>
              <a:ext cx="617220" cy="319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400" b="1">
                  <a:solidFill>
                    <a:srgbClr val="0070C0"/>
                  </a:solidFill>
                  <a:effectLst/>
                  <a:latin typeface="Sylfaen" panose="010A0502050306030303" pitchFamily="18" charset="0"/>
                  <a:ea typeface="Calibri" panose="020F0502020204030204" pitchFamily="34" charset="0"/>
                  <a:cs typeface="Arial" panose="020B0604020202020204" pitchFamily="34" charset="0"/>
                </a:rPr>
                <a:t>-X,-Y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5" name="Text Box 116"/>
            <p:cNvSpPr txBox="1">
              <a:spLocks noChangeArrowheads="1"/>
            </p:cNvSpPr>
            <p:nvPr/>
          </p:nvSpPr>
          <p:spPr bwMode="auto">
            <a:xfrm>
              <a:off x="9606280" y="4886007"/>
              <a:ext cx="910590" cy="36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i="1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0&lt;K&lt;1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7" name="Text Box 147"/>
            <p:cNvSpPr txBox="1">
              <a:spLocks noChangeArrowheads="1"/>
            </p:cNvSpPr>
            <p:nvPr/>
          </p:nvSpPr>
          <p:spPr bwMode="auto">
            <a:xfrm>
              <a:off x="9606280" y="6357937"/>
              <a:ext cx="984250" cy="36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i="1">
                  <a:solidFill>
                    <a:srgbClr val="548DD4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-1&lt;K&lt;0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8" name="Text Box 148"/>
            <p:cNvSpPr txBox="1">
              <a:spLocks noChangeArrowheads="1"/>
            </p:cNvSpPr>
            <p:nvPr/>
          </p:nvSpPr>
          <p:spPr bwMode="auto">
            <a:xfrm>
              <a:off x="8790305" y="7319962"/>
              <a:ext cx="984250" cy="36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i="1">
                  <a:solidFill>
                    <a:srgbClr val="548DD4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K&lt;-1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9" name="AutoShape 149"/>
            <p:cNvSpPr>
              <a:spLocks noChangeArrowheads="1"/>
            </p:cNvSpPr>
            <p:nvPr/>
          </p:nvSpPr>
          <p:spPr bwMode="auto">
            <a:xfrm>
              <a:off x="9187815" y="3641407"/>
              <a:ext cx="965200" cy="790575"/>
            </a:xfrm>
            <a:prstGeom prst="rightArrow">
              <a:avLst>
                <a:gd name="adj1" fmla="val 50000"/>
                <a:gd name="adj2" fmla="val 30522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20" name="Text Box 150"/>
            <p:cNvSpPr txBox="1">
              <a:spLocks noChangeArrowheads="1"/>
            </p:cNvSpPr>
            <p:nvPr/>
          </p:nvSpPr>
          <p:spPr bwMode="auto">
            <a:xfrm>
              <a:off x="9304020" y="3876992"/>
              <a:ext cx="722630" cy="445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i="1">
                  <a:solidFill>
                    <a:srgbClr val="548DD4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X</a:t>
              </a:r>
              <a:r>
                <a:rPr lang="en-US" sz="1600" i="1" baseline="-25000">
                  <a:solidFill>
                    <a:srgbClr val="548DD4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r>
                <a:rPr lang="en-US" sz="1600" i="1">
                  <a:solidFill>
                    <a:srgbClr val="548DD4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&gt;X</a:t>
              </a:r>
              <a:r>
                <a:rPr lang="en-US" sz="1600" i="1" baseline="-25000">
                  <a:solidFill>
                    <a:srgbClr val="548DD4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21" name="AutoShape 153"/>
            <p:cNvSpPr>
              <a:spLocks noChangeArrowheads="1"/>
            </p:cNvSpPr>
            <p:nvPr/>
          </p:nvSpPr>
          <p:spPr bwMode="auto">
            <a:xfrm flipH="1">
              <a:off x="5712460" y="3641407"/>
              <a:ext cx="973455" cy="790575"/>
            </a:xfrm>
            <a:prstGeom prst="rightArrow">
              <a:avLst>
                <a:gd name="adj1" fmla="val 50000"/>
                <a:gd name="adj2" fmla="val 30783"/>
              </a:avLst>
            </a:prstGeom>
            <a:solidFill>
              <a:schemeClr val="bg1">
                <a:lumMod val="85000"/>
                <a:lumOff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222" name="Text Box 154"/>
            <p:cNvSpPr txBox="1">
              <a:spLocks noChangeArrowheads="1"/>
            </p:cNvSpPr>
            <p:nvPr/>
          </p:nvSpPr>
          <p:spPr bwMode="auto">
            <a:xfrm>
              <a:off x="5955665" y="3885247"/>
              <a:ext cx="730250" cy="4457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i="1">
                  <a:solidFill>
                    <a:srgbClr val="7F7F7F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X</a:t>
              </a:r>
              <a:r>
                <a:rPr lang="en-US" sz="1600" i="1" baseline="-25000">
                  <a:solidFill>
                    <a:srgbClr val="7F7F7F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r>
                <a:rPr lang="en-US" sz="1600" i="1">
                  <a:solidFill>
                    <a:srgbClr val="7F7F7F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&lt;X</a:t>
              </a:r>
              <a:r>
                <a:rPr lang="en-US" sz="1600" i="1" baseline="-25000">
                  <a:solidFill>
                    <a:srgbClr val="7F7F7F"/>
                  </a:solidFill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0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Rectangle 5"/>
          <p:cNvSpPr/>
          <p:nvPr/>
        </p:nvSpPr>
        <p:spPr>
          <a:xfrm>
            <a:off x="417830" y="3394094"/>
            <a:ext cx="473900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This removes both the left half-circle (where symmetry is achieved by changing the sign of X) and the lower hemisphere (where symmetry is achieved by changing the sign of Y), reducing the problem to a 90-degree sector where: </a:t>
            </a:r>
            <a:r>
              <a:rPr lang="ka-GE" dirty="0"/>
              <a:t>X</a:t>
            </a:r>
            <a:r>
              <a:rPr lang="ka-GE" baseline="-25000" dirty="0"/>
              <a:t>1</a:t>
            </a:r>
            <a:r>
              <a:rPr lang="ka-GE" dirty="0"/>
              <a:t>&gt;X</a:t>
            </a:r>
            <a:r>
              <a:rPr lang="ka-GE" baseline="-25000" dirty="0"/>
              <a:t>0 </a:t>
            </a:r>
            <a:r>
              <a:rPr lang="en-US" dirty="0"/>
              <a:t>and</a:t>
            </a:r>
            <a:r>
              <a:rPr lang="ka-GE" dirty="0"/>
              <a:t> Y</a:t>
            </a:r>
            <a:r>
              <a:rPr lang="ka-GE" baseline="-25000" dirty="0"/>
              <a:t>1</a:t>
            </a:r>
            <a:r>
              <a:rPr lang="ka-GE" dirty="0"/>
              <a:t>&gt;Y</a:t>
            </a:r>
            <a:r>
              <a:rPr lang="ka-GE" baseline="-25000" dirty="0"/>
              <a:t>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49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38"/>
          <p:cNvSpPr/>
          <p:nvPr/>
        </p:nvSpPr>
        <p:spPr>
          <a:xfrm>
            <a:off x="5616575" y="3348037"/>
            <a:ext cx="5553075" cy="5305425"/>
          </a:xfrm>
          <a:prstGeom prst="rect">
            <a:avLst/>
          </a:prstGeom>
          <a:noFill/>
        </p:spPr>
      </p:sp>
      <p:sp>
        <p:nvSpPr>
          <p:cNvPr id="34" name="Rectangle 33"/>
          <p:cNvSpPr/>
          <p:nvPr/>
        </p:nvSpPr>
        <p:spPr>
          <a:xfrm>
            <a:off x="1647032" y="599234"/>
            <a:ext cx="2193925" cy="72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ka-GE" i="1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ΔX = X</a:t>
            </a:r>
            <a:r>
              <a:rPr lang="ka-GE" i="1" baseline="-250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ka-GE" i="1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-X</a:t>
            </a:r>
            <a:r>
              <a:rPr lang="ka-GE" i="1" baseline="-250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ka-GE" i="1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</a:t>
            </a:r>
            <a:r>
              <a:rPr lang="en-US" i="1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 = Y</a:t>
            </a:r>
            <a:r>
              <a:rPr lang="en-US" i="1" baseline="-250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i="1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-Y</a:t>
            </a:r>
            <a:r>
              <a:rPr lang="en-US" i="1" baseline="-250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52586" y="1320932"/>
            <a:ext cx="45833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 equation of a straight line in a plane is:</a:t>
            </a:r>
          </a:p>
        </p:txBody>
      </p:sp>
      <p:sp>
        <p:nvSpPr>
          <p:cNvPr id="2" name="Rectangle 1"/>
          <p:cNvSpPr/>
          <p:nvPr/>
        </p:nvSpPr>
        <p:spPr>
          <a:xfrm>
            <a:off x="2612736" y="1918634"/>
            <a:ext cx="1228221" cy="410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i="1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 = </a:t>
            </a:r>
            <a:r>
              <a:rPr lang="en-US" i="1" dirty="0" err="1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KX+b</a:t>
            </a:r>
            <a:r>
              <a:rPr lang="en-US" i="1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,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52586" y="2482982"/>
            <a:ext cx="43781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Where </a:t>
            </a:r>
            <a:r>
              <a:rPr lang="en-US" b="1" dirty="0"/>
              <a:t>K</a:t>
            </a:r>
            <a:r>
              <a:rPr lang="en-US" dirty="0"/>
              <a:t> represents the slope of the line.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2407457" y="2852314"/>
                <a:ext cx="1073563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457" y="2852314"/>
                <a:ext cx="1073563" cy="6109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AutoShape 349"/>
          <p:cNvCxnSpPr>
            <a:cxnSpLocks noChangeShapeType="1"/>
          </p:cNvCxnSpPr>
          <p:nvPr/>
        </p:nvCxnSpPr>
        <p:spPr bwMode="auto">
          <a:xfrm>
            <a:off x="4857115" y="5824537"/>
            <a:ext cx="3867785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AutoShape 350"/>
          <p:cNvCxnSpPr>
            <a:cxnSpLocks noChangeShapeType="1"/>
          </p:cNvCxnSpPr>
          <p:nvPr/>
        </p:nvCxnSpPr>
        <p:spPr bwMode="auto">
          <a:xfrm flipV="1">
            <a:off x="5086350" y="3348037"/>
            <a:ext cx="0" cy="267589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AutoShape 351"/>
          <p:cNvCxnSpPr>
            <a:cxnSpLocks noChangeShapeType="1"/>
          </p:cNvCxnSpPr>
          <p:nvPr/>
        </p:nvCxnSpPr>
        <p:spPr bwMode="auto">
          <a:xfrm flipV="1">
            <a:off x="5362575" y="3976052"/>
            <a:ext cx="2127885" cy="1229360"/>
          </a:xfrm>
          <a:prstGeom prst="straightConnector1">
            <a:avLst/>
          </a:prstGeom>
          <a:noFill/>
          <a:ln w="28575">
            <a:solidFill>
              <a:srgbClr val="0070C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AutoShape 352"/>
          <p:cNvCxnSpPr>
            <a:cxnSpLocks noChangeShapeType="1"/>
          </p:cNvCxnSpPr>
          <p:nvPr/>
        </p:nvCxnSpPr>
        <p:spPr bwMode="auto">
          <a:xfrm>
            <a:off x="5086350" y="5205412"/>
            <a:ext cx="2405380" cy="635"/>
          </a:xfrm>
          <a:prstGeom prst="straightConnector1">
            <a:avLst/>
          </a:prstGeom>
          <a:noFill/>
          <a:ln w="3175">
            <a:solidFill>
              <a:schemeClr val="bg1">
                <a:lumMod val="50000"/>
                <a:lumOff val="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AutoShape 353"/>
          <p:cNvCxnSpPr>
            <a:cxnSpLocks noChangeShapeType="1"/>
          </p:cNvCxnSpPr>
          <p:nvPr/>
        </p:nvCxnSpPr>
        <p:spPr bwMode="auto">
          <a:xfrm>
            <a:off x="5086350" y="3976052"/>
            <a:ext cx="2405380" cy="635"/>
          </a:xfrm>
          <a:prstGeom prst="straightConnector1">
            <a:avLst/>
          </a:prstGeom>
          <a:noFill/>
          <a:ln w="3175">
            <a:solidFill>
              <a:schemeClr val="bg1">
                <a:lumMod val="50000"/>
                <a:lumOff val="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AutoShape 354"/>
          <p:cNvCxnSpPr>
            <a:cxnSpLocks noChangeShapeType="1"/>
          </p:cNvCxnSpPr>
          <p:nvPr/>
        </p:nvCxnSpPr>
        <p:spPr bwMode="auto">
          <a:xfrm>
            <a:off x="5362575" y="5206047"/>
            <a:ext cx="635" cy="618490"/>
          </a:xfrm>
          <a:prstGeom prst="straightConnector1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AutoShape 355"/>
          <p:cNvCxnSpPr>
            <a:cxnSpLocks noChangeShapeType="1"/>
          </p:cNvCxnSpPr>
          <p:nvPr/>
        </p:nvCxnSpPr>
        <p:spPr bwMode="auto">
          <a:xfrm>
            <a:off x="7490460" y="3976687"/>
            <a:ext cx="1270" cy="1847850"/>
          </a:xfrm>
          <a:prstGeom prst="straightConnector1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 Box 356"/>
              <p:cNvSpPr txBox="1">
                <a:spLocks noChangeArrowheads="1"/>
              </p:cNvSpPr>
              <p:nvPr/>
            </p:nvSpPr>
            <p:spPr bwMode="auto">
              <a:xfrm>
                <a:off x="4676140" y="4281487"/>
                <a:ext cx="514350" cy="4375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vert270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a-GE" sz="1800" i="1">
                          <a:solidFill>
                            <a:srgbClr val="365F9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𝛥</m:t>
                      </m:r>
                      <m:r>
                        <a:rPr lang="en-US" sz="1800" i="1">
                          <a:solidFill>
                            <a:srgbClr val="365F9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𝑌</m:t>
                      </m:r>
                    </m:oMath>
                  </m:oMathPara>
                </a14:m>
                <a:endPara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7" name="Text Box 3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6140" y="4281487"/>
                <a:ext cx="514350" cy="4375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 Box 357"/>
              <p:cNvSpPr txBox="1">
                <a:spLocks noChangeArrowheads="1"/>
              </p:cNvSpPr>
              <p:nvPr/>
            </p:nvSpPr>
            <p:spPr bwMode="auto">
              <a:xfrm>
                <a:off x="6210300" y="5824537"/>
                <a:ext cx="495300" cy="3708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ka-GE" sz="1800" i="1">
                        <a:solidFill>
                          <a:srgbClr val="365F91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𝛥</m:t>
                    </m:r>
                  </m:oMath>
                </a14:m>
                <a:r>
                  <a:rPr lang="en-US" sz="1800" i="1">
                    <a:solidFill>
                      <a:srgbClr val="365F9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8" name="Text Box 3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10300" y="5824537"/>
                <a:ext cx="495300" cy="370840"/>
              </a:xfrm>
              <a:prstGeom prst="rect">
                <a:avLst/>
              </a:prstGeom>
              <a:blipFill>
                <a:blip r:embed="rId4"/>
                <a:stretch>
                  <a:fillRect t="-3279" r="-3704" b="-295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 Box 358"/>
          <p:cNvSpPr txBox="1">
            <a:spLocks noChangeArrowheads="1"/>
          </p:cNvSpPr>
          <p:nvPr/>
        </p:nvSpPr>
        <p:spPr bwMode="auto">
          <a:xfrm>
            <a:off x="8505825" y="5824537"/>
            <a:ext cx="496570" cy="437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i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0" name="Text Box 359"/>
          <p:cNvSpPr txBox="1">
            <a:spLocks noChangeArrowheads="1"/>
          </p:cNvSpPr>
          <p:nvPr/>
        </p:nvSpPr>
        <p:spPr bwMode="auto">
          <a:xfrm>
            <a:off x="4704715" y="3348037"/>
            <a:ext cx="495935" cy="437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 i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1" name="AutoShape 360"/>
          <p:cNvCxnSpPr>
            <a:cxnSpLocks noChangeShapeType="1"/>
          </p:cNvCxnSpPr>
          <p:nvPr/>
        </p:nvCxnSpPr>
        <p:spPr bwMode="auto">
          <a:xfrm>
            <a:off x="5086350" y="3976687"/>
            <a:ext cx="0" cy="1229360"/>
          </a:xfrm>
          <a:prstGeom prst="straightConnector1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AutoShape 361"/>
          <p:cNvCxnSpPr>
            <a:cxnSpLocks noChangeShapeType="1"/>
          </p:cNvCxnSpPr>
          <p:nvPr/>
        </p:nvCxnSpPr>
        <p:spPr bwMode="auto">
          <a:xfrm>
            <a:off x="5363210" y="5824537"/>
            <a:ext cx="2128520" cy="0"/>
          </a:xfrm>
          <a:prstGeom prst="straightConnector1">
            <a:avLst/>
          </a:prstGeom>
          <a:noFill/>
          <a:ln w="28575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" name="Arc 362"/>
          <p:cNvSpPr>
            <a:spLocks/>
          </p:cNvSpPr>
          <p:nvPr/>
        </p:nvSpPr>
        <p:spPr bwMode="auto">
          <a:xfrm>
            <a:off x="5362575" y="5000307"/>
            <a:ext cx="381000" cy="205105"/>
          </a:xfrm>
          <a:custGeom>
            <a:avLst/>
            <a:gdLst>
              <a:gd name="G0" fmla="+- 0 0 0"/>
              <a:gd name="G1" fmla="+- 10570 0 0"/>
              <a:gd name="G2" fmla="+- 21600 0 0"/>
              <a:gd name="T0" fmla="*/ 18837 w 21600"/>
              <a:gd name="T1" fmla="*/ 0 h 10570"/>
              <a:gd name="T2" fmla="*/ 21600 w 21600"/>
              <a:gd name="T3" fmla="*/ 10570 h 10570"/>
              <a:gd name="T4" fmla="*/ 0 w 21600"/>
              <a:gd name="T5" fmla="*/ 10570 h 105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10570" fill="none" extrusionOk="0">
                <a:moveTo>
                  <a:pt x="18837" y="-1"/>
                </a:moveTo>
                <a:cubicBezTo>
                  <a:pt x="20648" y="3228"/>
                  <a:pt x="21600" y="6868"/>
                  <a:pt x="21600" y="10570"/>
                </a:cubicBezTo>
              </a:path>
              <a:path w="21600" h="10570" stroke="0" extrusionOk="0">
                <a:moveTo>
                  <a:pt x="18837" y="-1"/>
                </a:moveTo>
                <a:cubicBezTo>
                  <a:pt x="20648" y="3228"/>
                  <a:pt x="21600" y="6868"/>
                  <a:pt x="21600" y="10570"/>
                </a:cubicBezTo>
                <a:lnTo>
                  <a:pt x="0" y="10570"/>
                </a:lnTo>
                <a:close/>
              </a:path>
            </a:pathLst>
          </a:cu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 Box 363"/>
              <p:cNvSpPr txBox="1">
                <a:spLocks noChangeArrowheads="1"/>
              </p:cNvSpPr>
              <p:nvPr/>
            </p:nvSpPr>
            <p:spPr bwMode="auto">
              <a:xfrm>
                <a:off x="7691755" y="4400232"/>
                <a:ext cx="1490345" cy="7327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rgbClr val="548DD4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sz="1600" i="1">
                          <a:solidFill>
                            <a:srgbClr val="548DD4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i="1">
                              <a:solidFill>
                                <a:srgbClr val="548DD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rgbClr val="548DD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𝛥</m:t>
                          </m:r>
                          <m:r>
                            <a:rPr lang="en-US" sz="1600" i="1">
                              <a:solidFill>
                                <a:srgbClr val="548DD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rgbClr val="548DD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𝛥</m:t>
                          </m:r>
                          <m:r>
                            <a:rPr lang="en-US" sz="1600" i="1">
                              <a:solidFill>
                                <a:srgbClr val="548DD4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den>
                      </m:f>
                    </m:oMath>
                  </m:oMathPara>
                </a14:m>
                <a:endPara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4" name="Text Box 3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91755" y="4400232"/>
                <a:ext cx="1490345" cy="7327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 Box 364"/>
          <p:cNvSpPr txBox="1">
            <a:spLocks noChangeArrowheads="1"/>
          </p:cNvSpPr>
          <p:nvPr/>
        </p:nvSpPr>
        <p:spPr bwMode="auto">
          <a:xfrm>
            <a:off x="5226050" y="5804217"/>
            <a:ext cx="371475" cy="30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400" i="1">
                <a:solidFill>
                  <a:srgbClr val="365F9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400" i="1" baseline="-25000">
                <a:solidFill>
                  <a:srgbClr val="365F9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6" name="Text Box 365"/>
          <p:cNvSpPr txBox="1">
            <a:spLocks noChangeArrowheads="1"/>
          </p:cNvSpPr>
          <p:nvPr/>
        </p:nvSpPr>
        <p:spPr bwMode="auto">
          <a:xfrm>
            <a:off x="7326630" y="5805487"/>
            <a:ext cx="495300" cy="370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400" i="1">
                <a:solidFill>
                  <a:srgbClr val="365F9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400" i="1" baseline="-25000">
                <a:solidFill>
                  <a:srgbClr val="365F9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57" name="Text Box 366"/>
          <p:cNvSpPr txBox="1">
            <a:spLocks noChangeArrowheads="1"/>
          </p:cNvSpPr>
          <p:nvPr/>
        </p:nvSpPr>
        <p:spPr bwMode="auto">
          <a:xfrm>
            <a:off x="4780915" y="5000307"/>
            <a:ext cx="371475" cy="30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400" i="1">
                <a:solidFill>
                  <a:srgbClr val="365F9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400" i="1" baseline="-25000">
                <a:solidFill>
                  <a:srgbClr val="365F9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8" name="Text Box 367"/>
          <p:cNvSpPr txBox="1">
            <a:spLocks noChangeArrowheads="1"/>
          </p:cNvSpPr>
          <p:nvPr/>
        </p:nvSpPr>
        <p:spPr bwMode="auto">
          <a:xfrm>
            <a:off x="4788535" y="3785552"/>
            <a:ext cx="371475" cy="309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400" i="1">
                <a:solidFill>
                  <a:srgbClr val="365F9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400" i="1" baseline="-25000">
                <a:solidFill>
                  <a:srgbClr val="365F9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 Box 368"/>
          <p:cNvSpPr txBox="1">
            <a:spLocks noChangeArrowheads="1"/>
          </p:cNvSpPr>
          <p:nvPr/>
        </p:nvSpPr>
        <p:spPr bwMode="auto">
          <a:xfrm>
            <a:off x="7691755" y="3628072"/>
            <a:ext cx="184658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000" i="1">
                <a:solidFill>
                  <a:srgbClr val="548DD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 = </a:t>
            </a:r>
            <a:r>
              <a:rPr lang="en-US" sz="1600" i="1">
                <a:solidFill>
                  <a:srgbClr val="548DD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2000" i="1">
                <a:solidFill>
                  <a:srgbClr val="548DD4"/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 </a:t>
            </a:r>
            <a:r>
              <a:rPr lang="en-US" sz="2000" i="1">
                <a:solidFill>
                  <a:srgbClr val="548DD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 b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19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633536" y="561477"/>
            <a:ext cx="812946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But even here, we can limit ourselves to just the lower zone (red segment) because the sector above it can be projected onto it by swapping the </a:t>
            </a:r>
            <a:r>
              <a:rPr lang="en-US" b="1" dirty="0"/>
              <a:t>X</a:t>
            </a:r>
            <a:r>
              <a:rPr lang="en-US" dirty="0"/>
              <a:t> and </a:t>
            </a:r>
            <a:r>
              <a:rPr lang="en-US" b="1" dirty="0"/>
              <a:t>Y</a:t>
            </a:r>
            <a:r>
              <a:rPr lang="en-US" dirty="0"/>
              <a:t> coordinates.</a:t>
            </a:r>
          </a:p>
        </p:txBody>
      </p:sp>
      <p:sp>
        <p:nvSpPr>
          <p:cNvPr id="29" name="Arc 137"/>
          <p:cNvSpPr>
            <a:spLocks/>
          </p:cNvSpPr>
          <p:nvPr/>
        </p:nvSpPr>
        <p:spPr bwMode="auto">
          <a:xfrm>
            <a:off x="7481887" y="2822893"/>
            <a:ext cx="1836420" cy="1833880"/>
          </a:xfrm>
          <a:custGeom>
            <a:avLst/>
            <a:gdLst>
              <a:gd name="T0" fmla="*/ 1288045 w 21600"/>
              <a:gd name="T1" fmla="*/ 0 h 21600"/>
              <a:gd name="T2" fmla="*/ 1836420 w 21600"/>
              <a:gd name="T3" fmla="*/ 1308735 h 21600"/>
              <a:gd name="T4" fmla="*/ 0 w 21600"/>
              <a:gd name="T5" fmla="*/ 130873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15150" y="-1"/>
                </a:moveTo>
                <a:cubicBezTo>
                  <a:pt x="19276" y="4060"/>
                  <a:pt x="21600" y="9607"/>
                  <a:pt x="21600" y="15396"/>
                </a:cubicBezTo>
              </a:path>
              <a:path w="21600" h="21600" stroke="0" extrusionOk="0">
                <a:moveTo>
                  <a:pt x="15150" y="-1"/>
                </a:moveTo>
                <a:cubicBezTo>
                  <a:pt x="19276" y="4060"/>
                  <a:pt x="21600" y="9607"/>
                  <a:pt x="21600" y="15396"/>
                </a:cubicBezTo>
                <a:lnTo>
                  <a:pt x="0" y="15396"/>
                </a:lnTo>
                <a:lnTo>
                  <a:pt x="15150" y="-1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76200">
            <a:solidFill>
              <a:srgbClr val="C00000"/>
            </a:solidFill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30" name="Arc 138"/>
          <p:cNvSpPr>
            <a:spLocks/>
          </p:cNvSpPr>
          <p:nvPr/>
        </p:nvSpPr>
        <p:spPr bwMode="auto">
          <a:xfrm flipV="1">
            <a:off x="7482522" y="3614103"/>
            <a:ext cx="1836420" cy="1821815"/>
          </a:xfrm>
          <a:custGeom>
            <a:avLst/>
            <a:gdLst>
              <a:gd name="T0" fmla="*/ 1288045 w 21600"/>
              <a:gd name="T1" fmla="*/ 0 h 21600"/>
              <a:gd name="T2" fmla="*/ 1836420 w 21600"/>
              <a:gd name="T3" fmla="*/ 1308735 h 21600"/>
              <a:gd name="T4" fmla="*/ 0 w 21600"/>
              <a:gd name="T5" fmla="*/ 130873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15150" y="-1"/>
                </a:moveTo>
                <a:cubicBezTo>
                  <a:pt x="19276" y="4060"/>
                  <a:pt x="21600" y="9607"/>
                  <a:pt x="21600" y="15396"/>
                </a:cubicBezTo>
              </a:path>
              <a:path w="21600" h="21600" stroke="0" extrusionOk="0">
                <a:moveTo>
                  <a:pt x="15150" y="-1"/>
                </a:moveTo>
                <a:cubicBezTo>
                  <a:pt x="19276" y="4060"/>
                  <a:pt x="21600" y="9607"/>
                  <a:pt x="21600" y="15396"/>
                </a:cubicBezTo>
                <a:lnTo>
                  <a:pt x="0" y="15396"/>
                </a:lnTo>
                <a:lnTo>
                  <a:pt x="15150" y="-1"/>
                </a:lnTo>
                <a:close/>
              </a:path>
            </a:pathLst>
          </a:custGeom>
          <a:noFill/>
          <a:ln w="76200">
            <a:solidFill>
              <a:schemeClr val="tx2">
                <a:lumMod val="40000"/>
                <a:lumOff val="6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31" name="Arc 139"/>
          <p:cNvSpPr>
            <a:spLocks/>
          </p:cNvSpPr>
          <p:nvPr/>
        </p:nvSpPr>
        <p:spPr bwMode="auto">
          <a:xfrm flipH="1">
            <a:off x="5614352" y="2833053"/>
            <a:ext cx="1836420" cy="1823720"/>
          </a:xfrm>
          <a:custGeom>
            <a:avLst/>
            <a:gdLst>
              <a:gd name="T0" fmla="*/ 1288045 w 21600"/>
              <a:gd name="T1" fmla="*/ 0 h 21600"/>
              <a:gd name="T2" fmla="*/ 1836420 w 21600"/>
              <a:gd name="T3" fmla="*/ 1309370 h 21600"/>
              <a:gd name="T4" fmla="*/ 0 w 21600"/>
              <a:gd name="T5" fmla="*/ 130937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15150" y="-1"/>
                </a:moveTo>
                <a:cubicBezTo>
                  <a:pt x="19276" y="4060"/>
                  <a:pt x="21600" y="9607"/>
                  <a:pt x="21600" y="15396"/>
                </a:cubicBezTo>
              </a:path>
              <a:path w="21600" h="21600" stroke="0" extrusionOk="0">
                <a:moveTo>
                  <a:pt x="15150" y="-1"/>
                </a:moveTo>
                <a:cubicBezTo>
                  <a:pt x="19276" y="4060"/>
                  <a:pt x="21600" y="9607"/>
                  <a:pt x="21600" y="15396"/>
                </a:cubicBezTo>
                <a:lnTo>
                  <a:pt x="0" y="15396"/>
                </a:lnTo>
                <a:lnTo>
                  <a:pt x="15150" y="-1"/>
                </a:lnTo>
                <a:close/>
              </a:path>
            </a:pathLst>
          </a:custGeom>
          <a:noFill/>
          <a:ln w="76200">
            <a:solidFill>
              <a:schemeClr val="bg1">
                <a:lumMod val="65000"/>
                <a:lumOff val="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  <a:lumOff val="0"/>
                  </a:schemeClr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32" name="Arc 140"/>
          <p:cNvSpPr>
            <a:spLocks/>
          </p:cNvSpPr>
          <p:nvPr/>
        </p:nvSpPr>
        <p:spPr bwMode="auto">
          <a:xfrm flipH="1" flipV="1">
            <a:off x="5609907" y="3614103"/>
            <a:ext cx="1836420" cy="1811020"/>
          </a:xfrm>
          <a:custGeom>
            <a:avLst/>
            <a:gdLst>
              <a:gd name="T0" fmla="*/ 1288045 w 21600"/>
              <a:gd name="T1" fmla="*/ 0 h 21600"/>
              <a:gd name="T2" fmla="*/ 1836420 w 21600"/>
              <a:gd name="T3" fmla="*/ 1308735 h 21600"/>
              <a:gd name="T4" fmla="*/ 0 w 21600"/>
              <a:gd name="T5" fmla="*/ 130873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15150" y="-1"/>
                </a:moveTo>
                <a:cubicBezTo>
                  <a:pt x="19276" y="4060"/>
                  <a:pt x="21600" y="9607"/>
                  <a:pt x="21600" y="15396"/>
                </a:cubicBezTo>
              </a:path>
              <a:path w="21600" h="21600" stroke="0" extrusionOk="0">
                <a:moveTo>
                  <a:pt x="15150" y="-1"/>
                </a:moveTo>
                <a:cubicBezTo>
                  <a:pt x="19276" y="4060"/>
                  <a:pt x="21600" y="9607"/>
                  <a:pt x="21600" y="15396"/>
                </a:cubicBezTo>
                <a:lnTo>
                  <a:pt x="0" y="15396"/>
                </a:lnTo>
                <a:lnTo>
                  <a:pt x="15150" y="-1"/>
                </a:lnTo>
                <a:close/>
              </a:path>
            </a:pathLst>
          </a:custGeom>
          <a:noFill/>
          <a:ln w="76200">
            <a:solidFill>
              <a:schemeClr val="bg1">
                <a:lumMod val="75000"/>
                <a:lumOff val="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  <a:lumOff val="0"/>
                  </a:schemeClr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33" name="Arc 141"/>
          <p:cNvSpPr>
            <a:spLocks/>
          </p:cNvSpPr>
          <p:nvPr/>
        </p:nvSpPr>
        <p:spPr bwMode="auto">
          <a:xfrm rot="16200000">
            <a:off x="6149022" y="2286953"/>
            <a:ext cx="1836420" cy="1830070"/>
          </a:xfrm>
          <a:custGeom>
            <a:avLst/>
            <a:gdLst>
              <a:gd name="T0" fmla="*/ 1288045 w 21600"/>
              <a:gd name="T1" fmla="*/ 0 h 21600"/>
              <a:gd name="T2" fmla="*/ 1836420 w 21600"/>
              <a:gd name="T3" fmla="*/ 1308735 h 21600"/>
              <a:gd name="T4" fmla="*/ 0 w 21600"/>
              <a:gd name="T5" fmla="*/ 130873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15150" y="-1"/>
                </a:moveTo>
                <a:cubicBezTo>
                  <a:pt x="19276" y="4060"/>
                  <a:pt x="21600" y="9607"/>
                  <a:pt x="21600" y="15396"/>
                </a:cubicBezTo>
              </a:path>
              <a:path w="21600" h="21600" stroke="0" extrusionOk="0">
                <a:moveTo>
                  <a:pt x="15150" y="-1"/>
                </a:moveTo>
                <a:cubicBezTo>
                  <a:pt x="19276" y="4060"/>
                  <a:pt x="21600" y="9607"/>
                  <a:pt x="21600" y="15396"/>
                </a:cubicBezTo>
                <a:lnTo>
                  <a:pt x="0" y="15396"/>
                </a:lnTo>
                <a:lnTo>
                  <a:pt x="15150" y="-1"/>
                </a:lnTo>
                <a:close/>
              </a:path>
            </a:pathLst>
          </a:custGeom>
          <a:noFill/>
          <a:ln w="76200">
            <a:solidFill>
              <a:schemeClr val="bg1">
                <a:lumMod val="75000"/>
                <a:lumOff val="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  <a:lumOff val="0"/>
                  </a:schemeClr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36" name="Arc 142"/>
          <p:cNvSpPr>
            <a:spLocks/>
          </p:cNvSpPr>
          <p:nvPr/>
        </p:nvSpPr>
        <p:spPr bwMode="auto">
          <a:xfrm rot="16200000" flipV="1">
            <a:off x="6934517" y="2275523"/>
            <a:ext cx="1836420" cy="1855470"/>
          </a:xfrm>
          <a:custGeom>
            <a:avLst/>
            <a:gdLst>
              <a:gd name="T0" fmla="*/ 1288045 w 21600"/>
              <a:gd name="T1" fmla="*/ 0 h 21600"/>
              <a:gd name="T2" fmla="*/ 1836420 w 21600"/>
              <a:gd name="T3" fmla="*/ 1309370 h 21600"/>
              <a:gd name="T4" fmla="*/ 0 w 21600"/>
              <a:gd name="T5" fmla="*/ 130937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15150" y="-1"/>
                </a:moveTo>
                <a:cubicBezTo>
                  <a:pt x="19276" y="4060"/>
                  <a:pt x="21600" y="9607"/>
                  <a:pt x="21600" y="15396"/>
                </a:cubicBezTo>
              </a:path>
              <a:path w="21600" h="21600" stroke="0" extrusionOk="0">
                <a:moveTo>
                  <a:pt x="15150" y="-1"/>
                </a:moveTo>
                <a:cubicBezTo>
                  <a:pt x="19276" y="4060"/>
                  <a:pt x="21600" y="9607"/>
                  <a:pt x="21600" y="15396"/>
                </a:cubicBezTo>
                <a:lnTo>
                  <a:pt x="0" y="15396"/>
                </a:lnTo>
                <a:lnTo>
                  <a:pt x="15150" y="-1"/>
                </a:lnTo>
                <a:close/>
              </a:path>
            </a:pathLst>
          </a:custGeom>
          <a:noFill/>
          <a:ln w="76200">
            <a:solidFill>
              <a:schemeClr val="tx2">
                <a:lumMod val="40000"/>
                <a:lumOff val="6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38" name="Arc 143"/>
          <p:cNvSpPr>
            <a:spLocks/>
          </p:cNvSpPr>
          <p:nvPr/>
        </p:nvSpPr>
        <p:spPr bwMode="auto">
          <a:xfrm rot="5400000" flipV="1">
            <a:off x="6167754" y="4115436"/>
            <a:ext cx="1837055" cy="1869440"/>
          </a:xfrm>
          <a:custGeom>
            <a:avLst/>
            <a:gdLst>
              <a:gd name="T0" fmla="*/ 1288045 w 21600"/>
              <a:gd name="T1" fmla="*/ 0 h 21600"/>
              <a:gd name="T2" fmla="*/ 1836420 w 21600"/>
              <a:gd name="T3" fmla="*/ 1308735 h 21600"/>
              <a:gd name="T4" fmla="*/ 0 w 21600"/>
              <a:gd name="T5" fmla="*/ 1308735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15150" y="-1"/>
                </a:moveTo>
                <a:cubicBezTo>
                  <a:pt x="19276" y="4060"/>
                  <a:pt x="21600" y="9607"/>
                  <a:pt x="21600" y="15396"/>
                </a:cubicBezTo>
              </a:path>
              <a:path w="21600" h="21600" stroke="0" extrusionOk="0">
                <a:moveTo>
                  <a:pt x="15150" y="-1"/>
                </a:moveTo>
                <a:cubicBezTo>
                  <a:pt x="19276" y="4060"/>
                  <a:pt x="21600" y="9607"/>
                  <a:pt x="21600" y="15396"/>
                </a:cubicBezTo>
                <a:lnTo>
                  <a:pt x="0" y="15396"/>
                </a:lnTo>
                <a:lnTo>
                  <a:pt x="15150" y="-1"/>
                </a:lnTo>
                <a:close/>
              </a:path>
            </a:pathLst>
          </a:custGeom>
          <a:noFill/>
          <a:ln w="76200">
            <a:solidFill>
              <a:schemeClr val="bg1">
                <a:lumMod val="65000"/>
                <a:lumOff val="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lumMod val="90000"/>
                    <a:lumOff val="0"/>
                  </a:schemeClr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39" name="Arc 144"/>
          <p:cNvSpPr>
            <a:spLocks/>
          </p:cNvSpPr>
          <p:nvPr/>
        </p:nvSpPr>
        <p:spPr bwMode="auto">
          <a:xfrm rot="5400000">
            <a:off x="6951345" y="4144010"/>
            <a:ext cx="1836420" cy="1821815"/>
          </a:xfrm>
          <a:custGeom>
            <a:avLst/>
            <a:gdLst>
              <a:gd name="T0" fmla="*/ 1288045 w 21600"/>
              <a:gd name="T1" fmla="*/ 0 h 21600"/>
              <a:gd name="T2" fmla="*/ 1836420 w 21600"/>
              <a:gd name="T3" fmla="*/ 1309370 h 21600"/>
              <a:gd name="T4" fmla="*/ 0 w 21600"/>
              <a:gd name="T5" fmla="*/ 1309370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15150" y="-1"/>
                </a:moveTo>
                <a:cubicBezTo>
                  <a:pt x="19276" y="4060"/>
                  <a:pt x="21600" y="9607"/>
                  <a:pt x="21600" y="15396"/>
                </a:cubicBezTo>
              </a:path>
              <a:path w="21600" h="21600" stroke="0" extrusionOk="0">
                <a:moveTo>
                  <a:pt x="15150" y="-1"/>
                </a:moveTo>
                <a:cubicBezTo>
                  <a:pt x="19276" y="4060"/>
                  <a:pt x="21600" y="9607"/>
                  <a:pt x="21600" y="15396"/>
                </a:cubicBezTo>
                <a:lnTo>
                  <a:pt x="0" y="15396"/>
                </a:lnTo>
                <a:lnTo>
                  <a:pt x="15150" y="-1"/>
                </a:lnTo>
                <a:close/>
              </a:path>
            </a:pathLst>
          </a:custGeom>
          <a:noFill/>
          <a:ln w="76200">
            <a:solidFill>
              <a:schemeClr val="tx2">
                <a:lumMod val="40000"/>
                <a:lumOff val="6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cxnSp>
        <p:nvCxnSpPr>
          <p:cNvPr id="60" name="AutoShape 85"/>
          <p:cNvCxnSpPr>
            <a:cxnSpLocks noChangeShapeType="1"/>
          </p:cNvCxnSpPr>
          <p:nvPr/>
        </p:nvCxnSpPr>
        <p:spPr bwMode="auto">
          <a:xfrm>
            <a:off x="5380672" y="4132263"/>
            <a:ext cx="4407535" cy="63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" name="AutoShape 86"/>
          <p:cNvCxnSpPr>
            <a:cxnSpLocks noChangeShapeType="1"/>
          </p:cNvCxnSpPr>
          <p:nvPr/>
        </p:nvCxnSpPr>
        <p:spPr bwMode="auto">
          <a:xfrm flipH="1" flipV="1">
            <a:off x="7462837" y="1902778"/>
            <a:ext cx="25400" cy="426466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2" name="AutoShape 87"/>
          <p:cNvCxnSpPr>
            <a:cxnSpLocks noChangeShapeType="1"/>
          </p:cNvCxnSpPr>
          <p:nvPr/>
        </p:nvCxnSpPr>
        <p:spPr bwMode="auto">
          <a:xfrm flipV="1">
            <a:off x="6134417" y="2833053"/>
            <a:ext cx="2684145" cy="2587625"/>
          </a:xfrm>
          <a:prstGeom prst="straightConnector1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" name="AutoShape 88"/>
          <p:cNvCxnSpPr>
            <a:cxnSpLocks noChangeShapeType="1"/>
          </p:cNvCxnSpPr>
          <p:nvPr/>
        </p:nvCxnSpPr>
        <p:spPr bwMode="auto">
          <a:xfrm flipH="1" flipV="1">
            <a:off x="6134417" y="2833053"/>
            <a:ext cx="2684145" cy="2587625"/>
          </a:xfrm>
          <a:prstGeom prst="straightConnector1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AutoShape 89"/>
          <p:cNvCxnSpPr>
            <a:cxnSpLocks noChangeShapeType="1"/>
          </p:cNvCxnSpPr>
          <p:nvPr/>
        </p:nvCxnSpPr>
        <p:spPr bwMode="auto">
          <a:xfrm flipV="1">
            <a:off x="7471092" y="3720148"/>
            <a:ext cx="1365885" cy="414655"/>
          </a:xfrm>
          <a:prstGeom prst="straightConnector1">
            <a:avLst/>
          </a:prstGeom>
          <a:noFill/>
          <a:ln w="28575">
            <a:solidFill>
              <a:srgbClr val="C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AutoShape 90"/>
          <p:cNvCxnSpPr>
            <a:cxnSpLocks noChangeShapeType="1"/>
          </p:cNvCxnSpPr>
          <p:nvPr/>
        </p:nvCxnSpPr>
        <p:spPr bwMode="auto">
          <a:xfrm flipV="1">
            <a:off x="7471092" y="2780983"/>
            <a:ext cx="457835" cy="1348105"/>
          </a:xfrm>
          <a:prstGeom prst="straightConnector1">
            <a:avLst/>
          </a:prstGeom>
          <a:noFill/>
          <a:ln w="12700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AutoShape 92"/>
          <p:cNvCxnSpPr>
            <a:cxnSpLocks noChangeShapeType="1"/>
          </p:cNvCxnSpPr>
          <p:nvPr/>
        </p:nvCxnSpPr>
        <p:spPr bwMode="auto">
          <a:xfrm>
            <a:off x="7479347" y="4137343"/>
            <a:ext cx="408940" cy="1288415"/>
          </a:xfrm>
          <a:prstGeom prst="straightConnector1">
            <a:avLst/>
          </a:prstGeom>
          <a:noFill/>
          <a:ln w="12700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" name="AutoShape 93"/>
          <p:cNvCxnSpPr>
            <a:cxnSpLocks noChangeShapeType="1"/>
          </p:cNvCxnSpPr>
          <p:nvPr/>
        </p:nvCxnSpPr>
        <p:spPr bwMode="auto">
          <a:xfrm>
            <a:off x="7474267" y="4137343"/>
            <a:ext cx="1316355" cy="379730"/>
          </a:xfrm>
          <a:prstGeom prst="straightConnector1">
            <a:avLst/>
          </a:prstGeom>
          <a:noFill/>
          <a:ln w="12700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" name="AutoShape 101"/>
          <p:cNvCxnSpPr>
            <a:cxnSpLocks noChangeShapeType="1"/>
          </p:cNvCxnSpPr>
          <p:nvPr/>
        </p:nvCxnSpPr>
        <p:spPr bwMode="auto">
          <a:xfrm flipH="1" flipV="1">
            <a:off x="6071552" y="3668078"/>
            <a:ext cx="1397635" cy="469265"/>
          </a:xfrm>
          <a:prstGeom prst="straightConnector1">
            <a:avLst/>
          </a:prstGeom>
          <a:noFill/>
          <a:ln w="12700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" name="AutoShape 102"/>
          <p:cNvCxnSpPr>
            <a:cxnSpLocks noChangeShapeType="1"/>
          </p:cNvCxnSpPr>
          <p:nvPr/>
        </p:nvCxnSpPr>
        <p:spPr bwMode="auto">
          <a:xfrm flipH="1" flipV="1">
            <a:off x="7001827" y="2821623"/>
            <a:ext cx="472440" cy="1310640"/>
          </a:xfrm>
          <a:prstGeom prst="straightConnector1">
            <a:avLst/>
          </a:prstGeom>
          <a:noFill/>
          <a:ln w="12700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" name="AutoShape 104"/>
          <p:cNvCxnSpPr>
            <a:cxnSpLocks noChangeShapeType="1"/>
          </p:cNvCxnSpPr>
          <p:nvPr/>
        </p:nvCxnSpPr>
        <p:spPr bwMode="auto">
          <a:xfrm flipH="1">
            <a:off x="6089332" y="4132263"/>
            <a:ext cx="1379855" cy="379730"/>
          </a:xfrm>
          <a:prstGeom prst="straightConnector1">
            <a:avLst/>
          </a:prstGeom>
          <a:noFill/>
          <a:ln w="12700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" name="Text Box 105"/>
          <p:cNvSpPr txBox="1">
            <a:spLocks noChangeArrowheads="1"/>
          </p:cNvSpPr>
          <p:nvPr/>
        </p:nvSpPr>
        <p:spPr bwMode="auto">
          <a:xfrm>
            <a:off x="9468802" y="4073208"/>
            <a:ext cx="319405" cy="319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400" b="1">
                <a:effectLst/>
                <a:latin typeface="Sylfaen" panose="010A050205030603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2" name="Text Box 106"/>
          <p:cNvSpPr txBox="1">
            <a:spLocks noChangeArrowheads="1"/>
          </p:cNvSpPr>
          <p:nvPr/>
        </p:nvSpPr>
        <p:spPr bwMode="auto">
          <a:xfrm>
            <a:off x="7438072" y="1852613"/>
            <a:ext cx="31877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400" b="1">
                <a:effectLst/>
                <a:latin typeface="Sylfaen" panose="010A050205030603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3" name="Text Box 107"/>
          <p:cNvSpPr txBox="1">
            <a:spLocks noChangeArrowheads="1"/>
          </p:cNvSpPr>
          <p:nvPr/>
        </p:nvSpPr>
        <p:spPr bwMode="auto">
          <a:xfrm>
            <a:off x="8219757" y="3509328"/>
            <a:ext cx="482600" cy="32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400" b="1">
                <a:solidFill>
                  <a:srgbClr val="C00000"/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X,Y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4" name="Text Box 108"/>
          <p:cNvSpPr txBox="1">
            <a:spLocks noChangeArrowheads="1"/>
          </p:cNvSpPr>
          <p:nvPr/>
        </p:nvSpPr>
        <p:spPr bwMode="auto">
          <a:xfrm>
            <a:off x="7823517" y="2879408"/>
            <a:ext cx="483235" cy="319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400" b="1">
                <a:solidFill>
                  <a:srgbClr val="0070C0"/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Y,X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5" name="Text Box 109"/>
          <p:cNvSpPr txBox="1">
            <a:spLocks noChangeArrowheads="1"/>
          </p:cNvSpPr>
          <p:nvPr/>
        </p:nvSpPr>
        <p:spPr bwMode="auto">
          <a:xfrm>
            <a:off x="8218487" y="4456113"/>
            <a:ext cx="561975" cy="319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400" b="1">
                <a:solidFill>
                  <a:srgbClr val="0070C0"/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X,-Y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6" name="Text Box 110"/>
          <p:cNvSpPr txBox="1">
            <a:spLocks noChangeArrowheads="1"/>
          </p:cNvSpPr>
          <p:nvPr/>
        </p:nvSpPr>
        <p:spPr bwMode="auto">
          <a:xfrm>
            <a:off x="7892097" y="5091113"/>
            <a:ext cx="648970" cy="319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400" b="1">
                <a:solidFill>
                  <a:srgbClr val="0070C0"/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Y,-X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7" name="Text Box 112"/>
          <p:cNvSpPr txBox="1">
            <a:spLocks noChangeArrowheads="1"/>
          </p:cNvSpPr>
          <p:nvPr/>
        </p:nvSpPr>
        <p:spPr bwMode="auto">
          <a:xfrm>
            <a:off x="6593522" y="2890203"/>
            <a:ext cx="683895" cy="319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400" b="1">
                <a:solidFill>
                  <a:srgbClr val="0070C0"/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-Y,X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8" name="Text Box 113"/>
          <p:cNvSpPr txBox="1">
            <a:spLocks noChangeArrowheads="1"/>
          </p:cNvSpPr>
          <p:nvPr/>
        </p:nvSpPr>
        <p:spPr bwMode="auto">
          <a:xfrm>
            <a:off x="6122352" y="3492818"/>
            <a:ext cx="739775" cy="319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400" b="1">
                <a:solidFill>
                  <a:srgbClr val="0070C0"/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-X,Y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9" name="Text Box 114"/>
          <p:cNvSpPr txBox="1">
            <a:spLocks noChangeArrowheads="1"/>
          </p:cNvSpPr>
          <p:nvPr/>
        </p:nvSpPr>
        <p:spPr bwMode="auto">
          <a:xfrm>
            <a:off x="6061392" y="4552633"/>
            <a:ext cx="617220" cy="319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400" b="1">
                <a:solidFill>
                  <a:srgbClr val="0070C0"/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-X,-Y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0" name="Text Box 115"/>
          <p:cNvSpPr txBox="1">
            <a:spLocks noChangeArrowheads="1"/>
          </p:cNvSpPr>
          <p:nvPr/>
        </p:nvSpPr>
        <p:spPr bwMode="auto">
          <a:xfrm>
            <a:off x="6543357" y="5014913"/>
            <a:ext cx="617220" cy="320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400" b="1">
                <a:solidFill>
                  <a:srgbClr val="0070C0"/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-Y,-X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1" name="Text Box 116"/>
          <p:cNvSpPr txBox="1">
            <a:spLocks noChangeArrowheads="1"/>
          </p:cNvSpPr>
          <p:nvPr/>
        </p:nvSpPr>
        <p:spPr bwMode="auto">
          <a:xfrm>
            <a:off x="9190672" y="3257233"/>
            <a:ext cx="91059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i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0&lt;K&lt;1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2" name="Text Box 146"/>
          <p:cNvSpPr txBox="1">
            <a:spLocks noChangeArrowheads="1"/>
          </p:cNvSpPr>
          <p:nvPr/>
        </p:nvSpPr>
        <p:spPr bwMode="auto">
          <a:xfrm>
            <a:off x="8122602" y="2113598"/>
            <a:ext cx="756920" cy="361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i="1">
                <a:solidFill>
                  <a:srgbClr val="548DD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K&gt;1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3" name="Text Box 147"/>
          <p:cNvSpPr txBox="1">
            <a:spLocks noChangeArrowheads="1"/>
          </p:cNvSpPr>
          <p:nvPr/>
        </p:nvSpPr>
        <p:spPr bwMode="auto">
          <a:xfrm>
            <a:off x="9190672" y="4729163"/>
            <a:ext cx="9842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i="1">
                <a:solidFill>
                  <a:srgbClr val="548DD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-1&lt;K&lt;0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4" name="Text Box 148"/>
          <p:cNvSpPr txBox="1">
            <a:spLocks noChangeArrowheads="1"/>
          </p:cNvSpPr>
          <p:nvPr/>
        </p:nvSpPr>
        <p:spPr bwMode="auto">
          <a:xfrm>
            <a:off x="8374697" y="5691188"/>
            <a:ext cx="98425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i="1">
                <a:solidFill>
                  <a:srgbClr val="548DD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K&lt;-1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5" name="AutoShape 149"/>
          <p:cNvSpPr>
            <a:spLocks noChangeArrowheads="1"/>
          </p:cNvSpPr>
          <p:nvPr/>
        </p:nvSpPr>
        <p:spPr bwMode="auto">
          <a:xfrm>
            <a:off x="8772207" y="2012633"/>
            <a:ext cx="965200" cy="790575"/>
          </a:xfrm>
          <a:prstGeom prst="rightArrow">
            <a:avLst>
              <a:gd name="adj1" fmla="val 50000"/>
              <a:gd name="adj2" fmla="val 30522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86" name="Text Box 150"/>
          <p:cNvSpPr txBox="1">
            <a:spLocks noChangeArrowheads="1"/>
          </p:cNvSpPr>
          <p:nvPr/>
        </p:nvSpPr>
        <p:spPr bwMode="auto">
          <a:xfrm>
            <a:off x="8888412" y="2248218"/>
            <a:ext cx="722630" cy="445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i="1">
                <a:solidFill>
                  <a:srgbClr val="548DD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600" i="1" baseline="-25000">
                <a:solidFill>
                  <a:srgbClr val="548DD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600" i="1">
                <a:solidFill>
                  <a:srgbClr val="548DD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&gt;X</a:t>
            </a:r>
            <a:r>
              <a:rPr lang="en-US" sz="1600" i="1" baseline="-25000">
                <a:solidFill>
                  <a:srgbClr val="548DD4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7" name="AutoShape 153"/>
          <p:cNvSpPr>
            <a:spLocks noChangeArrowheads="1"/>
          </p:cNvSpPr>
          <p:nvPr/>
        </p:nvSpPr>
        <p:spPr bwMode="auto">
          <a:xfrm flipH="1">
            <a:off x="5296852" y="2012633"/>
            <a:ext cx="973455" cy="790575"/>
          </a:xfrm>
          <a:prstGeom prst="rightArrow">
            <a:avLst>
              <a:gd name="adj1" fmla="val 50000"/>
              <a:gd name="adj2" fmla="val 30783"/>
            </a:avLst>
          </a:prstGeom>
          <a:solidFill>
            <a:schemeClr val="bg1">
              <a:lumMod val="85000"/>
              <a:lumOff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88" name="Text Box 154"/>
          <p:cNvSpPr txBox="1">
            <a:spLocks noChangeArrowheads="1"/>
          </p:cNvSpPr>
          <p:nvPr/>
        </p:nvSpPr>
        <p:spPr bwMode="auto">
          <a:xfrm>
            <a:off x="5540057" y="2256473"/>
            <a:ext cx="730250" cy="445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i="1">
                <a:solidFill>
                  <a:srgbClr val="7F7F7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600" i="1" baseline="-25000">
                <a:solidFill>
                  <a:srgbClr val="7F7F7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600" i="1">
                <a:solidFill>
                  <a:srgbClr val="7F7F7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&lt;X</a:t>
            </a:r>
            <a:r>
              <a:rPr lang="en-US" sz="1600" i="1" baseline="-25000">
                <a:solidFill>
                  <a:srgbClr val="7F7F7F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89" name="AutoShape 522"/>
          <p:cNvCxnSpPr>
            <a:cxnSpLocks noChangeShapeType="1"/>
          </p:cNvCxnSpPr>
          <p:nvPr/>
        </p:nvCxnSpPr>
        <p:spPr bwMode="auto">
          <a:xfrm flipH="1">
            <a:off x="7055802" y="4146868"/>
            <a:ext cx="408940" cy="1288415"/>
          </a:xfrm>
          <a:prstGeom prst="straightConnector1">
            <a:avLst/>
          </a:prstGeom>
          <a:noFill/>
          <a:ln w="12700">
            <a:solidFill>
              <a:srgbClr val="000000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Rectangle 3"/>
          <p:cNvSpPr/>
          <p:nvPr/>
        </p:nvSpPr>
        <p:spPr>
          <a:xfrm>
            <a:off x="521969" y="3089276"/>
            <a:ext cx="438499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So, if we write an algorithm that allows us to draw a straight line with a slope less than 45˚ (i.e., </a:t>
            </a:r>
            <a:r>
              <a:rPr lang="en-US" dirty="0" smtClean="0"/>
              <a:t>0&lt;K&lt;1), </a:t>
            </a:r>
            <a:r>
              <a:rPr lang="en-US" dirty="0"/>
              <a:t>then, through simple manipulations, we can rasterize any other line</a:t>
            </a:r>
          </a:p>
        </p:txBody>
      </p:sp>
    </p:spTree>
    <p:extLst>
      <p:ext uri="{BB962C8B-B14F-4D97-AF65-F5344CB8AC3E}">
        <p14:creationId xmlns:p14="http://schemas.microsoft.com/office/powerpoint/2010/main" val="3589027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20700" y="575013"/>
            <a:ext cx="443928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We need to draw a straight line between the points </a:t>
            </a:r>
            <a:r>
              <a:rPr lang="en-US" b="1" dirty="0"/>
              <a:t>(2,1)</a:t>
            </a:r>
            <a:r>
              <a:rPr lang="en-US" dirty="0"/>
              <a:t> and </a:t>
            </a:r>
            <a:r>
              <a:rPr lang="en-US" b="1" dirty="0"/>
              <a:t>(4,5)</a:t>
            </a:r>
            <a:r>
              <a:rPr lang="en-US" dirty="0"/>
              <a:t> (illustrated by the blue line).</a:t>
            </a:r>
          </a:p>
          <a:p>
            <a:r>
              <a:rPr lang="en-US" dirty="0"/>
              <a:t>We can calculate the pixels for the line </a:t>
            </a:r>
            <a:r>
              <a:rPr lang="en-US" b="1" dirty="0"/>
              <a:t>(1,2) – (5,4)</a:t>
            </a:r>
            <a:r>
              <a:rPr lang="en-US" dirty="0"/>
              <a:t> by swapping </a:t>
            </a:r>
            <a:r>
              <a:rPr lang="en-US" b="1" dirty="0"/>
              <a:t>X</a:t>
            </a:r>
            <a:r>
              <a:rPr lang="en-US" dirty="0"/>
              <a:t> and </a:t>
            </a:r>
            <a:r>
              <a:rPr lang="en-US" b="1" dirty="0"/>
              <a:t>Y</a:t>
            </a:r>
            <a:r>
              <a:rPr lang="en-US" dirty="0"/>
              <a:t> coordinates for each point. Then, after computing the pixels, we place them on the screen by swapping </a:t>
            </a:r>
            <a:r>
              <a:rPr lang="en-US" b="1" dirty="0"/>
              <a:t>X</a:t>
            </a:r>
            <a:r>
              <a:rPr lang="en-US" dirty="0"/>
              <a:t> and </a:t>
            </a:r>
            <a:r>
              <a:rPr lang="en-US" b="1" dirty="0"/>
              <a:t>Y</a:t>
            </a:r>
            <a:r>
              <a:rPr lang="en-US" dirty="0"/>
              <a:t> back.</a:t>
            </a:r>
          </a:p>
        </p:txBody>
      </p:sp>
      <p:grpSp>
        <p:nvGrpSpPr>
          <p:cNvPr id="43" name="Canvas 475"/>
          <p:cNvGrpSpPr/>
          <p:nvPr/>
        </p:nvGrpSpPr>
        <p:grpSpPr>
          <a:xfrm>
            <a:off x="5926455" y="278815"/>
            <a:ext cx="4095115" cy="3368040"/>
            <a:chOff x="0" y="0"/>
            <a:chExt cx="4095115" cy="3368040"/>
          </a:xfrm>
        </p:grpSpPr>
        <p:sp>
          <p:nvSpPr>
            <p:cNvPr id="44" name="Rectangle 43"/>
            <p:cNvSpPr/>
            <p:nvPr/>
          </p:nvSpPr>
          <p:spPr>
            <a:xfrm>
              <a:off x="0" y="0"/>
              <a:ext cx="4095115" cy="3368040"/>
            </a:xfrm>
            <a:prstGeom prst="rect">
              <a:avLst/>
            </a:prstGeom>
            <a:noFill/>
          </p:spPr>
        </p:sp>
        <p:grpSp>
          <p:nvGrpSpPr>
            <p:cNvPr id="45" name="Group 44"/>
            <p:cNvGrpSpPr>
              <a:grpSpLocks/>
            </p:cNvGrpSpPr>
            <p:nvPr/>
          </p:nvGrpSpPr>
          <p:grpSpPr bwMode="auto">
            <a:xfrm>
              <a:off x="0" y="0"/>
              <a:ext cx="4095115" cy="3368040"/>
              <a:chOff x="3474" y="2091"/>
              <a:chExt cx="6449" cy="5304"/>
            </a:xfrm>
          </p:grpSpPr>
          <p:grpSp>
            <p:nvGrpSpPr>
              <p:cNvPr id="46" name="Group 45"/>
              <p:cNvGrpSpPr>
                <a:grpSpLocks/>
              </p:cNvGrpSpPr>
              <p:nvPr/>
            </p:nvGrpSpPr>
            <p:grpSpPr bwMode="auto">
              <a:xfrm>
                <a:off x="3929" y="3467"/>
                <a:ext cx="112" cy="2754"/>
                <a:chOff x="3790" y="3467"/>
                <a:chExt cx="250" cy="2754"/>
              </a:xfrm>
            </p:grpSpPr>
            <p:cxnSp>
              <p:nvCxnSpPr>
                <p:cNvPr id="111" name="AutoShape 590"/>
                <p:cNvCxnSpPr>
                  <a:cxnSpLocks noChangeShapeType="1"/>
                </p:cNvCxnSpPr>
                <p:nvPr/>
              </p:nvCxnSpPr>
              <p:spPr bwMode="auto">
                <a:xfrm rot="-5400000">
                  <a:off x="3910" y="6101"/>
                  <a:ext cx="0" cy="24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2" name="AutoShape 591"/>
                <p:cNvCxnSpPr>
                  <a:cxnSpLocks noChangeShapeType="1"/>
                </p:cNvCxnSpPr>
                <p:nvPr/>
              </p:nvCxnSpPr>
              <p:spPr bwMode="auto">
                <a:xfrm rot="-5400000">
                  <a:off x="3910" y="5549"/>
                  <a:ext cx="2" cy="239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3" name="AutoShape 592"/>
                <p:cNvCxnSpPr>
                  <a:cxnSpLocks noChangeShapeType="1"/>
                </p:cNvCxnSpPr>
                <p:nvPr/>
              </p:nvCxnSpPr>
              <p:spPr bwMode="auto">
                <a:xfrm rot="-5400000">
                  <a:off x="3913" y="4998"/>
                  <a:ext cx="1" cy="239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4" name="AutoShape 593"/>
                <p:cNvCxnSpPr>
                  <a:cxnSpLocks noChangeShapeType="1"/>
                </p:cNvCxnSpPr>
                <p:nvPr/>
              </p:nvCxnSpPr>
              <p:spPr bwMode="auto">
                <a:xfrm rot="-5400000">
                  <a:off x="3915" y="4449"/>
                  <a:ext cx="3" cy="239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5" name="AutoShape 594"/>
                <p:cNvCxnSpPr>
                  <a:cxnSpLocks noChangeShapeType="1"/>
                </p:cNvCxnSpPr>
                <p:nvPr/>
              </p:nvCxnSpPr>
              <p:spPr bwMode="auto">
                <a:xfrm rot="-5400000">
                  <a:off x="3920" y="3897"/>
                  <a:ext cx="2" cy="239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6" name="AutoShape 595"/>
                <p:cNvCxnSpPr>
                  <a:cxnSpLocks noChangeShapeType="1"/>
                </p:cNvCxnSpPr>
                <p:nvPr/>
              </p:nvCxnSpPr>
              <p:spPr bwMode="auto">
                <a:xfrm rot="-5400000">
                  <a:off x="3912" y="3348"/>
                  <a:ext cx="2" cy="24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47" name="Group 46"/>
              <p:cNvGrpSpPr>
                <a:grpSpLocks/>
              </p:cNvGrpSpPr>
              <p:nvPr/>
            </p:nvGrpSpPr>
            <p:grpSpPr bwMode="auto">
              <a:xfrm>
                <a:off x="4041" y="2907"/>
                <a:ext cx="4465" cy="3947"/>
                <a:chOff x="4041" y="2907"/>
                <a:chExt cx="4465" cy="3947"/>
              </a:xfrm>
            </p:grpSpPr>
            <p:cxnSp>
              <p:nvCxnSpPr>
                <p:cNvPr id="97" name="AutoShape 596"/>
                <p:cNvCxnSpPr>
                  <a:cxnSpLocks noChangeShapeType="1"/>
                </p:cNvCxnSpPr>
                <p:nvPr/>
              </p:nvCxnSpPr>
              <p:spPr bwMode="auto">
                <a:xfrm flipV="1">
                  <a:off x="4557" y="2907"/>
                  <a:ext cx="4" cy="3891"/>
                </a:xfrm>
                <a:prstGeom prst="straightConnector1">
                  <a:avLst/>
                </a:prstGeom>
                <a:noFill/>
                <a:ln w="3175">
                  <a:solidFill>
                    <a:schemeClr val="bg1">
                      <a:lumMod val="65000"/>
                      <a:lumOff val="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8" name="AutoShape 597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5069" y="2918"/>
                  <a:ext cx="4" cy="3892"/>
                </a:xfrm>
                <a:prstGeom prst="straightConnector1">
                  <a:avLst/>
                </a:prstGeom>
                <a:noFill/>
                <a:ln w="3175">
                  <a:solidFill>
                    <a:schemeClr val="bg1">
                      <a:lumMod val="65000"/>
                      <a:lumOff val="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9" name="AutoShape 598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5588" y="2918"/>
                  <a:ext cx="1" cy="3903"/>
                </a:xfrm>
                <a:prstGeom prst="straightConnector1">
                  <a:avLst/>
                </a:prstGeom>
                <a:noFill/>
                <a:ln w="3175">
                  <a:solidFill>
                    <a:schemeClr val="bg1">
                      <a:lumMod val="65000"/>
                      <a:lumOff val="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0" name="AutoShape 599"/>
                <p:cNvCxnSpPr>
                  <a:cxnSpLocks noChangeShapeType="1"/>
                </p:cNvCxnSpPr>
                <p:nvPr/>
              </p:nvCxnSpPr>
              <p:spPr bwMode="auto">
                <a:xfrm flipV="1">
                  <a:off x="6104" y="2918"/>
                  <a:ext cx="1" cy="3915"/>
                </a:xfrm>
                <a:prstGeom prst="straightConnector1">
                  <a:avLst/>
                </a:prstGeom>
                <a:noFill/>
                <a:ln w="3175">
                  <a:solidFill>
                    <a:schemeClr val="bg1">
                      <a:lumMod val="65000"/>
                      <a:lumOff val="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1" name="AutoShape 600"/>
                <p:cNvCxnSpPr>
                  <a:cxnSpLocks noChangeShapeType="1"/>
                </p:cNvCxnSpPr>
                <p:nvPr/>
              </p:nvCxnSpPr>
              <p:spPr bwMode="auto">
                <a:xfrm flipV="1">
                  <a:off x="6620" y="2907"/>
                  <a:ext cx="10" cy="3937"/>
                </a:xfrm>
                <a:prstGeom prst="straightConnector1">
                  <a:avLst/>
                </a:prstGeom>
                <a:noFill/>
                <a:ln w="3175">
                  <a:solidFill>
                    <a:schemeClr val="bg1">
                      <a:lumMod val="65000"/>
                      <a:lumOff val="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2" name="AutoShape 601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7130" y="2909"/>
                  <a:ext cx="6" cy="3859"/>
                </a:xfrm>
                <a:prstGeom prst="straightConnector1">
                  <a:avLst/>
                </a:prstGeom>
                <a:noFill/>
                <a:ln w="3175">
                  <a:solidFill>
                    <a:schemeClr val="bg1">
                      <a:lumMod val="65000"/>
                      <a:lumOff val="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3" name="AutoShape 602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7650" y="2925"/>
                  <a:ext cx="2" cy="3854"/>
                </a:xfrm>
                <a:prstGeom prst="straightConnector1">
                  <a:avLst/>
                </a:prstGeom>
                <a:noFill/>
                <a:ln w="3175">
                  <a:solidFill>
                    <a:schemeClr val="bg1">
                      <a:lumMod val="65000"/>
                      <a:lumOff val="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4" name="AutoShape 603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8166" y="2916"/>
                  <a:ext cx="2" cy="3938"/>
                </a:xfrm>
                <a:prstGeom prst="straightConnector1">
                  <a:avLst/>
                </a:prstGeom>
                <a:noFill/>
                <a:ln w="3175">
                  <a:solidFill>
                    <a:schemeClr val="bg1">
                      <a:lumMod val="65000"/>
                      <a:lumOff val="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5" name="AutoShape 604"/>
                <p:cNvCxnSpPr>
                  <a:cxnSpLocks noChangeShapeType="1"/>
                </p:cNvCxnSpPr>
                <p:nvPr/>
              </p:nvCxnSpPr>
              <p:spPr bwMode="auto">
                <a:xfrm>
                  <a:off x="4041" y="6221"/>
                  <a:ext cx="4465" cy="0"/>
                </a:xfrm>
                <a:prstGeom prst="straightConnector1">
                  <a:avLst/>
                </a:prstGeom>
                <a:noFill/>
                <a:ln w="3175">
                  <a:solidFill>
                    <a:schemeClr val="bg1">
                      <a:lumMod val="50000"/>
                      <a:lumOff val="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6" name="AutoShape 605"/>
                <p:cNvCxnSpPr>
                  <a:cxnSpLocks noChangeShapeType="1"/>
                </p:cNvCxnSpPr>
                <p:nvPr/>
              </p:nvCxnSpPr>
              <p:spPr bwMode="auto">
                <a:xfrm>
                  <a:off x="4041" y="5670"/>
                  <a:ext cx="4465" cy="2"/>
                </a:xfrm>
                <a:prstGeom prst="straightConnector1">
                  <a:avLst/>
                </a:prstGeom>
                <a:noFill/>
                <a:ln w="3175">
                  <a:solidFill>
                    <a:schemeClr val="bg1">
                      <a:lumMod val="50000"/>
                      <a:lumOff val="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7" name="AutoShape 606"/>
                <p:cNvCxnSpPr>
                  <a:cxnSpLocks noChangeShapeType="1"/>
                </p:cNvCxnSpPr>
                <p:nvPr/>
              </p:nvCxnSpPr>
              <p:spPr bwMode="auto">
                <a:xfrm>
                  <a:off x="4041" y="5119"/>
                  <a:ext cx="4465" cy="2"/>
                </a:xfrm>
                <a:prstGeom prst="straightConnector1">
                  <a:avLst/>
                </a:prstGeom>
                <a:noFill/>
                <a:ln w="3175">
                  <a:solidFill>
                    <a:schemeClr val="bg1">
                      <a:lumMod val="50000"/>
                      <a:lumOff val="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8" name="AutoShape 607"/>
                <p:cNvCxnSpPr>
                  <a:cxnSpLocks noChangeShapeType="1"/>
                </p:cNvCxnSpPr>
                <p:nvPr/>
              </p:nvCxnSpPr>
              <p:spPr bwMode="auto">
                <a:xfrm>
                  <a:off x="4041" y="4569"/>
                  <a:ext cx="4465" cy="1"/>
                </a:xfrm>
                <a:prstGeom prst="straightConnector1">
                  <a:avLst/>
                </a:prstGeom>
                <a:noFill/>
                <a:ln w="3175">
                  <a:solidFill>
                    <a:schemeClr val="bg1">
                      <a:lumMod val="50000"/>
                      <a:lumOff val="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09" name="AutoShape 608"/>
                <p:cNvCxnSpPr>
                  <a:cxnSpLocks noChangeShapeType="1"/>
                </p:cNvCxnSpPr>
                <p:nvPr/>
              </p:nvCxnSpPr>
              <p:spPr bwMode="auto">
                <a:xfrm>
                  <a:off x="4041" y="4018"/>
                  <a:ext cx="4465" cy="1"/>
                </a:xfrm>
                <a:prstGeom prst="straightConnector1">
                  <a:avLst/>
                </a:prstGeom>
                <a:noFill/>
                <a:ln w="3175">
                  <a:solidFill>
                    <a:schemeClr val="bg1">
                      <a:lumMod val="50000"/>
                      <a:lumOff val="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0" name="AutoShape 609"/>
                <p:cNvCxnSpPr>
                  <a:cxnSpLocks noChangeShapeType="1"/>
                </p:cNvCxnSpPr>
                <p:nvPr/>
              </p:nvCxnSpPr>
              <p:spPr bwMode="auto">
                <a:xfrm>
                  <a:off x="4041" y="3467"/>
                  <a:ext cx="4465" cy="1"/>
                </a:xfrm>
                <a:prstGeom prst="straightConnector1">
                  <a:avLst/>
                </a:prstGeom>
                <a:noFill/>
                <a:ln w="3175">
                  <a:solidFill>
                    <a:schemeClr val="bg1">
                      <a:lumMod val="50000"/>
                      <a:lumOff val="0"/>
                    </a:schemeClr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48" name="AutoShape 477"/>
              <p:cNvCxnSpPr>
                <a:cxnSpLocks noChangeShapeType="1"/>
              </p:cNvCxnSpPr>
              <p:nvPr/>
            </p:nvCxnSpPr>
            <p:spPr bwMode="auto">
              <a:xfrm>
                <a:off x="3480" y="6776"/>
                <a:ext cx="6166" cy="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49" name="AutoShape 610"/>
              <p:cNvCxnSpPr>
                <a:cxnSpLocks noChangeShapeType="1"/>
              </p:cNvCxnSpPr>
              <p:nvPr/>
            </p:nvCxnSpPr>
            <p:spPr bwMode="auto">
              <a:xfrm flipV="1">
                <a:off x="4038" y="2141"/>
                <a:ext cx="8" cy="5149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0" name="AutoShape 611"/>
              <p:cNvCxnSpPr>
                <a:cxnSpLocks noChangeShapeType="1"/>
              </p:cNvCxnSpPr>
              <p:nvPr/>
            </p:nvCxnSpPr>
            <p:spPr bwMode="auto">
              <a:xfrm flipH="1">
                <a:off x="5073" y="4019"/>
                <a:ext cx="1033" cy="2202"/>
              </a:xfrm>
              <a:prstGeom prst="straightConnector1">
                <a:avLst/>
              </a:prstGeom>
              <a:noFill/>
              <a:ln w="28575">
                <a:solidFill>
                  <a:srgbClr val="00B0F0"/>
                </a:solidFill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" name="AutoShape 518"/>
              <p:cNvCxnSpPr>
                <a:cxnSpLocks noChangeShapeType="1"/>
              </p:cNvCxnSpPr>
              <p:nvPr/>
            </p:nvCxnSpPr>
            <p:spPr bwMode="auto">
              <a:xfrm flipH="1">
                <a:off x="4562" y="4570"/>
                <a:ext cx="2065" cy="1097"/>
              </a:xfrm>
              <a:prstGeom prst="straightConnector1">
                <a:avLst/>
              </a:prstGeom>
              <a:noFill/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lgDash"/>
                <a:round/>
                <a:headEnd type="oval" w="med" len="med"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2" name="Text Box 371"/>
              <p:cNvSpPr txBox="1">
                <a:spLocks noChangeArrowheads="1"/>
              </p:cNvSpPr>
              <p:nvPr/>
            </p:nvSpPr>
            <p:spPr bwMode="auto">
              <a:xfrm>
                <a:off x="9090" y="6776"/>
                <a:ext cx="556" cy="6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6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X</a:t>
                </a:r>
                <a:endPara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Text Box 372"/>
              <p:cNvSpPr txBox="1">
                <a:spLocks noChangeArrowheads="1"/>
              </p:cNvSpPr>
              <p:nvPr/>
            </p:nvSpPr>
            <p:spPr bwMode="auto">
              <a:xfrm>
                <a:off x="3474" y="2091"/>
                <a:ext cx="556" cy="6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6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Y</a:t>
                </a:r>
                <a:endPara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4" name="Group 53"/>
              <p:cNvGrpSpPr>
                <a:grpSpLocks/>
              </p:cNvGrpSpPr>
              <p:nvPr/>
            </p:nvGrpSpPr>
            <p:grpSpPr bwMode="auto">
              <a:xfrm>
                <a:off x="4557" y="6782"/>
                <a:ext cx="3609" cy="117"/>
                <a:chOff x="4557" y="6798"/>
                <a:chExt cx="3609" cy="267"/>
              </a:xfrm>
            </p:grpSpPr>
            <p:cxnSp>
              <p:nvCxnSpPr>
                <p:cNvPr id="59" name="AutoShape 582"/>
                <p:cNvCxnSpPr>
                  <a:cxnSpLocks noChangeShapeType="1"/>
                </p:cNvCxnSpPr>
                <p:nvPr/>
              </p:nvCxnSpPr>
              <p:spPr bwMode="auto">
                <a:xfrm>
                  <a:off x="4557" y="6798"/>
                  <a:ext cx="0" cy="257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0" name="AutoShape 583"/>
                <p:cNvCxnSpPr>
                  <a:cxnSpLocks noChangeShapeType="1"/>
                </p:cNvCxnSpPr>
                <p:nvPr/>
              </p:nvCxnSpPr>
              <p:spPr bwMode="auto">
                <a:xfrm>
                  <a:off x="5073" y="6800"/>
                  <a:ext cx="2" cy="25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1" name="AutoShape 584"/>
                <p:cNvCxnSpPr>
                  <a:cxnSpLocks noChangeShapeType="1"/>
                </p:cNvCxnSpPr>
                <p:nvPr/>
              </p:nvCxnSpPr>
              <p:spPr bwMode="auto">
                <a:xfrm>
                  <a:off x="5589" y="6802"/>
                  <a:ext cx="1" cy="256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2" name="AutoShape 585"/>
                <p:cNvCxnSpPr>
                  <a:cxnSpLocks noChangeShapeType="1"/>
                </p:cNvCxnSpPr>
                <p:nvPr/>
              </p:nvCxnSpPr>
              <p:spPr bwMode="auto">
                <a:xfrm>
                  <a:off x="6103" y="6805"/>
                  <a:ext cx="3" cy="256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3" name="AutoShape 586"/>
                <p:cNvCxnSpPr>
                  <a:cxnSpLocks noChangeShapeType="1"/>
                </p:cNvCxnSpPr>
                <p:nvPr/>
              </p:nvCxnSpPr>
              <p:spPr bwMode="auto">
                <a:xfrm>
                  <a:off x="6619" y="6810"/>
                  <a:ext cx="1" cy="255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4" name="AutoShape 587"/>
                <p:cNvCxnSpPr>
                  <a:cxnSpLocks noChangeShapeType="1"/>
                </p:cNvCxnSpPr>
                <p:nvPr/>
              </p:nvCxnSpPr>
              <p:spPr bwMode="auto">
                <a:xfrm>
                  <a:off x="7133" y="6801"/>
                  <a:ext cx="3" cy="257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5" name="AutoShape 588"/>
                <p:cNvCxnSpPr>
                  <a:cxnSpLocks noChangeShapeType="1"/>
                </p:cNvCxnSpPr>
                <p:nvPr/>
              </p:nvCxnSpPr>
              <p:spPr bwMode="auto">
                <a:xfrm>
                  <a:off x="7649" y="6805"/>
                  <a:ext cx="1" cy="256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96" name="AutoShape 589"/>
                <p:cNvCxnSpPr>
                  <a:cxnSpLocks noChangeShapeType="1"/>
                </p:cNvCxnSpPr>
                <p:nvPr/>
              </p:nvCxnSpPr>
              <p:spPr bwMode="auto">
                <a:xfrm>
                  <a:off x="8163" y="6798"/>
                  <a:ext cx="3" cy="256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55" name="Text Box 378"/>
              <p:cNvSpPr txBox="1">
                <a:spLocks noChangeArrowheads="1"/>
              </p:cNvSpPr>
              <p:nvPr/>
            </p:nvSpPr>
            <p:spPr bwMode="auto">
              <a:xfrm>
                <a:off x="4562" y="3098"/>
                <a:ext cx="3356" cy="568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400" b="1" dirty="0" smtClean="0">
                    <a:solidFill>
                      <a:srgbClr val="548DD4"/>
                    </a:solidFill>
                    <a:effectLst/>
                    <a:latin typeface="Sylfaen" panose="010A050205030603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Given line </a:t>
                </a:r>
                <a:r>
                  <a:rPr lang="ka-GE" sz="1400" b="1" dirty="0" smtClean="0">
                    <a:solidFill>
                      <a:srgbClr val="548DD4"/>
                    </a:solidFill>
                    <a:effectLst/>
                    <a:latin typeface="Sylfaen" panose="010A050205030603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</a:t>
                </a:r>
                <a:r>
                  <a:rPr lang="en-US" sz="1400" b="1" dirty="0">
                    <a:solidFill>
                      <a:srgbClr val="548DD4"/>
                    </a:solidFill>
                    <a:effectLst/>
                    <a:latin typeface="Sylfaen" panose="010A050205030603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</a:t>
                </a:r>
                <a:r>
                  <a:rPr lang="en-US" sz="1400" b="1" baseline="-25000" dirty="0">
                    <a:solidFill>
                      <a:srgbClr val="548DD4"/>
                    </a:solidFill>
                    <a:effectLst/>
                    <a:latin typeface="Sylfaen" panose="010A050205030603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r>
                  <a:rPr lang="en-US" sz="1400" b="1" dirty="0">
                    <a:solidFill>
                      <a:srgbClr val="548DD4"/>
                    </a:solidFill>
                    <a:effectLst/>
                    <a:latin typeface="Sylfaen" panose="010A050205030603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&gt;1</a:t>
                </a:r>
                <a:r>
                  <a:rPr lang="ka-GE" sz="1400" b="1" dirty="0">
                    <a:solidFill>
                      <a:srgbClr val="548DD4"/>
                    </a:solidFill>
                    <a:effectLst/>
                    <a:latin typeface="Sylfaen" panose="010A050205030603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Arc 379"/>
              <p:cNvSpPr>
                <a:spLocks/>
              </p:cNvSpPr>
              <p:nvPr/>
            </p:nvSpPr>
            <p:spPr bwMode="auto">
              <a:xfrm flipH="1" flipV="1">
                <a:off x="5136" y="3612"/>
                <a:ext cx="1026" cy="1014"/>
              </a:xfrm>
              <a:custGeom>
                <a:avLst/>
                <a:gdLst>
                  <a:gd name="G0" fmla="+- 0 0 0"/>
                  <a:gd name="G1" fmla="+- 19824 0 0"/>
                  <a:gd name="G2" fmla="+- 21600 0 0"/>
                  <a:gd name="T0" fmla="*/ 8578 w 21600"/>
                  <a:gd name="T1" fmla="*/ 0 h 19824"/>
                  <a:gd name="T2" fmla="*/ 21600 w 21600"/>
                  <a:gd name="T3" fmla="*/ 19824 h 19824"/>
                  <a:gd name="T4" fmla="*/ 0 w 21600"/>
                  <a:gd name="T5" fmla="*/ 19824 h 198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19824" fill="none" extrusionOk="0">
                    <a:moveTo>
                      <a:pt x="8577" y="0"/>
                    </a:moveTo>
                    <a:cubicBezTo>
                      <a:pt x="16482" y="3420"/>
                      <a:pt x="21600" y="11210"/>
                      <a:pt x="21600" y="19824"/>
                    </a:cubicBezTo>
                  </a:path>
                  <a:path w="21600" h="19824" stroke="0" extrusionOk="0">
                    <a:moveTo>
                      <a:pt x="8577" y="0"/>
                    </a:moveTo>
                    <a:cubicBezTo>
                      <a:pt x="16482" y="3420"/>
                      <a:pt x="21600" y="11210"/>
                      <a:pt x="21600" y="19824"/>
                    </a:cubicBezTo>
                    <a:lnTo>
                      <a:pt x="0" y="19824"/>
                    </a:lnTo>
                    <a:close/>
                  </a:path>
                </a:pathLst>
              </a:custGeom>
              <a:noFill/>
              <a:ln w="9525">
                <a:solidFill>
                  <a:srgbClr val="00B0F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57" name="Text Box 380"/>
              <p:cNvSpPr txBox="1">
                <a:spLocks noChangeArrowheads="1"/>
              </p:cNvSpPr>
              <p:nvPr/>
            </p:nvSpPr>
            <p:spPr bwMode="auto">
              <a:xfrm>
                <a:off x="6713" y="5260"/>
                <a:ext cx="3210" cy="1963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400" dirty="0"/>
                  <a:t>The substitute for the given line </a:t>
                </a:r>
                <a:endParaRPr lang="en-US" sz="1400" dirty="0" smtClean="0"/>
              </a:p>
              <a:p>
                <a:pPr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1400" dirty="0" smtClean="0">
                    <a:effectLst/>
                    <a:latin typeface="Sylfaen" panose="010A050205030603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K</a:t>
                </a:r>
                <a:r>
                  <a:rPr lang="en-US" sz="1400" baseline="-25000" dirty="0" smtClean="0">
                    <a:effectLst/>
                    <a:latin typeface="Sylfaen" panose="010A050205030603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1400" dirty="0" smtClean="0">
                    <a:effectLst/>
                    <a:latin typeface="Sylfaen" panose="010A050205030603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=1/K</a:t>
                </a:r>
                <a:r>
                  <a:rPr lang="en-US" sz="1400" baseline="-25000" dirty="0" smtClean="0">
                    <a:effectLst/>
                    <a:latin typeface="Sylfaen" panose="010A050205030603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  <a:r>
                  <a:rPr lang="en-US" sz="1400" dirty="0" smtClean="0">
                    <a:effectLst/>
                    <a:latin typeface="Sylfaen" panose="010A050205030603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1400" dirty="0">
                    <a:effectLst/>
                    <a:latin typeface="Sylfaen" panose="010A050205030603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; =&gt; K</a:t>
                </a:r>
                <a:r>
                  <a:rPr lang="en-US" sz="1400" baseline="-25000" dirty="0">
                    <a:effectLst/>
                    <a:latin typeface="Sylfaen" panose="010A050205030603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</a:t>
                </a:r>
                <a:r>
                  <a:rPr lang="en-US" sz="1400" dirty="0">
                    <a:effectLst/>
                    <a:latin typeface="Sylfaen" panose="010A0502050306030303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&lt;1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Arc 381"/>
              <p:cNvSpPr>
                <a:spLocks/>
              </p:cNvSpPr>
              <p:nvPr/>
            </p:nvSpPr>
            <p:spPr bwMode="auto">
              <a:xfrm rot="21600000">
                <a:off x="6066" y="4774"/>
                <a:ext cx="908" cy="1014"/>
              </a:xfrm>
              <a:custGeom>
                <a:avLst/>
                <a:gdLst>
                  <a:gd name="G0" fmla="+- 0 0 0"/>
                  <a:gd name="G1" fmla="+- 19824 0 0"/>
                  <a:gd name="G2" fmla="+- 21600 0 0"/>
                  <a:gd name="T0" fmla="*/ 8578 w 19109"/>
                  <a:gd name="T1" fmla="*/ 0 h 19824"/>
                  <a:gd name="T2" fmla="*/ 19109 w 19109"/>
                  <a:gd name="T3" fmla="*/ 9755 h 19824"/>
                  <a:gd name="T4" fmla="*/ 0 w 19109"/>
                  <a:gd name="T5" fmla="*/ 19824 h 198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109" h="19824" fill="none" extrusionOk="0">
                    <a:moveTo>
                      <a:pt x="8577" y="0"/>
                    </a:moveTo>
                    <a:cubicBezTo>
                      <a:pt x="13097" y="1956"/>
                      <a:pt x="16813" y="5397"/>
                      <a:pt x="19109" y="9754"/>
                    </a:cubicBezTo>
                  </a:path>
                  <a:path w="19109" h="19824" stroke="0" extrusionOk="0">
                    <a:moveTo>
                      <a:pt x="8577" y="0"/>
                    </a:moveTo>
                    <a:cubicBezTo>
                      <a:pt x="13097" y="1956"/>
                      <a:pt x="16813" y="5397"/>
                      <a:pt x="19109" y="9754"/>
                    </a:cubicBezTo>
                    <a:lnTo>
                      <a:pt x="0" y="19824"/>
                    </a:lnTo>
                    <a:close/>
                  </a:path>
                </a:pathLst>
              </a:custGeom>
              <a:noFill/>
              <a:ln w="9525">
                <a:solidFill>
                  <a:schemeClr val="tx1">
                    <a:lumMod val="50000"/>
                    <a:lumOff val="50000"/>
                  </a:schemeClr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4" name="Rectangle 3"/>
          <p:cNvSpPr/>
          <p:nvPr/>
        </p:nvSpPr>
        <p:spPr>
          <a:xfrm>
            <a:off x="520700" y="4347895"/>
            <a:ext cx="545976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C00000"/>
                </a:solidFill>
              </a:rPr>
              <a:t>So, if</a:t>
            </a:r>
            <a:r>
              <a:rPr lang="en-US" sz="2400" dirty="0">
                <a:solidFill>
                  <a:srgbClr val="C00000"/>
                </a:solidFill>
              </a:rPr>
              <a:t>, as a result of rasterization, we "light up" the pixel at (</a:t>
            </a:r>
            <a:r>
              <a:rPr lang="en-US" sz="2400" dirty="0" err="1" smtClean="0">
                <a:solidFill>
                  <a:srgbClr val="C00000"/>
                </a:solidFill>
              </a:rPr>
              <a:t>X</a:t>
            </a:r>
            <a:r>
              <a:rPr lang="en-US" sz="2400" baseline="-25000" dirty="0" err="1" smtClean="0">
                <a:solidFill>
                  <a:srgbClr val="C00000"/>
                </a:solidFill>
              </a:rPr>
              <a:t>i</a:t>
            </a:r>
            <a:r>
              <a:rPr lang="en-US" sz="2400" dirty="0" err="1" smtClean="0">
                <a:solidFill>
                  <a:srgbClr val="C00000"/>
                </a:solidFill>
              </a:rPr>
              <a:t>,Y</a:t>
            </a:r>
            <a:r>
              <a:rPr lang="en-US" sz="2400" baseline="-25000" dirty="0" err="1" smtClean="0">
                <a:solidFill>
                  <a:srgbClr val="C00000"/>
                </a:solidFill>
              </a:rPr>
              <a:t>i</a:t>
            </a:r>
            <a:r>
              <a:rPr lang="en-US" sz="2400" dirty="0" smtClean="0">
                <a:solidFill>
                  <a:srgbClr val="C00000"/>
                </a:solidFill>
              </a:rPr>
              <a:t>), </a:t>
            </a:r>
            <a:r>
              <a:rPr lang="en-US" sz="2400" dirty="0">
                <a:solidFill>
                  <a:srgbClr val="C00000"/>
                </a:solidFill>
              </a:rPr>
              <a:t>and since </a:t>
            </a:r>
            <a:r>
              <a:rPr lang="en-US" sz="2400" dirty="0" smtClean="0">
                <a:solidFill>
                  <a:srgbClr val="C00000"/>
                </a:solidFill>
              </a:rPr>
              <a:t>K&lt;1, </a:t>
            </a:r>
            <a:r>
              <a:rPr lang="en-US" sz="2400" dirty="0">
                <a:solidFill>
                  <a:srgbClr val="C00000"/>
                </a:solidFill>
              </a:rPr>
              <a:t>for the next point (where the </a:t>
            </a:r>
            <a:r>
              <a:rPr lang="en-US" sz="2400" dirty="0" smtClean="0">
                <a:solidFill>
                  <a:srgbClr val="C00000"/>
                </a:solidFill>
              </a:rPr>
              <a:t>X-coordinate </a:t>
            </a:r>
            <a:r>
              <a:rPr lang="en-US" sz="2400" dirty="0">
                <a:solidFill>
                  <a:srgbClr val="C00000"/>
                </a:solidFill>
              </a:rPr>
              <a:t>is 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baseline="-25000" dirty="0" smtClean="0">
                <a:solidFill>
                  <a:srgbClr val="C00000"/>
                </a:solidFill>
              </a:rPr>
              <a:t>i</a:t>
            </a:r>
            <a:r>
              <a:rPr lang="en-US" sz="2400" dirty="0" smtClean="0">
                <a:solidFill>
                  <a:srgbClr val="C00000"/>
                </a:solidFill>
              </a:rPr>
              <a:t>+1), </a:t>
            </a:r>
            <a:r>
              <a:rPr lang="en-US" sz="2400" dirty="0">
                <a:solidFill>
                  <a:srgbClr val="C00000"/>
                </a:solidFill>
              </a:rPr>
              <a:t>only two pixels are possible: (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baseline="-25000" dirty="0" smtClean="0">
                <a:solidFill>
                  <a:srgbClr val="C00000"/>
                </a:solidFill>
              </a:rPr>
              <a:t>i</a:t>
            </a:r>
            <a:r>
              <a:rPr lang="en-US" sz="2400" dirty="0" smtClean="0">
                <a:solidFill>
                  <a:srgbClr val="C00000"/>
                </a:solidFill>
              </a:rPr>
              <a:t>+1,Y</a:t>
            </a:r>
            <a:r>
              <a:rPr lang="en-US" sz="2400" baseline="-25000" dirty="0" smtClean="0">
                <a:solidFill>
                  <a:srgbClr val="C00000"/>
                </a:solidFill>
              </a:rPr>
              <a:t>i</a:t>
            </a:r>
            <a:r>
              <a:rPr lang="en-US" sz="2400" dirty="0" smtClean="0">
                <a:solidFill>
                  <a:srgbClr val="C00000"/>
                </a:solidFill>
              </a:rPr>
              <a:t>) </a:t>
            </a:r>
            <a:r>
              <a:rPr lang="en-US" sz="2400" dirty="0">
                <a:solidFill>
                  <a:srgbClr val="C00000"/>
                </a:solidFill>
              </a:rPr>
              <a:t>or (</a:t>
            </a:r>
            <a:r>
              <a:rPr lang="en-US" sz="2400" dirty="0" smtClean="0">
                <a:solidFill>
                  <a:srgbClr val="C00000"/>
                </a:solidFill>
              </a:rPr>
              <a:t>X</a:t>
            </a:r>
            <a:r>
              <a:rPr lang="en-US" sz="2400" baseline="-25000" dirty="0" smtClean="0">
                <a:solidFill>
                  <a:srgbClr val="C00000"/>
                </a:solidFill>
              </a:rPr>
              <a:t>i</a:t>
            </a:r>
            <a:r>
              <a:rPr lang="en-US" sz="2400" dirty="0" smtClean="0">
                <a:solidFill>
                  <a:srgbClr val="C00000"/>
                </a:solidFill>
              </a:rPr>
              <a:t>+1,Y</a:t>
            </a:r>
            <a:r>
              <a:rPr lang="en-US" sz="2400" baseline="-25000" dirty="0" smtClean="0">
                <a:solidFill>
                  <a:srgbClr val="C00000"/>
                </a:solidFill>
              </a:rPr>
              <a:t>i</a:t>
            </a:r>
            <a:r>
              <a:rPr lang="en-US" sz="2400" dirty="0" smtClean="0">
                <a:solidFill>
                  <a:srgbClr val="C00000"/>
                </a:solidFill>
              </a:rPr>
              <a:t>+1)</a:t>
            </a:r>
            <a:endParaRPr lang="en-US" sz="2400" dirty="0">
              <a:solidFill>
                <a:srgbClr val="C00000"/>
              </a:solidFill>
            </a:endParaRPr>
          </a:p>
        </p:txBody>
      </p:sp>
      <p:grpSp>
        <p:nvGrpSpPr>
          <p:cNvPr id="117" name="Canvas 386"/>
          <p:cNvGrpSpPr/>
          <p:nvPr/>
        </p:nvGrpSpPr>
        <p:grpSpPr>
          <a:xfrm>
            <a:off x="6405245" y="4579957"/>
            <a:ext cx="3857625" cy="2574925"/>
            <a:chOff x="0" y="0"/>
            <a:chExt cx="3857625" cy="2574925"/>
          </a:xfrm>
        </p:grpSpPr>
        <p:sp>
          <p:nvSpPr>
            <p:cNvPr id="118" name="Rectangle 117"/>
            <p:cNvSpPr/>
            <p:nvPr/>
          </p:nvSpPr>
          <p:spPr>
            <a:xfrm>
              <a:off x="0" y="0"/>
              <a:ext cx="3857625" cy="2574925"/>
            </a:xfrm>
            <a:prstGeom prst="rect">
              <a:avLst/>
            </a:prstGeom>
            <a:noFill/>
          </p:spPr>
        </p:sp>
        <p:sp>
          <p:nvSpPr>
            <p:cNvPr id="119" name="Rectangle 118"/>
            <p:cNvSpPr>
              <a:spLocks noChangeArrowheads="1"/>
            </p:cNvSpPr>
            <p:nvPr/>
          </p:nvSpPr>
          <p:spPr bwMode="auto">
            <a:xfrm>
              <a:off x="499181" y="1465700"/>
              <a:ext cx="733632" cy="73285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175">
              <a:solidFill>
                <a:schemeClr val="bg1">
                  <a:lumMod val="50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0" name="Rectangle 119"/>
            <p:cNvSpPr>
              <a:spLocks noChangeArrowheads="1"/>
            </p:cNvSpPr>
            <p:nvPr/>
          </p:nvSpPr>
          <p:spPr bwMode="auto">
            <a:xfrm>
              <a:off x="1232814" y="1465700"/>
              <a:ext cx="733632" cy="73285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bg1">
                  <a:lumMod val="50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1" name="Rectangle 120"/>
            <p:cNvSpPr>
              <a:spLocks noChangeArrowheads="1"/>
            </p:cNvSpPr>
            <p:nvPr/>
          </p:nvSpPr>
          <p:spPr bwMode="auto">
            <a:xfrm>
              <a:off x="1966446" y="1465700"/>
              <a:ext cx="733632" cy="732850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50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2" name="Rectangle 121"/>
            <p:cNvSpPr>
              <a:spLocks noChangeArrowheads="1"/>
            </p:cNvSpPr>
            <p:nvPr/>
          </p:nvSpPr>
          <p:spPr bwMode="auto">
            <a:xfrm>
              <a:off x="2700078" y="1465700"/>
              <a:ext cx="733632" cy="732850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50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3" name="Rectangle 122"/>
            <p:cNvSpPr>
              <a:spLocks noChangeArrowheads="1"/>
            </p:cNvSpPr>
            <p:nvPr/>
          </p:nvSpPr>
          <p:spPr bwMode="auto">
            <a:xfrm>
              <a:off x="500046" y="732850"/>
              <a:ext cx="732767" cy="732850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50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4" name="Rectangle 123"/>
            <p:cNvSpPr>
              <a:spLocks noChangeArrowheads="1"/>
            </p:cNvSpPr>
            <p:nvPr/>
          </p:nvSpPr>
          <p:spPr bwMode="auto">
            <a:xfrm>
              <a:off x="1232814" y="732850"/>
              <a:ext cx="734497" cy="73285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175">
              <a:solidFill>
                <a:schemeClr val="bg1">
                  <a:lumMod val="50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5" name="Rectangle 124"/>
            <p:cNvSpPr>
              <a:spLocks noChangeArrowheads="1"/>
            </p:cNvSpPr>
            <p:nvPr/>
          </p:nvSpPr>
          <p:spPr bwMode="auto">
            <a:xfrm>
              <a:off x="1967311" y="732850"/>
              <a:ext cx="732767" cy="732850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50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6" name="Rectangle 125"/>
            <p:cNvSpPr>
              <a:spLocks noChangeArrowheads="1"/>
            </p:cNvSpPr>
            <p:nvPr/>
          </p:nvSpPr>
          <p:spPr bwMode="auto">
            <a:xfrm>
              <a:off x="2700078" y="732850"/>
              <a:ext cx="734497" cy="732850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50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7" name="Rectangle 126"/>
            <p:cNvSpPr>
              <a:spLocks noChangeArrowheads="1"/>
            </p:cNvSpPr>
            <p:nvPr/>
          </p:nvSpPr>
          <p:spPr bwMode="auto">
            <a:xfrm>
              <a:off x="500046" y="0"/>
              <a:ext cx="732767" cy="732850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50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8" name="Rectangle 127"/>
            <p:cNvSpPr>
              <a:spLocks noChangeArrowheads="1"/>
            </p:cNvSpPr>
            <p:nvPr/>
          </p:nvSpPr>
          <p:spPr bwMode="auto">
            <a:xfrm>
              <a:off x="1232814" y="0"/>
              <a:ext cx="734497" cy="732850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50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9" name="Rectangle 128"/>
            <p:cNvSpPr>
              <a:spLocks noChangeArrowheads="1"/>
            </p:cNvSpPr>
            <p:nvPr/>
          </p:nvSpPr>
          <p:spPr bwMode="auto">
            <a:xfrm>
              <a:off x="1967311" y="0"/>
              <a:ext cx="732767" cy="732850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50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30" name="Rectangle 129"/>
            <p:cNvSpPr>
              <a:spLocks noChangeArrowheads="1"/>
            </p:cNvSpPr>
            <p:nvPr/>
          </p:nvSpPr>
          <p:spPr bwMode="auto">
            <a:xfrm>
              <a:off x="2700078" y="0"/>
              <a:ext cx="732767" cy="732850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50000"/>
                  <a:lumOff val="0"/>
                </a:schemeClr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cxnSp>
          <p:nvCxnSpPr>
            <p:cNvPr id="131" name="AutoShape 406"/>
            <p:cNvCxnSpPr>
              <a:cxnSpLocks noChangeShapeType="1"/>
            </p:cNvCxnSpPr>
            <p:nvPr/>
          </p:nvCxnSpPr>
          <p:spPr bwMode="auto">
            <a:xfrm flipV="1">
              <a:off x="352109" y="174776"/>
              <a:ext cx="3232999" cy="215269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2" name="Text Box 407"/>
            <p:cNvSpPr txBox="1">
              <a:spLocks noChangeArrowheads="1"/>
            </p:cNvSpPr>
            <p:nvPr/>
          </p:nvSpPr>
          <p:spPr bwMode="auto">
            <a:xfrm>
              <a:off x="618570" y="2198550"/>
              <a:ext cx="470632" cy="376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i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X</a:t>
              </a:r>
              <a:r>
                <a:rPr lang="en-US" sz="1600" i="1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Text Box 408"/>
            <p:cNvSpPr txBox="1">
              <a:spLocks noChangeArrowheads="1"/>
            </p:cNvSpPr>
            <p:nvPr/>
          </p:nvSpPr>
          <p:spPr bwMode="auto">
            <a:xfrm>
              <a:off x="1366909" y="2198550"/>
              <a:ext cx="600402" cy="376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i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X</a:t>
              </a:r>
              <a:r>
                <a:rPr lang="en-US" sz="1600" i="1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sz="1600" i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+1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4" name="Text Box 409"/>
            <p:cNvSpPr txBox="1">
              <a:spLocks noChangeArrowheads="1"/>
            </p:cNvSpPr>
            <p:nvPr/>
          </p:nvSpPr>
          <p:spPr bwMode="auto">
            <a:xfrm>
              <a:off x="104681" y="1659511"/>
              <a:ext cx="470632" cy="376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i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Y</a:t>
              </a:r>
              <a:r>
                <a:rPr lang="en-US" sz="1600" i="1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Text Box 410"/>
            <p:cNvSpPr txBox="1">
              <a:spLocks noChangeArrowheads="1"/>
            </p:cNvSpPr>
            <p:nvPr/>
          </p:nvSpPr>
          <p:spPr bwMode="auto">
            <a:xfrm>
              <a:off x="0" y="911953"/>
              <a:ext cx="575313" cy="377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sz="1600" i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Y</a:t>
              </a:r>
              <a:r>
                <a:rPr lang="en-US" sz="1600" i="1" baseline="-250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</a:t>
              </a:r>
              <a:r>
                <a:rPr lang="en-US" sz="1600" i="1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+1</a:t>
              </a:r>
              <a:endPara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53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8325" y="322987"/>
            <a:ext cx="963295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</a:rPr>
              <a:t>Bresenham's</a:t>
            </a:r>
            <a:r>
              <a:rPr lang="en-US" sz="2000" dirty="0">
                <a:solidFill>
                  <a:srgbClr val="C00000"/>
                </a:solidFill>
              </a:rPr>
              <a:t> algorithm allows us to quickly determine which point should be "lit up" (selected) when drawing a line. This algorithm efficiently calculates the pixels that form a straight line by evaluating the closest pixel to the theoretical line, minimizing computational complexity.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08550" y="1777659"/>
            <a:ext cx="5781675" cy="4624705"/>
          </a:xfrm>
          <a:prstGeom prst="rect">
            <a:avLst/>
          </a:prstGeom>
          <a:noFill/>
        </p:spPr>
      </p:sp>
      <p:sp>
        <p:nvSpPr>
          <p:cNvPr id="70" name="Rectangle 69"/>
          <p:cNvSpPr>
            <a:spLocks noChangeArrowheads="1"/>
          </p:cNvSpPr>
          <p:nvPr/>
        </p:nvSpPr>
        <p:spPr bwMode="auto">
          <a:xfrm>
            <a:off x="6102350" y="4420212"/>
            <a:ext cx="1235075" cy="12096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>
            <a:solidFill>
              <a:schemeClr val="bg1">
                <a:lumMod val="50000"/>
                <a:lumOff val="0"/>
              </a:scheme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71" name="Rectangle 70"/>
          <p:cNvSpPr>
            <a:spLocks noChangeArrowheads="1"/>
          </p:cNvSpPr>
          <p:nvPr/>
        </p:nvSpPr>
        <p:spPr bwMode="auto">
          <a:xfrm>
            <a:off x="7337425" y="4419894"/>
            <a:ext cx="1235075" cy="12096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  <a:lumOff val="0"/>
              </a:scheme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8572500" y="4419894"/>
            <a:ext cx="1234440" cy="1209675"/>
          </a:xfrm>
          <a:prstGeom prst="rect">
            <a:avLst/>
          </a:prstGeom>
          <a:solidFill>
            <a:srgbClr val="FFFFFF"/>
          </a:solidFill>
          <a:ln w="3175">
            <a:solidFill>
              <a:schemeClr val="bg1">
                <a:lumMod val="50000"/>
                <a:lumOff val="0"/>
              </a:scheme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73" name="Rectangle 72"/>
          <p:cNvSpPr>
            <a:spLocks noChangeArrowheads="1"/>
          </p:cNvSpPr>
          <p:nvPr/>
        </p:nvSpPr>
        <p:spPr bwMode="auto">
          <a:xfrm>
            <a:off x="6103620" y="3210219"/>
            <a:ext cx="1233805" cy="1209675"/>
          </a:xfrm>
          <a:prstGeom prst="rect">
            <a:avLst/>
          </a:prstGeom>
          <a:solidFill>
            <a:srgbClr val="FFFFFF"/>
          </a:solidFill>
          <a:ln w="3175">
            <a:solidFill>
              <a:schemeClr val="bg1">
                <a:lumMod val="50000"/>
                <a:lumOff val="0"/>
              </a:scheme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74" name="Rectangle 73"/>
          <p:cNvSpPr>
            <a:spLocks noChangeArrowheads="1"/>
          </p:cNvSpPr>
          <p:nvPr/>
        </p:nvSpPr>
        <p:spPr bwMode="auto">
          <a:xfrm>
            <a:off x="8572500" y="3210219"/>
            <a:ext cx="1233805" cy="12096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bg1">
                <a:lumMod val="50000"/>
                <a:lumOff val="0"/>
              </a:scheme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75" name="Rectangle 74"/>
          <p:cNvSpPr>
            <a:spLocks noChangeArrowheads="1"/>
          </p:cNvSpPr>
          <p:nvPr/>
        </p:nvSpPr>
        <p:spPr bwMode="auto">
          <a:xfrm>
            <a:off x="7338695" y="3210219"/>
            <a:ext cx="1233805" cy="1209675"/>
          </a:xfrm>
          <a:prstGeom prst="rect">
            <a:avLst/>
          </a:prstGeom>
          <a:solidFill>
            <a:srgbClr val="FFFFFF"/>
          </a:solidFill>
          <a:ln w="3175">
            <a:solidFill>
              <a:schemeClr val="bg1">
                <a:lumMod val="50000"/>
                <a:lumOff val="0"/>
              </a:scheme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76" name="Rectangle 75"/>
          <p:cNvSpPr>
            <a:spLocks noChangeArrowheads="1"/>
          </p:cNvSpPr>
          <p:nvPr/>
        </p:nvSpPr>
        <p:spPr bwMode="auto">
          <a:xfrm>
            <a:off x="6103620" y="2000544"/>
            <a:ext cx="1233805" cy="1209675"/>
          </a:xfrm>
          <a:prstGeom prst="rect">
            <a:avLst/>
          </a:prstGeom>
          <a:solidFill>
            <a:srgbClr val="FFFFFF"/>
          </a:solidFill>
          <a:ln w="3175">
            <a:solidFill>
              <a:schemeClr val="bg1">
                <a:lumMod val="50000"/>
                <a:lumOff val="0"/>
              </a:scheme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77" name="Rectangle 76"/>
          <p:cNvSpPr>
            <a:spLocks noChangeArrowheads="1"/>
          </p:cNvSpPr>
          <p:nvPr/>
        </p:nvSpPr>
        <p:spPr bwMode="auto">
          <a:xfrm>
            <a:off x="7337425" y="2000544"/>
            <a:ext cx="1236980" cy="1209675"/>
          </a:xfrm>
          <a:prstGeom prst="rect">
            <a:avLst/>
          </a:prstGeom>
          <a:solidFill>
            <a:srgbClr val="FFFFFF"/>
          </a:solidFill>
          <a:ln w="3175">
            <a:solidFill>
              <a:schemeClr val="bg1">
                <a:lumMod val="50000"/>
                <a:lumOff val="0"/>
              </a:scheme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78" name="Rectangle 77"/>
          <p:cNvSpPr>
            <a:spLocks noChangeArrowheads="1"/>
          </p:cNvSpPr>
          <p:nvPr/>
        </p:nvSpPr>
        <p:spPr bwMode="auto">
          <a:xfrm>
            <a:off x="8574405" y="2000544"/>
            <a:ext cx="1232535" cy="1209675"/>
          </a:xfrm>
          <a:prstGeom prst="rect">
            <a:avLst/>
          </a:prstGeom>
          <a:solidFill>
            <a:srgbClr val="FFFFFF"/>
          </a:solidFill>
          <a:ln w="3175">
            <a:solidFill>
              <a:schemeClr val="bg1">
                <a:lumMod val="50000"/>
                <a:lumOff val="0"/>
              </a:schemeClr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cxnSp>
        <p:nvCxnSpPr>
          <p:cNvPr id="79" name="AutoShape 425"/>
          <p:cNvCxnSpPr>
            <a:cxnSpLocks noChangeShapeType="1"/>
          </p:cNvCxnSpPr>
          <p:nvPr/>
        </p:nvCxnSpPr>
        <p:spPr bwMode="auto">
          <a:xfrm flipV="1">
            <a:off x="5860732" y="3845882"/>
            <a:ext cx="4400868" cy="167454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0" name="Text Box 426"/>
          <p:cNvSpPr txBox="1">
            <a:spLocks noChangeArrowheads="1"/>
          </p:cNvSpPr>
          <p:nvPr/>
        </p:nvSpPr>
        <p:spPr bwMode="auto">
          <a:xfrm>
            <a:off x="6509385" y="5629569"/>
            <a:ext cx="373380" cy="353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600" i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1" name="Text Box 427"/>
          <p:cNvSpPr txBox="1">
            <a:spLocks noChangeArrowheads="1"/>
          </p:cNvSpPr>
          <p:nvPr/>
        </p:nvSpPr>
        <p:spPr bwMode="auto">
          <a:xfrm>
            <a:off x="7639050" y="5629569"/>
            <a:ext cx="611505" cy="404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1600" i="1" baseline="-25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6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+1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2" name="Text Box 428"/>
          <p:cNvSpPr txBox="1">
            <a:spLocks noChangeArrowheads="1"/>
          </p:cNvSpPr>
          <p:nvPr/>
        </p:nvSpPr>
        <p:spPr bwMode="auto">
          <a:xfrm>
            <a:off x="5785536" y="4726150"/>
            <a:ext cx="217169" cy="307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600" i="1" baseline="-25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3" name="Text Box 429"/>
          <p:cNvSpPr txBox="1">
            <a:spLocks noChangeArrowheads="1"/>
          </p:cNvSpPr>
          <p:nvPr/>
        </p:nvSpPr>
        <p:spPr bwMode="auto">
          <a:xfrm>
            <a:off x="5527040" y="3506129"/>
            <a:ext cx="614045" cy="438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6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1600" i="1" baseline="-25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16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+1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84" name="AutoShape 431"/>
          <p:cNvCxnSpPr>
            <a:cxnSpLocks noChangeShapeType="1"/>
          </p:cNvCxnSpPr>
          <p:nvPr/>
        </p:nvCxnSpPr>
        <p:spPr bwMode="auto">
          <a:xfrm flipH="1">
            <a:off x="6721475" y="1815124"/>
            <a:ext cx="1270" cy="3898265"/>
          </a:xfrm>
          <a:prstGeom prst="straightConnector1">
            <a:avLst/>
          </a:prstGeom>
          <a:noFill/>
          <a:ln w="3175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5" name="AutoShape 433"/>
          <p:cNvCxnSpPr>
            <a:cxnSpLocks noChangeShapeType="1"/>
          </p:cNvCxnSpPr>
          <p:nvPr/>
        </p:nvCxnSpPr>
        <p:spPr bwMode="auto">
          <a:xfrm flipH="1">
            <a:off x="7957820" y="1815124"/>
            <a:ext cx="635" cy="3898265"/>
          </a:xfrm>
          <a:prstGeom prst="straightConnector1">
            <a:avLst/>
          </a:prstGeom>
          <a:noFill/>
          <a:ln w="3175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6" name="AutoShape 434"/>
          <p:cNvCxnSpPr>
            <a:cxnSpLocks noChangeShapeType="1"/>
          </p:cNvCxnSpPr>
          <p:nvPr/>
        </p:nvCxnSpPr>
        <p:spPr bwMode="auto">
          <a:xfrm flipH="1">
            <a:off x="9193530" y="1815124"/>
            <a:ext cx="1270" cy="3898265"/>
          </a:xfrm>
          <a:prstGeom prst="straightConnector1">
            <a:avLst/>
          </a:prstGeom>
          <a:noFill/>
          <a:ln w="3175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7" name="AutoShape 435"/>
          <p:cNvCxnSpPr>
            <a:cxnSpLocks noChangeShapeType="1"/>
          </p:cNvCxnSpPr>
          <p:nvPr/>
        </p:nvCxnSpPr>
        <p:spPr bwMode="auto">
          <a:xfrm>
            <a:off x="5919470" y="2605699"/>
            <a:ext cx="4199890" cy="635"/>
          </a:xfrm>
          <a:prstGeom prst="straightConnector1">
            <a:avLst/>
          </a:prstGeom>
          <a:noFill/>
          <a:ln w="3175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8" name="AutoShape 437"/>
          <p:cNvCxnSpPr>
            <a:cxnSpLocks noChangeShapeType="1"/>
          </p:cNvCxnSpPr>
          <p:nvPr/>
        </p:nvCxnSpPr>
        <p:spPr bwMode="auto">
          <a:xfrm>
            <a:off x="5932170" y="3812834"/>
            <a:ext cx="4302760" cy="1270"/>
          </a:xfrm>
          <a:prstGeom prst="straightConnector1">
            <a:avLst/>
          </a:prstGeom>
          <a:noFill/>
          <a:ln w="3175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9" name="AutoShape 438"/>
          <p:cNvCxnSpPr>
            <a:cxnSpLocks noChangeShapeType="1"/>
          </p:cNvCxnSpPr>
          <p:nvPr/>
        </p:nvCxnSpPr>
        <p:spPr bwMode="auto">
          <a:xfrm flipV="1">
            <a:off x="5945505" y="5018064"/>
            <a:ext cx="4173855" cy="2540"/>
          </a:xfrm>
          <a:prstGeom prst="straightConnector1">
            <a:avLst/>
          </a:prstGeom>
          <a:noFill/>
          <a:ln w="3175">
            <a:solidFill>
              <a:srgbClr val="FF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6" name="Oval 135"/>
          <p:cNvSpPr>
            <a:spLocks noChangeArrowheads="1"/>
          </p:cNvSpPr>
          <p:nvPr/>
        </p:nvSpPr>
        <p:spPr bwMode="auto">
          <a:xfrm>
            <a:off x="7917815" y="4980599"/>
            <a:ext cx="76200" cy="76835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137" name="Oval 136"/>
          <p:cNvSpPr>
            <a:spLocks noChangeArrowheads="1"/>
          </p:cNvSpPr>
          <p:nvPr/>
        </p:nvSpPr>
        <p:spPr bwMode="auto">
          <a:xfrm>
            <a:off x="9156065" y="3774734"/>
            <a:ext cx="76200" cy="762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cxnSp>
        <p:nvCxnSpPr>
          <p:cNvPr id="138" name="AutoShape 445"/>
          <p:cNvCxnSpPr>
            <a:cxnSpLocks noChangeShapeType="1"/>
          </p:cNvCxnSpPr>
          <p:nvPr/>
        </p:nvCxnSpPr>
        <p:spPr bwMode="auto">
          <a:xfrm>
            <a:off x="6526530" y="5026637"/>
            <a:ext cx="0" cy="168275"/>
          </a:xfrm>
          <a:prstGeom prst="straightConnector1">
            <a:avLst/>
          </a:prstGeom>
          <a:noFill/>
          <a:ln w="19050">
            <a:solidFill>
              <a:srgbClr val="C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9" name="AutoShape 446"/>
          <p:cNvCxnSpPr>
            <a:cxnSpLocks noChangeShapeType="1"/>
          </p:cNvCxnSpPr>
          <p:nvPr/>
        </p:nvCxnSpPr>
        <p:spPr bwMode="auto">
          <a:xfrm flipH="1">
            <a:off x="6469380" y="5196182"/>
            <a:ext cx="1548369" cy="0"/>
          </a:xfrm>
          <a:prstGeom prst="straightConnector1">
            <a:avLst/>
          </a:prstGeom>
          <a:noFill/>
          <a:ln w="0">
            <a:solidFill>
              <a:schemeClr val="tx1">
                <a:lumMod val="100000"/>
                <a:lumOff val="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0" name="Oval 139"/>
          <p:cNvSpPr>
            <a:spLocks noChangeArrowheads="1"/>
          </p:cNvSpPr>
          <p:nvPr/>
        </p:nvSpPr>
        <p:spPr bwMode="auto">
          <a:xfrm>
            <a:off x="6679565" y="5157447"/>
            <a:ext cx="76200" cy="76200"/>
          </a:xfrm>
          <a:prstGeom prst="ellipse">
            <a:avLst/>
          </a:prstGeom>
          <a:solidFill>
            <a:schemeClr val="tx1">
              <a:lumMod val="100000"/>
              <a:lumOff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sp>
        <p:nvSpPr>
          <p:cNvPr id="141" name="Text Box 448"/>
          <p:cNvSpPr txBox="1">
            <a:spLocks noChangeArrowheads="1"/>
          </p:cNvSpPr>
          <p:nvPr/>
        </p:nvSpPr>
        <p:spPr bwMode="auto">
          <a:xfrm>
            <a:off x="5785543" y="5071222"/>
            <a:ext cx="595513" cy="20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400" b="1" i="1" dirty="0" smtClean="0">
                <a:solidFill>
                  <a:srgbClr val="C00000"/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1100" b="1" i="1" dirty="0" smtClean="0">
                <a:solidFill>
                  <a:srgbClr val="C00000"/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i="1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K-</a:t>
            </a:r>
            <a:r>
              <a:rPr lang="en-US" sz="1100" b="1" i="1" dirty="0">
                <a:solidFill>
                  <a:schemeClr val="accent6">
                    <a:lumMod val="75000"/>
                  </a:schemeClr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0.5</a:t>
            </a:r>
            <a:endParaRPr lang="en-US" sz="1100" b="1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5016" y="1730352"/>
            <a:ext cx="4745039" cy="4582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ka-GE" sz="2000" b="1" dirty="0">
                <a:solidFill>
                  <a:srgbClr val="C00000"/>
                </a:solidFill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ka-GE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K-</a:t>
            </a:r>
            <a:r>
              <a:rPr lang="ka-GE" dirty="0">
                <a:solidFill>
                  <a:schemeClr val="accent6">
                    <a:lumMod val="75000"/>
                  </a:schemeClr>
                </a:solidFill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0.5</a:t>
            </a:r>
            <a:r>
              <a:rPr lang="ka-GE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a-GE" dirty="0" smtClean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smtClean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initial value for e</a:t>
            </a:r>
            <a:r>
              <a:rPr lang="ka-GE" dirty="0" smtClean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ka-GE" sz="2000" b="1" dirty="0">
                <a:solidFill>
                  <a:srgbClr val="C00000"/>
                </a:solidFill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ka-GE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ka-GE" sz="2000" b="1" dirty="0">
                <a:solidFill>
                  <a:srgbClr val="C00000"/>
                </a:solidFill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ka-GE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+ K ( </a:t>
            </a:r>
            <a:r>
              <a:rPr lang="en-US" dirty="0" smtClean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ka-GE" dirty="0" smtClean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a-GE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e&lt;0 )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a-GE" sz="2000" b="1" dirty="0">
                <a:solidFill>
                  <a:srgbClr val="C00000"/>
                </a:solidFill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 </a:t>
            </a:r>
            <a:r>
              <a:rPr lang="ka-GE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ka-GE" sz="2000" b="1" dirty="0">
                <a:solidFill>
                  <a:srgbClr val="C00000"/>
                </a:solidFill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ka-GE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-1 </a:t>
            </a:r>
            <a:r>
              <a:rPr lang="ka-GE" dirty="0" smtClean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dirty="0" smtClean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if</a:t>
            </a:r>
            <a:r>
              <a:rPr lang="ka-GE" dirty="0" smtClean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a-GE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e&gt;0) </a:t>
            </a:r>
            <a:r>
              <a:rPr lang="en-US" dirty="0" smtClean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ka-GE" dirty="0" smtClean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ka-GE" b="1" dirty="0">
                <a:solidFill>
                  <a:srgbClr val="FF0000"/>
                </a:solidFill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Y=Y+1</a:t>
            </a:r>
            <a:endParaRPr lang="en-US" sz="12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/>
              <a:t>In other words, the decision about which pixel will be "lit up" for the next X is made based on the sign of the value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 smtClean="0"/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dirty="0"/>
              <a:t>To optimize the calculation, let's switch to </a:t>
            </a:r>
            <a:r>
              <a:rPr lang="en-US" dirty="0" smtClean="0"/>
              <a:t>integers</a:t>
            </a:r>
            <a:r>
              <a:rPr lang="en-US" dirty="0" smtClean="0">
                <a:solidFill>
                  <a:srgbClr val="C00000"/>
                </a:solidFill>
              </a:rPr>
              <a:t>*</a:t>
            </a:r>
            <a:r>
              <a:rPr lang="en-US" dirty="0" smtClean="0"/>
              <a:t>. </a:t>
            </a:r>
            <a:r>
              <a:rPr lang="en-US" dirty="0"/>
              <a:t>To do this, we multiply all the equations </a:t>
            </a:r>
            <a:r>
              <a:rPr lang="en-US" dirty="0" smtClean="0"/>
              <a:t> by </a:t>
            </a:r>
            <a:r>
              <a:rPr lang="ka-GE" dirty="0" smtClean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ka-GE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</a:t>
            </a:r>
            <a:r>
              <a:rPr lang="ka-GE" sz="2000" i="1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a-GE" sz="2000" i="1" dirty="0" smtClean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ΔX: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ka-GE" sz="2000" dirty="0">
                <a:solidFill>
                  <a:srgbClr val="C00000"/>
                </a:solidFill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ka-GE" sz="20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K*2 *ΔX- 0.5*2* ΔX = 	2* ΔY- ΔX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ka-GE" sz="2000" dirty="0">
                <a:solidFill>
                  <a:srgbClr val="C00000"/>
                </a:solidFill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ka-GE" sz="20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ka-GE" sz="2000" dirty="0">
                <a:solidFill>
                  <a:srgbClr val="C00000"/>
                </a:solidFill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ka-GE" sz="20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+K*2* ΔX = 	</a:t>
            </a:r>
            <a:r>
              <a:rPr lang="ka-GE" sz="2000" dirty="0" smtClean="0">
                <a:solidFill>
                  <a:srgbClr val="C00000"/>
                </a:solidFill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ka-GE" sz="2000" dirty="0" smtClean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+2</a:t>
            </a:r>
            <a:r>
              <a:rPr lang="ka-GE" sz="20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 ΔY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ka-GE" sz="2000" dirty="0">
                <a:solidFill>
                  <a:srgbClr val="C00000"/>
                </a:solidFill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ka-GE" sz="20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ka-GE" sz="2000" dirty="0">
                <a:solidFill>
                  <a:srgbClr val="C00000"/>
                </a:solidFill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ka-GE" sz="20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-1*2* ΔX = 	</a:t>
            </a:r>
            <a:r>
              <a:rPr lang="ka-GE" sz="2000" dirty="0" smtClean="0">
                <a:solidFill>
                  <a:srgbClr val="C00000"/>
                </a:solidFill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ka-GE" sz="2000" dirty="0" smtClean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-2</a:t>
            </a:r>
            <a:r>
              <a:rPr lang="ka-GE" sz="2000" dirty="0"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* ΔX</a:t>
            </a:r>
            <a:endParaRPr lang="en-US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3920" y="6404904"/>
            <a:ext cx="9707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*</a:t>
            </a:r>
            <a:r>
              <a:rPr lang="en-US" dirty="0" smtClean="0"/>
              <a:t> </a:t>
            </a:r>
            <a:r>
              <a:rPr lang="en-US" b="1" dirty="0" err="1" smtClean="0">
                <a:solidFill>
                  <a:schemeClr val="accent1">
                    <a:lumMod val="75000"/>
                  </a:schemeClr>
                </a:solidFill>
              </a:rPr>
              <a:t>Integerisation</a:t>
            </a:r>
            <a:r>
              <a:rPr lang="en-US" dirty="0" smtClean="0"/>
              <a:t>: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floating-point operations can be avoided by using integer arithmetic </a:t>
            </a:r>
            <a:r>
              <a:rPr lang="en-US" i="1" dirty="0" smtClean="0">
                <a:solidFill>
                  <a:schemeClr val="bg1">
                    <a:lumMod val="50000"/>
                  </a:schemeClr>
                </a:solidFill>
              </a:rPr>
              <a:t>resulting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in </a:t>
            </a:r>
            <a:r>
              <a:rPr lang="en-US" i="1" dirty="0" smtClean="0">
                <a:solidFill>
                  <a:schemeClr val="bg1">
                    <a:lumMod val="50000"/>
                  </a:schemeClr>
                </a:solidFill>
              </a:rPr>
              <a:t>faster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and more efficient calculations</a:t>
            </a:r>
            <a:r>
              <a:rPr lang="en-US" i="1" dirty="0" smtClean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US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4" name="Text Box 448"/>
          <p:cNvSpPr txBox="1">
            <a:spLocks noChangeArrowheads="1"/>
          </p:cNvSpPr>
          <p:nvPr/>
        </p:nvSpPr>
        <p:spPr bwMode="auto">
          <a:xfrm>
            <a:off x="8189079" y="4777558"/>
            <a:ext cx="637302" cy="284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b="1" i="1" dirty="0" smtClean="0">
                <a:solidFill>
                  <a:srgbClr val="C00000"/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1100" b="1" i="1" dirty="0" smtClean="0">
                <a:solidFill>
                  <a:srgbClr val="C00000"/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i="1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US" sz="1200" b="1" i="1" dirty="0" err="1" smtClean="0">
                <a:solidFill>
                  <a:srgbClr val="C00000"/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1100" i="1" dirty="0" err="1" smtClean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+K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45" name="AutoShape 445"/>
          <p:cNvCxnSpPr>
            <a:cxnSpLocks noChangeShapeType="1"/>
          </p:cNvCxnSpPr>
          <p:nvPr/>
        </p:nvCxnSpPr>
        <p:spPr bwMode="auto">
          <a:xfrm>
            <a:off x="8047593" y="5026637"/>
            <a:ext cx="0" cy="168275"/>
          </a:xfrm>
          <a:prstGeom prst="straightConnector1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6" name="AutoShape 446"/>
          <p:cNvCxnSpPr>
            <a:cxnSpLocks noChangeShapeType="1"/>
          </p:cNvCxnSpPr>
          <p:nvPr/>
        </p:nvCxnSpPr>
        <p:spPr bwMode="auto">
          <a:xfrm flipH="1">
            <a:off x="7990443" y="5196182"/>
            <a:ext cx="242967" cy="0"/>
          </a:xfrm>
          <a:prstGeom prst="straightConnector1">
            <a:avLst/>
          </a:prstGeom>
          <a:noFill/>
          <a:ln w="0">
            <a:solidFill>
              <a:schemeClr val="tx1">
                <a:lumMod val="100000"/>
                <a:lumOff val="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7" name="Oval 146"/>
          <p:cNvSpPr>
            <a:spLocks noChangeArrowheads="1"/>
          </p:cNvSpPr>
          <p:nvPr/>
        </p:nvSpPr>
        <p:spPr bwMode="auto">
          <a:xfrm>
            <a:off x="7918767" y="4686741"/>
            <a:ext cx="76200" cy="76200"/>
          </a:xfrm>
          <a:prstGeom prst="ellipse">
            <a:avLst/>
          </a:prstGeom>
          <a:solidFill>
            <a:schemeClr val="tx1">
              <a:lumMod val="100000"/>
              <a:lumOff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/>
          </a:p>
        </p:txBody>
      </p:sp>
      <p:cxnSp>
        <p:nvCxnSpPr>
          <p:cNvPr id="148" name="AutoShape 446"/>
          <p:cNvCxnSpPr>
            <a:cxnSpLocks noChangeShapeType="1"/>
          </p:cNvCxnSpPr>
          <p:nvPr/>
        </p:nvCxnSpPr>
        <p:spPr bwMode="auto">
          <a:xfrm flipH="1">
            <a:off x="7944803" y="4718468"/>
            <a:ext cx="305752" cy="0"/>
          </a:xfrm>
          <a:prstGeom prst="straightConnector1">
            <a:avLst/>
          </a:prstGeom>
          <a:noFill/>
          <a:ln w="0">
            <a:solidFill>
              <a:schemeClr val="tx1">
                <a:lumMod val="100000"/>
                <a:lumOff val="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Connector 16"/>
          <p:cNvCxnSpPr/>
          <p:nvPr/>
        </p:nvCxnSpPr>
        <p:spPr>
          <a:xfrm>
            <a:off x="8117721" y="4718468"/>
            <a:ext cx="0" cy="479098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AutoShape 445"/>
          <p:cNvCxnSpPr>
            <a:cxnSpLocks noChangeShapeType="1"/>
          </p:cNvCxnSpPr>
          <p:nvPr/>
        </p:nvCxnSpPr>
        <p:spPr bwMode="auto">
          <a:xfrm flipV="1">
            <a:off x="8223409" y="4718468"/>
            <a:ext cx="0" cy="308169"/>
          </a:xfrm>
          <a:prstGeom prst="straightConnector1">
            <a:avLst/>
          </a:prstGeom>
          <a:noFill/>
          <a:ln w="19050">
            <a:solidFill>
              <a:srgbClr val="C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1" name="Straight Connector 150"/>
          <p:cNvCxnSpPr/>
          <p:nvPr/>
        </p:nvCxnSpPr>
        <p:spPr>
          <a:xfrm>
            <a:off x="6326028" y="4538966"/>
            <a:ext cx="0" cy="479098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408896" y="4538966"/>
            <a:ext cx="0" cy="655946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  <a:prstDash val="solid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AutoShape 446"/>
          <p:cNvCxnSpPr>
            <a:cxnSpLocks noChangeShapeType="1"/>
          </p:cNvCxnSpPr>
          <p:nvPr/>
        </p:nvCxnSpPr>
        <p:spPr bwMode="auto">
          <a:xfrm flipH="1">
            <a:off x="6294121" y="4538966"/>
            <a:ext cx="215264" cy="0"/>
          </a:xfrm>
          <a:prstGeom prst="straightConnector1">
            <a:avLst/>
          </a:prstGeom>
          <a:noFill/>
          <a:ln w="0">
            <a:solidFill>
              <a:schemeClr val="tx1">
                <a:lumMod val="100000"/>
                <a:lumOff val="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" name="Text Box 448"/>
          <p:cNvSpPr txBox="1">
            <a:spLocks noChangeArrowheads="1"/>
          </p:cNvSpPr>
          <p:nvPr/>
        </p:nvSpPr>
        <p:spPr bwMode="auto">
          <a:xfrm>
            <a:off x="6184601" y="4664687"/>
            <a:ext cx="160120" cy="20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100" b="1" i="1" dirty="0" smtClean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4" name="Text Box 448"/>
          <p:cNvSpPr txBox="1">
            <a:spLocks noChangeArrowheads="1"/>
          </p:cNvSpPr>
          <p:nvPr/>
        </p:nvSpPr>
        <p:spPr bwMode="auto">
          <a:xfrm>
            <a:off x="6422131" y="4681117"/>
            <a:ext cx="198856" cy="20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b="1" i="1" dirty="0" smtClean="0">
                <a:solidFill>
                  <a:schemeClr val="accent6">
                    <a:lumMod val="75000"/>
                  </a:schemeClr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0.5</a:t>
            </a:r>
            <a:endParaRPr lang="en-US" sz="1200" b="1" i="1" dirty="0">
              <a:solidFill>
                <a:schemeClr val="accent6">
                  <a:lumMod val="75000"/>
                </a:schemeClr>
              </a:solidFill>
              <a:effectLst/>
              <a:latin typeface="Sylfaen" panose="010A050205030603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5" name="AutoShape 445"/>
          <p:cNvCxnSpPr>
            <a:cxnSpLocks noChangeShapeType="1"/>
          </p:cNvCxnSpPr>
          <p:nvPr/>
        </p:nvCxnSpPr>
        <p:spPr bwMode="auto">
          <a:xfrm flipV="1">
            <a:off x="8779669" y="3504665"/>
            <a:ext cx="0" cy="30816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headEnd/>
            <a:tailEnd type="arrow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8883015" y="3506950"/>
            <a:ext cx="0" cy="120967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AutoShape 446"/>
          <p:cNvCxnSpPr>
            <a:cxnSpLocks noChangeShapeType="1"/>
          </p:cNvCxnSpPr>
          <p:nvPr/>
        </p:nvCxnSpPr>
        <p:spPr bwMode="auto">
          <a:xfrm flipH="1">
            <a:off x="8751895" y="4720876"/>
            <a:ext cx="305752" cy="0"/>
          </a:xfrm>
          <a:prstGeom prst="straightConnector1">
            <a:avLst/>
          </a:prstGeom>
          <a:noFill/>
          <a:ln w="0">
            <a:solidFill>
              <a:schemeClr val="tx1">
                <a:lumMod val="100000"/>
                <a:lumOff val="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7" name="AutoShape 445"/>
          <p:cNvCxnSpPr>
            <a:cxnSpLocks noChangeShapeType="1"/>
          </p:cNvCxnSpPr>
          <p:nvPr/>
        </p:nvCxnSpPr>
        <p:spPr bwMode="auto">
          <a:xfrm>
            <a:off x="8993505" y="3812835"/>
            <a:ext cx="0" cy="903790"/>
          </a:xfrm>
          <a:prstGeom prst="straightConnector1">
            <a:avLst/>
          </a:prstGeom>
          <a:noFill/>
          <a:ln w="19050">
            <a:solidFill>
              <a:srgbClr val="C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8" name="Text Box 448"/>
          <p:cNvSpPr txBox="1">
            <a:spLocks noChangeArrowheads="1"/>
          </p:cNvSpPr>
          <p:nvPr/>
        </p:nvSpPr>
        <p:spPr bwMode="auto">
          <a:xfrm>
            <a:off x="8751895" y="4001679"/>
            <a:ext cx="198856" cy="206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b="1" i="1" dirty="0">
                <a:solidFill>
                  <a:schemeClr val="accent6">
                    <a:lumMod val="75000"/>
                  </a:schemeClr>
                </a:solidFill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en-US" sz="1200" b="1" i="1" dirty="0">
              <a:solidFill>
                <a:schemeClr val="accent6">
                  <a:lumMod val="75000"/>
                </a:schemeClr>
              </a:solidFill>
              <a:effectLst/>
              <a:latin typeface="Sylfaen" panose="010A05020503060303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9" name="AutoShape 446"/>
          <p:cNvCxnSpPr>
            <a:cxnSpLocks noChangeShapeType="1"/>
          </p:cNvCxnSpPr>
          <p:nvPr/>
        </p:nvCxnSpPr>
        <p:spPr bwMode="auto">
          <a:xfrm flipH="1">
            <a:off x="8673505" y="3501141"/>
            <a:ext cx="305752" cy="0"/>
          </a:xfrm>
          <a:prstGeom prst="straightConnector1">
            <a:avLst/>
          </a:prstGeom>
          <a:noFill/>
          <a:ln w="0">
            <a:solidFill>
              <a:schemeClr val="tx1">
                <a:lumMod val="100000"/>
                <a:lumOff val="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0" name="Text Box 448"/>
          <p:cNvSpPr txBox="1">
            <a:spLocks noChangeArrowheads="1"/>
          </p:cNvSpPr>
          <p:nvPr/>
        </p:nvSpPr>
        <p:spPr bwMode="auto">
          <a:xfrm>
            <a:off x="8949917" y="4338709"/>
            <a:ext cx="637302" cy="284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b="1" i="1" dirty="0" smtClean="0">
                <a:solidFill>
                  <a:srgbClr val="C00000"/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1100" b="1" i="1" dirty="0" smtClean="0">
                <a:solidFill>
                  <a:srgbClr val="C00000"/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i="1" dirty="0"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US" sz="1200" b="1" i="1" dirty="0" smtClean="0">
                <a:solidFill>
                  <a:srgbClr val="C00000"/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1100" i="1" dirty="0" smtClean="0">
                <a:solidFill>
                  <a:schemeClr val="accent6">
                    <a:lumMod val="75000"/>
                  </a:schemeClr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-1</a:t>
            </a:r>
            <a:endParaRPr lang="en-US" sz="1100" dirty="0">
              <a:solidFill>
                <a:schemeClr val="accent6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1" name="Text Box 448"/>
          <p:cNvSpPr txBox="1">
            <a:spLocks noChangeArrowheads="1"/>
          </p:cNvSpPr>
          <p:nvPr/>
        </p:nvSpPr>
        <p:spPr bwMode="auto">
          <a:xfrm>
            <a:off x="9156065" y="3507406"/>
            <a:ext cx="637302" cy="284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200" b="1" dirty="0" smtClean="0">
                <a:solidFill>
                  <a:srgbClr val="FF0000"/>
                </a:solidFill>
                <a:effectLst/>
                <a:latin typeface="Sylfaen" panose="010A05020503060303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Y=Y+1</a:t>
            </a:r>
            <a:endParaRPr lang="en-US" sz="11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88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390175" y="3377175"/>
            <a:ext cx="6115650" cy="941791"/>
          </a:xfrm>
        </p:spPr>
        <p:txBody>
          <a:bodyPr/>
          <a:lstStyle/>
          <a:p>
            <a:pPr algn="ctr"/>
            <a:r>
              <a:rPr lang="en-US" sz="3200" b="1" dirty="0" smtClean="0">
                <a:solidFill>
                  <a:schemeClr val="bg1">
                    <a:lumMod val="50000"/>
                  </a:schemeClr>
                </a:solidFill>
              </a:rPr>
              <a:t>Thank You!</a:t>
            </a:r>
            <a:endParaRPr lang="en-US" sz="32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694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5108</TotalTime>
  <Words>989</Words>
  <Application>Microsoft Office PowerPoint</Application>
  <PresentationFormat>Custom</PresentationFormat>
  <Paragraphs>129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Cambria Math</vt:lpstr>
      <vt:lpstr>DejaVu Sans</vt:lpstr>
      <vt:lpstr>Sylfaen</vt:lpstr>
      <vt:lpstr>Times New Roman</vt:lpstr>
      <vt:lpstr>Office Theme</vt:lpstr>
      <vt:lpstr>PowerPoint Presentation</vt:lpstr>
      <vt:lpstr>PowerPoint Presentation</vt:lpstr>
      <vt:lpstr>An example of rasterisation is converting a vector primitive into video memory. A computer screen is a raster device (composed of rows and columns of LEDs). The displayed image is read from graphic memory, where each pixel on the screen corresponds to a unique address with its own value. This value (bits) represents the pixel’s color. Thus, a vector primitive must be converted into an appropriate raster image.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Gia</dc:creator>
  <dc:description/>
  <cp:lastModifiedBy>gia</cp:lastModifiedBy>
  <cp:revision>297</cp:revision>
  <dcterms:created xsi:type="dcterms:W3CDTF">2020-03-23T22:11:02Z</dcterms:created>
  <dcterms:modified xsi:type="dcterms:W3CDTF">2025-03-19T00:28:39Z</dcterms:modified>
  <dc:language>en-US</dc:language>
</cp:coreProperties>
</file>
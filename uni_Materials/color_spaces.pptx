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Lst>
  <p:sldSz cx="10690225" cy="7562850"/>
  <p:notesSz cx="7772400" cy="10058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DejaVu Sans"/>
        <a:cs typeface="DejaVu Sans"/>
      </a:defRPr>
    </a:lvl5pPr>
    <a:lvl6pPr marL="2286000" algn="l" defTabSz="914400" rtl="0" eaLnBrk="1" latinLnBrk="0" hangingPunct="1">
      <a:defRPr kern="1200">
        <a:solidFill>
          <a:schemeClr val="tx1"/>
        </a:solidFill>
        <a:latin typeface="Arial" panose="020B0604020202020204" pitchFamily="34" charset="0"/>
        <a:ea typeface="DejaVu Sans"/>
        <a:cs typeface="DejaVu Sans"/>
      </a:defRPr>
    </a:lvl6pPr>
    <a:lvl7pPr marL="2743200" algn="l" defTabSz="914400" rtl="0" eaLnBrk="1" latinLnBrk="0" hangingPunct="1">
      <a:defRPr kern="1200">
        <a:solidFill>
          <a:schemeClr val="tx1"/>
        </a:solidFill>
        <a:latin typeface="Arial" panose="020B0604020202020204" pitchFamily="34" charset="0"/>
        <a:ea typeface="DejaVu Sans"/>
        <a:cs typeface="DejaVu Sans"/>
      </a:defRPr>
    </a:lvl7pPr>
    <a:lvl8pPr marL="3200400" algn="l" defTabSz="914400" rtl="0" eaLnBrk="1" latinLnBrk="0" hangingPunct="1">
      <a:defRPr kern="1200">
        <a:solidFill>
          <a:schemeClr val="tx1"/>
        </a:solidFill>
        <a:latin typeface="Arial" panose="020B0604020202020204" pitchFamily="34" charset="0"/>
        <a:ea typeface="DejaVu Sans"/>
        <a:cs typeface="DejaVu Sans"/>
      </a:defRPr>
    </a:lvl8pPr>
    <a:lvl9pPr marL="3657600" algn="l" defTabSz="914400" rtl="0" eaLnBrk="1" latinLnBrk="0" hangingPunct="1">
      <a:defRPr kern="1200">
        <a:solidFill>
          <a:schemeClr val="tx1"/>
        </a:solidFill>
        <a:latin typeface="Arial" panose="020B0604020202020204" pitchFamily="34" charset="0"/>
        <a:ea typeface="DejaVu Sans"/>
        <a:cs typeface="DejaVu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FFCC"/>
    <a:srgbClr val="F8C6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01" autoAdjust="0"/>
    <p:restoredTop sz="94660"/>
  </p:normalViewPr>
  <p:slideViewPr>
    <p:cSldViewPr snapToGrid="0">
      <p:cViewPr varScale="1">
        <p:scale>
          <a:sx n="80" d="100"/>
          <a:sy n="80" d="100"/>
        </p:scale>
        <p:origin x="3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pPr>
              <a:defRPr/>
            </a:pPr>
            <a:fld id="{291D161A-041C-4D1C-B884-5E12A18CDB1E}" type="datetimeFigureOut">
              <a:rPr lang="en-US"/>
              <a:pPr>
                <a:defRPr/>
              </a:pPr>
              <a:t>3/12/2025</a:t>
            </a:fld>
            <a:endParaRPr lang="en-US"/>
          </a:p>
        </p:txBody>
      </p:sp>
      <p:sp>
        <p:nvSpPr>
          <p:cNvPr id="4" name="Slide Image Placeholder 3"/>
          <p:cNvSpPr>
            <a:spLocks noGrp="1" noRot="1" noChangeAspect="1"/>
          </p:cNvSpPr>
          <p:nvPr>
            <p:ph type="sldImg" idx="2"/>
          </p:nvPr>
        </p:nvSpPr>
        <p:spPr>
          <a:xfrm>
            <a:off x="1487488" y="1257300"/>
            <a:ext cx="4797425" cy="3394075"/>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pPr>
              <a:defRPr/>
            </a:pPr>
            <a:fld id="{C98082B9-34CC-4F08-8E00-96788EDEA8A1}" type="slidenum">
              <a:rPr lang="en-US"/>
              <a:pPr>
                <a:defRPr/>
              </a:pPr>
              <a:t>‹#›</a:t>
            </a:fld>
            <a:endParaRPr lang="en-US"/>
          </a:p>
        </p:txBody>
      </p:sp>
    </p:spTree>
    <p:extLst>
      <p:ext uri="{BB962C8B-B14F-4D97-AF65-F5344CB8AC3E}">
        <p14:creationId xmlns:p14="http://schemas.microsoft.com/office/powerpoint/2010/main" val="3954214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900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32800" y="300600"/>
            <a:ext cx="9618840" cy="1261800"/>
          </a:xfrm>
          <a:prstGeom prst="rect">
            <a:avLst/>
          </a:prstGeom>
        </p:spPr>
        <p:txBody>
          <a:bodyPr/>
          <a:lstStyle/>
          <a:p>
            <a:endParaRPr lang="en-US"/>
          </a:p>
        </p:txBody>
      </p:sp>
      <p:sp>
        <p:nvSpPr>
          <p:cNvPr id="3" name="PlaceHolder 2"/>
          <p:cNvSpPr>
            <a:spLocks noGrp="1"/>
          </p:cNvSpPr>
          <p:nvPr>
            <p:ph type="subTitle"/>
          </p:nvPr>
        </p:nvSpPr>
        <p:spPr>
          <a:xfrm>
            <a:off x="533520" y="1768680"/>
            <a:ext cx="4694040" cy="4385160"/>
          </a:xfrm>
          <a:prstGeom prst="rect">
            <a:avLst/>
          </a:prstGeom>
        </p:spPr>
        <p:txBody>
          <a:bodyPr anchor="ctr">
            <a:noAutofit/>
          </a:bodyPr>
          <a:lstStyle/>
          <a:p>
            <a:endParaRPr lang="en-US"/>
          </a:p>
        </p:txBody>
      </p:sp>
    </p:spTree>
    <p:extLst>
      <p:ext uri="{BB962C8B-B14F-4D97-AF65-F5344CB8AC3E}">
        <p14:creationId xmlns:p14="http://schemas.microsoft.com/office/powerpoint/2010/main" val="802599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32800" y="300600"/>
            <a:ext cx="9618840" cy="1261800"/>
          </a:xfrm>
          <a:prstGeom prst="rect">
            <a:avLst/>
          </a:prstGeom>
        </p:spPr>
        <p:txBody>
          <a:bodyPr/>
          <a:lstStyle/>
          <a:p>
            <a:endParaRPr lang="en-US"/>
          </a:p>
        </p:txBody>
      </p:sp>
      <p:sp>
        <p:nvSpPr>
          <p:cNvPr id="5" name="PlaceHolder 2"/>
          <p:cNvSpPr>
            <a:spLocks noGrp="1"/>
          </p:cNvSpPr>
          <p:nvPr>
            <p:ph type="body"/>
          </p:nvPr>
        </p:nvSpPr>
        <p:spPr>
          <a:xfrm>
            <a:off x="533520" y="1768680"/>
            <a:ext cx="4694040" cy="4385160"/>
          </a:xfrm>
          <a:prstGeom prst="rect">
            <a:avLst/>
          </a:prstGeom>
        </p:spPr>
        <p:txBody>
          <a:bodyPr/>
          <a:lstStyle/>
          <a:p>
            <a:endParaRPr lang="en-US"/>
          </a:p>
        </p:txBody>
      </p:sp>
    </p:spTree>
    <p:extLst>
      <p:ext uri="{BB962C8B-B14F-4D97-AF65-F5344CB8AC3E}">
        <p14:creationId xmlns:p14="http://schemas.microsoft.com/office/powerpoint/2010/main" val="2451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32800" y="300600"/>
            <a:ext cx="9618840" cy="1261800"/>
          </a:xfrm>
          <a:prstGeom prst="rect">
            <a:avLst/>
          </a:prstGeom>
        </p:spPr>
        <p:txBody>
          <a:bodyPr/>
          <a:lstStyle/>
          <a:p>
            <a:endParaRPr lang="en-US"/>
          </a:p>
        </p:txBody>
      </p:sp>
      <p:sp>
        <p:nvSpPr>
          <p:cNvPr id="7" name="PlaceHolder 2"/>
          <p:cNvSpPr>
            <a:spLocks noGrp="1"/>
          </p:cNvSpPr>
          <p:nvPr>
            <p:ph type="body"/>
          </p:nvPr>
        </p:nvSpPr>
        <p:spPr>
          <a:xfrm>
            <a:off x="533520" y="1768680"/>
            <a:ext cx="2290680" cy="4385160"/>
          </a:xfrm>
          <a:prstGeom prst="rect">
            <a:avLst/>
          </a:prstGeom>
        </p:spPr>
        <p:txBody>
          <a:bodyPr/>
          <a:lstStyle/>
          <a:p>
            <a:endParaRPr lang="en-US"/>
          </a:p>
        </p:txBody>
      </p:sp>
      <p:sp>
        <p:nvSpPr>
          <p:cNvPr id="8" name="PlaceHolder 3"/>
          <p:cNvSpPr>
            <a:spLocks noGrp="1"/>
          </p:cNvSpPr>
          <p:nvPr>
            <p:ph type="body"/>
          </p:nvPr>
        </p:nvSpPr>
        <p:spPr>
          <a:xfrm>
            <a:off x="2939040" y="1768680"/>
            <a:ext cx="2290680" cy="4385160"/>
          </a:xfrm>
          <a:prstGeom prst="rect">
            <a:avLst/>
          </a:prstGeom>
        </p:spPr>
        <p:txBody>
          <a:bodyPr/>
          <a:lstStyle/>
          <a:p>
            <a:endParaRPr lang="en-US"/>
          </a:p>
        </p:txBody>
      </p:sp>
    </p:spTree>
    <p:extLst>
      <p:ext uri="{BB962C8B-B14F-4D97-AF65-F5344CB8AC3E}">
        <p14:creationId xmlns:p14="http://schemas.microsoft.com/office/powerpoint/2010/main" val="2041613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32800" y="300600"/>
            <a:ext cx="9618840" cy="1261800"/>
          </a:xfrm>
          <a:prstGeom prst="rect">
            <a:avLst/>
          </a:prstGeom>
        </p:spPr>
        <p:txBody>
          <a:bodyPr/>
          <a:lstStyle/>
          <a:p>
            <a:endParaRPr lang="en-US"/>
          </a:p>
        </p:txBody>
      </p:sp>
    </p:spTree>
    <p:extLst>
      <p:ext uri="{BB962C8B-B14F-4D97-AF65-F5344CB8AC3E}">
        <p14:creationId xmlns:p14="http://schemas.microsoft.com/office/powerpoint/2010/main" val="240520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32800" y="300600"/>
            <a:ext cx="9618840" cy="5850360"/>
          </a:xfrm>
          <a:prstGeom prst="rect">
            <a:avLst/>
          </a:prstGeom>
        </p:spPr>
        <p:txBody>
          <a:bodyPr anchor="ctr">
            <a:noAutofit/>
          </a:bodyPr>
          <a:lstStyle/>
          <a:p>
            <a:endParaRPr lang="en-US"/>
          </a:p>
        </p:txBody>
      </p:sp>
    </p:spTree>
    <p:extLst>
      <p:ext uri="{BB962C8B-B14F-4D97-AF65-F5344CB8AC3E}">
        <p14:creationId xmlns:p14="http://schemas.microsoft.com/office/powerpoint/2010/main" val="1485551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32800" y="300600"/>
            <a:ext cx="9618840" cy="1261800"/>
          </a:xfrm>
          <a:prstGeom prst="rect">
            <a:avLst/>
          </a:prstGeom>
        </p:spPr>
        <p:txBody>
          <a:bodyPr/>
          <a:lstStyle/>
          <a:p>
            <a:endParaRPr lang="en-US"/>
          </a:p>
        </p:txBody>
      </p:sp>
      <p:sp>
        <p:nvSpPr>
          <p:cNvPr id="12" name="PlaceHolder 2"/>
          <p:cNvSpPr>
            <a:spLocks noGrp="1"/>
          </p:cNvSpPr>
          <p:nvPr>
            <p:ph type="body"/>
          </p:nvPr>
        </p:nvSpPr>
        <p:spPr>
          <a:xfrm>
            <a:off x="533520" y="1768680"/>
            <a:ext cx="2290680" cy="2091600"/>
          </a:xfrm>
          <a:prstGeom prst="rect">
            <a:avLst/>
          </a:prstGeom>
        </p:spPr>
        <p:txBody>
          <a:bodyPr/>
          <a:lstStyle/>
          <a:p>
            <a:endParaRPr lang="en-US"/>
          </a:p>
        </p:txBody>
      </p:sp>
      <p:sp>
        <p:nvSpPr>
          <p:cNvPr id="13" name="PlaceHolder 3"/>
          <p:cNvSpPr>
            <a:spLocks noGrp="1"/>
          </p:cNvSpPr>
          <p:nvPr>
            <p:ph type="body"/>
          </p:nvPr>
        </p:nvSpPr>
        <p:spPr>
          <a:xfrm>
            <a:off x="2939040" y="1768680"/>
            <a:ext cx="2290680" cy="4385160"/>
          </a:xfrm>
          <a:prstGeom prst="rect">
            <a:avLst/>
          </a:prstGeom>
        </p:spPr>
        <p:txBody>
          <a:bodyPr/>
          <a:lstStyle/>
          <a:p>
            <a:endParaRPr lang="en-US"/>
          </a:p>
        </p:txBody>
      </p:sp>
      <p:sp>
        <p:nvSpPr>
          <p:cNvPr id="14" name="PlaceHolder 4"/>
          <p:cNvSpPr>
            <a:spLocks noGrp="1"/>
          </p:cNvSpPr>
          <p:nvPr>
            <p:ph type="body"/>
          </p:nvPr>
        </p:nvSpPr>
        <p:spPr>
          <a:xfrm>
            <a:off x="533520" y="4059360"/>
            <a:ext cx="2290680" cy="2091600"/>
          </a:xfrm>
          <a:prstGeom prst="rect">
            <a:avLst/>
          </a:prstGeom>
        </p:spPr>
        <p:txBody>
          <a:bodyPr/>
          <a:lstStyle/>
          <a:p>
            <a:endParaRPr lang="en-US"/>
          </a:p>
        </p:txBody>
      </p:sp>
    </p:spTree>
    <p:extLst>
      <p:ext uri="{BB962C8B-B14F-4D97-AF65-F5344CB8AC3E}">
        <p14:creationId xmlns:p14="http://schemas.microsoft.com/office/powerpoint/2010/main" val="2205661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32800" y="300600"/>
            <a:ext cx="9618840" cy="1261800"/>
          </a:xfrm>
          <a:prstGeom prst="rect">
            <a:avLst/>
          </a:prstGeom>
        </p:spPr>
        <p:txBody>
          <a:bodyPr/>
          <a:lstStyle/>
          <a:p>
            <a:endParaRPr lang="en-US"/>
          </a:p>
        </p:txBody>
      </p:sp>
      <p:sp>
        <p:nvSpPr>
          <p:cNvPr id="16" name="PlaceHolder 2"/>
          <p:cNvSpPr>
            <a:spLocks noGrp="1"/>
          </p:cNvSpPr>
          <p:nvPr>
            <p:ph type="body"/>
          </p:nvPr>
        </p:nvSpPr>
        <p:spPr>
          <a:xfrm>
            <a:off x="533520" y="1768680"/>
            <a:ext cx="2290680" cy="4385160"/>
          </a:xfrm>
          <a:prstGeom prst="rect">
            <a:avLst/>
          </a:prstGeom>
        </p:spPr>
        <p:txBody>
          <a:bodyPr/>
          <a:lstStyle/>
          <a:p>
            <a:endParaRPr lang="en-US"/>
          </a:p>
        </p:txBody>
      </p:sp>
      <p:sp>
        <p:nvSpPr>
          <p:cNvPr id="17" name="PlaceHolder 3"/>
          <p:cNvSpPr>
            <a:spLocks noGrp="1"/>
          </p:cNvSpPr>
          <p:nvPr>
            <p:ph type="body"/>
          </p:nvPr>
        </p:nvSpPr>
        <p:spPr>
          <a:xfrm>
            <a:off x="2939040" y="1768680"/>
            <a:ext cx="2290680" cy="2091600"/>
          </a:xfrm>
          <a:prstGeom prst="rect">
            <a:avLst/>
          </a:prstGeom>
        </p:spPr>
        <p:txBody>
          <a:bodyPr/>
          <a:lstStyle/>
          <a:p>
            <a:endParaRPr lang="en-US"/>
          </a:p>
        </p:txBody>
      </p:sp>
      <p:sp>
        <p:nvSpPr>
          <p:cNvPr id="18" name="PlaceHolder 4"/>
          <p:cNvSpPr>
            <a:spLocks noGrp="1"/>
          </p:cNvSpPr>
          <p:nvPr>
            <p:ph type="body"/>
          </p:nvPr>
        </p:nvSpPr>
        <p:spPr>
          <a:xfrm>
            <a:off x="2939040" y="4059360"/>
            <a:ext cx="2290680" cy="2091600"/>
          </a:xfrm>
          <a:prstGeom prst="rect">
            <a:avLst/>
          </a:prstGeom>
        </p:spPr>
        <p:txBody>
          <a:bodyPr/>
          <a:lstStyle/>
          <a:p>
            <a:endParaRPr lang="en-US"/>
          </a:p>
        </p:txBody>
      </p:sp>
    </p:spTree>
    <p:extLst>
      <p:ext uri="{BB962C8B-B14F-4D97-AF65-F5344CB8AC3E}">
        <p14:creationId xmlns:p14="http://schemas.microsoft.com/office/powerpoint/2010/main" val="363274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32800" y="300600"/>
            <a:ext cx="9618840" cy="1261800"/>
          </a:xfrm>
          <a:prstGeom prst="rect">
            <a:avLst/>
          </a:prstGeom>
        </p:spPr>
        <p:txBody>
          <a:bodyPr/>
          <a:lstStyle/>
          <a:p>
            <a:endParaRPr lang="en-US"/>
          </a:p>
        </p:txBody>
      </p:sp>
      <p:sp>
        <p:nvSpPr>
          <p:cNvPr id="20" name="PlaceHolder 2"/>
          <p:cNvSpPr>
            <a:spLocks noGrp="1"/>
          </p:cNvSpPr>
          <p:nvPr>
            <p:ph type="body"/>
          </p:nvPr>
        </p:nvSpPr>
        <p:spPr>
          <a:xfrm>
            <a:off x="533520" y="1768680"/>
            <a:ext cx="2290680" cy="2091600"/>
          </a:xfrm>
          <a:prstGeom prst="rect">
            <a:avLst/>
          </a:prstGeom>
        </p:spPr>
        <p:txBody>
          <a:bodyPr/>
          <a:lstStyle/>
          <a:p>
            <a:endParaRPr lang="en-US"/>
          </a:p>
        </p:txBody>
      </p:sp>
      <p:sp>
        <p:nvSpPr>
          <p:cNvPr id="21" name="PlaceHolder 3"/>
          <p:cNvSpPr>
            <a:spLocks noGrp="1"/>
          </p:cNvSpPr>
          <p:nvPr>
            <p:ph type="body"/>
          </p:nvPr>
        </p:nvSpPr>
        <p:spPr>
          <a:xfrm>
            <a:off x="2939040" y="1768680"/>
            <a:ext cx="2290680" cy="2091600"/>
          </a:xfrm>
          <a:prstGeom prst="rect">
            <a:avLst/>
          </a:prstGeom>
        </p:spPr>
        <p:txBody>
          <a:bodyPr/>
          <a:lstStyle/>
          <a:p>
            <a:endParaRPr lang="en-US"/>
          </a:p>
        </p:txBody>
      </p:sp>
      <p:sp>
        <p:nvSpPr>
          <p:cNvPr id="22" name="PlaceHolder 4"/>
          <p:cNvSpPr>
            <a:spLocks noGrp="1"/>
          </p:cNvSpPr>
          <p:nvPr>
            <p:ph type="body"/>
          </p:nvPr>
        </p:nvSpPr>
        <p:spPr>
          <a:xfrm>
            <a:off x="533520" y="4059360"/>
            <a:ext cx="4694040" cy="2091600"/>
          </a:xfrm>
          <a:prstGeom prst="rect">
            <a:avLst/>
          </a:prstGeom>
        </p:spPr>
        <p:txBody>
          <a:bodyPr/>
          <a:lstStyle/>
          <a:p>
            <a:endParaRPr lang="en-US"/>
          </a:p>
        </p:txBody>
      </p:sp>
    </p:spTree>
    <p:extLst>
      <p:ext uri="{BB962C8B-B14F-4D97-AF65-F5344CB8AC3E}">
        <p14:creationId xmlns:p14="http://schemas.microsoft.com/office/powerpoint/2010/main" val="343280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32800" y="300600"/>
            <a:ext cx="9618840" cy="1261800"/>
          </a:xfrm>
          <a:prstGeom prst="rect">
            <a:avLst/>
          </a:prstGeom>
        </p:spPr>
        <p:txBody>
          <a:bodyPr/>
          <a:lstStyle/>
          <a:p>
            <a:endParaRPr lang="en-US"/>
          </a:p>
        </p:txBody>
      </p:sp>
      <p:sp>
        <p:nvSpPr>
          <p:cNvPr id="24" name="PlaceHolder 2"/>
          <p:cNvSpPr>
            <a:spLocks noGrp="1"/>
          </p:cNvSpPr>
          <p:nvPr>
            <p:ph type="body"/>
          </p:nvPr>
        </p:nvSpPr>
        <p:spPr>
          <a:xfrm>
            <a:off x="533520" y="1768680"/>
            <a:ext cx="4694040" cy="2091600"/>
          </a:xfrm>
          <a:prstGeom prst="rect">
            <a:avLst/>
          </a:prstGeom>
        </p:spPr>
        <p:txBody>
          <a:bodyPr/>
          <a:lstStyle/>
          <a:p>
            <a:endParaRPr lang="en-US"/>
          </a:p>
        </p:txBody>
      </p:sp>
      <p:sp>
        <p:nvSpPr>
          <p:cNvPr id="25" name="PlaceHolder 3"/>
          <p:cNvSpPr>
            <a:spLocks noGrp="1"/>
          </p:cNvSpPr>
          <p:nvPr>
            <p:ph type="body"/>
          </p:nvPr>
        </p:nvSpPr>
        <p:spPr>
          <a:xfrm>
            <a:off x="533520" y="4059360"/>
            <a:ext cx="4694040" cy="2091600"/>
          </a:xfrm>
          <a:prstGeom prst="rect">
            <a:avLst/>
          </a:prstGeom>
        </p:spPr>
        <p:txBody>
          <a:bodyPr/>
          <a:lstStyle/>
          <a:p>
            <a:endParaRPr lang="en-US"/>
          </a:p>
        </p:txBody>
      </p:sp>
    </p:spTree>
    <p:extLst>
      <p:ext uri="{BB962C8B-B14F-4D97-AF65-F5344CB8AC3E}">
        <p14:creationId xmlns:p14="http://schemas.microsoft.com/office/powerpoint/2010/main" val="3895054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32800" y="300600"/>
            <a:ext cx="9618840" cy="1261800"/>
          </a:xfrm>
          <a:prstGeom prst="rect">
            <a:avLst/>
          </a:prstGeom>
        </p:spPr>
        <p:txBody>
          <a:bodyPr/>
          <a:lstStyle/>
          <a:p>
            <a:endParaRPr lang="en-US"/>
          </a:p>
        </p:txBody>
      </p:sp>
      <p:sp>
        <p:nvSpPr>
          <p:cNvPr id="27" name="PlaceHolder 2"/>
          <p:cNvSpPr>
            <a:spLocks noGrp="1"/>
          </p:cNvSpPr>
          <p:nvPr>
            <p:ph type="body"/>
          </p:nvPr>
        </p:nvSpPr>
        <p:spPr>
          <a:xfrm>
            <a:off x="533520" y="1768680"/>
            <a:ext cx="2290680" cy="2091600"/>
          </a:xfrm>
          <a:prstGeom prst="rect">
            <a:avLst/>
          </a:prstGeom>
        </p:spPr>
        <p:txBody>
          <a:bodyPr/>
          <a:lstStyle/>
          <a:p>
            <a:endParaRPr lang="en-US"/>
          </a:p>
        </p:txBody>
      </p:sp>
      <p:sp>
        <p:nvSpPr>
          <p:cNvPr id="28" name="PlaceHolder 3"/>
          <p:cNvSpPr>
            <a:spLocks noGrp="1"/>
          </p:cNvSpPr>
          <p:nvPr>
            <p:ph type="body"/>
          </p:nvPr>
        </p:nvSpPr>
        <p:spPr>
          <a:xfrm>
            <a:off x="2939040" y="1768680"/>
            <a:ext cx="2290680" cy="2091600"/>
          </a:xfrm>
          <a:prstGeom prst="rect">
            <a:avLst/>
          </a:prstGeom>
        </p:spPr>
        <p:txBody>
          <a:bodyPr/>
          <a:lstStyle/>
          <a:p>
            <a:endParaRPr lang="en-US"/>
          </a:p>
        </p:txBody>
      </p:sp>
      <p:sp>
        <p:nvSpPr>
          <p:cNvPr id="29" name="PlaceHolder 4"/>
          <p:cNvSpPr>
            <a:spLocks noGrp="1"/>
          </p:cNvSpPr>
          <p:nvPr>
            <p:ph type="body"/>
          </p:nvPr>
        </p:nvSpPr>
        <p:spPr>
          <a:xfrm>
            <a:off x="533520" y="4059360"/>
            <a:ext cx="2290680" cy="2091600"/>
          </a:xfrm>
          <a:prstGeom prst="rect">
            <a:avLst/>
          </a:prstGeom>
        </p:spPr>
        <p:txBody>
          <a:bodyPr/>
          <a:lstStyle/>
          <a:p>
            <a:endParaRPr lang="en-US"/>
          </a:p>
        </p:txBody>
      </p:sp>
      <p:sp>
        <p:nvSpPr>
          <p:cNvPr id="30" name="PlaceHolder 5"/>
          <p:cNvSpPr>
            <a:spLocks noGrp="1"/>
          </p:cNvSpPr>
          <p:nvPr>
            <p:ph type="body"/>
          </p:nvPr>
        </p:nvSpPr>
        <p:spPr>
          <a:xfrm>
            <a:off x="2939040" y="4059360"/>
            <a:ext cx="2290680" cy="2091600"/>
          </a:xfrm>
          <a:prstGeom prst="rect">
            <a:avLst/>
          </a:prstGeom>
        </p:spPr>
        <p:txBody>
          <a:bodyPr/>
          <a:lstStyle/>
          <a:p>
            <a:endParaRPr lang="en-US"/>
          </a:p>
        </p:txBody>
      </p:sp>
    </p:spTree>
    <p:extLst>
      <p:ext uri="{BB962C8B-B14F-4D97-AF65-F5344CB8AC3E}">
        <p14:creationId xmlns:p14="http://schemas.microsoft.com/office/powerpoint/2010/main" val="757480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32800" y="300600"/>
            <a:ext cx="9618840" cy="1261800"/>
          </a:xfrm>
          <a:prstGeom prst="rect">
            <a:avLst/>
          </a:prstGeom>
        </p:spPr>
        <p:txBody>
          <a:bodyPr/>
          <a:lstStyle/>
          <a:p>
            <a:endParaRPr lang="en-US"/>
          </a:p>
        </p:txBody>
      </p:sp>
      <p:sp>
        <p:nvSpPr>
          <p:cNvPr id="32" name="PlaceHolder 2"/>
          <p:cNvSpPr>
            <a:spLocks noGrp="1"/>
          </p:cNvSpPr>
          <p:nvPr>
            <p:ph type="body"/>
          </p:nvPr>
        </p:nvSpPr>
        <p:spPr>
          <a:xfrm>
            <a:off x="533520" y="1768680"/>
            <a:ext cx="1511280" cy="2091600"/>
          </a:xfrm>
          <a:prstGeom prst="rect">
            <a:avLst/>
          </a:prstGeom>
        </p:spPr>
        <p:txBody>
          <a:bodyPr/>
          <a:lstStyle/>
          <a:p>
            <a:endParaRPr lang="en-US"/>
          </a:p>
        </p:txBody>
      </p:sp>
      <p:sp>
        <p:nvSpPr>
          <p:cNvPr id="33" name="PlaceHolder 3"/>
          <p:cNvSpPr>
            <a:spLocks noGrp="1"/>
          </p:cNvSpPr>
          <p:nvPr>
            <p:ph type="body"/>
          </p:nvPr>
        </p:nvSpPr>
        <p:spPr>
          <a:xfrm>
            <a:off x="2120760" y="1768680"/>
            <a:ext cx="1511280" cy="2091600"/>
          </a:xfrm>
          <a:prstGeom prst="rect">
            <a:avLst/>
          </a:prstGeom>
        </p:spPr>
        <p:txBody>
          <a:bodyPr/>
          <a:lstStyle/>
          <a:p>
            <a:endParaRPr lang="en-US"/>
          </a:p>
        </p:txBody>
      </p:sp>
      <p:sp>
        <p:nvSpPr>
          <p:cNvPr id="34" name="PlaceHolder 4"/>
          <p:cNvSpPr>
            <a:spLocks noGrp="1"/>
          </p:cNvSpPr>
          <p:nvPr>
            <p:ph type="body"/>
          </p:nvPr>
        </p:nvSpPr>
        <p:spPr>
          <a:xfrm>
            <a:off x="3708000" y="1768680"/>
            <a:ext cx="1511280" cy="2091600"/>
          </a:xfrm>
          <a:prstGeom prst="rect">
            <a:avLst/>
          </a:prstGeom>
        </p:spPr>
        <p:txBody>
          <a:bodyPr/>
          <a:lstStyle/>
          <a:p>
            <a:endParaRPr lang="en-US"/>
          </a:p>
        </p:txBody>
      </p:sp>
      <p:sp>
        <p:nvSpPr>
          <p:cNvPr id="35" name="PlaceHolder 5"/>
          <p:cNvSpPr>
            <a:spLocks noGrp="1"/>
          </p:cNvSpPr>
          <p:nvPr>
            <p:ph type="body"/>
          </p:nvPr>
        </p:nvSpPr>
        <p:spPr>
          <a:xfrm>
            <a:off x="533520" y="4059360"/>
            <a:ext cx="1511280" cy="2091600"/>
          </a:xfrm>
          <a:prstGeom prst="rect">
            <a:avLst/>
          </a:prstGeom>
        </p:spPr>
        <p:txBody>
          <a:bodyPr/>
          <a:lstStyle/>
          <a:p>
            <a:endParaRPr lang="en-US"/>
          </a:p>
        </p:txBody>
      </p:sp>
      <p:sp>
        <p:nvSpPr>
          <p:cNvPr id="36" name="PlaceHolder 6"/>
          <p:cNvSpPr>
            <a:spLocks noGrp="1"/>
          </p:cNvSpPr>
          <p:nvPr>
            <p:ph type="body"/>
          </p:nvPr>
        </p:nvSpPr>
        <p:spPr>
          <a:xfrm>
            <a:off x="2120760" y="4059360"/>
            <a:ext cx="1511280" cy="2091600"/>
          </a:xfrm>
          <a:prstGeom prst="rect">
            <a:avLst/>
          </a:prstGeom>
        </p:spPr>
        <p:txBody>
          <a:bodyPr/>
          <a:lstStyle/>
          <a:p>
            <a:endParaRPr lang="en-US"/>
          </a:p>
        </p:txBody>
      </p:sp>
      <p:sp>
        <p:nvSpPr>
          <p:cNvPr id="37" name="PlaceHolder 7"/>
          <p:cNvSpPr>
            <a:spLocks noGrp="1"/>
          </p:cNvSpPr>
          <p:nvPr>
            <p:ph type="body"/>
          </p:nvPr>
        </p:nvSpPr>
        <p:spPr>
          <a:xfrm>
            <a:off x="3708000" y="4059360"/>
            <a:ext cx="1511280" cy="2091600"/>
          </a:xfrm>
          <a:prstGeom prst="rect">
            <a:avLst/>
          </a:prstGeom>
        </p:spPr>
        <p:txBody>
          <a:bodyPr/>
          <a:lstStyle/>
          <a:p>
            <a:endParaRPr lang="en-US"/>
          </a:p>
        </p:txBody>
      </p:sp>
    </p:spTree>
    <p:extLst>
      <p:ext uri="{BB962C8B-B14F-4D97-AF65-F5344CB8AC3E}">
        <p14:creationId xmlns:p14="http://schemas.microsoft.com/office/powerpoint/2010/main" val="439834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FFFFCC"/>
            </a:gs>
            <a:gs pos="100000">
              <a:srgbClr val="F8C64A"/>
            </a:gs>
            <a:gs pos="100000">
              <a:schemeClr val="accent1">
                <a:lumMod val="30000"/>
                <a:lumOff val="70000"/>
              </a:schemeClr>
            </a:gs>
          </a:gsLst>
          <a:lin ang="5100000" scaled="0"/>
          <a:tileRect/>
        </a:gradFill>
        <a:effectLst/>
      </p:bgPr>
    </p:bg>
    <p:spTree>
      <p:nvGrpSpPr>
        <p:cNvPr id="1" name=""/>
        <p:cNvGrpSpPr/>
        <p:nvPr/>
      </p:nvGrpSpPr>
      <p:grpSpPr>
        <a:xfrm>
          <a:off x="0" y="0"/>
          <a:ext cx="0" cy="0"/>
          <a:chOff x="0" y="0"/>
          <a:chExt cx="0" cy="0"/>
        </a:xfrm>
      </p:grpSpPr>
      <p:sp>
        <p:nvSpPr>
          <p:cNvPr id="1026" name="PlaceHolder 1"/>
          <p:cNvSpPr>
            <a:spLocks noGrp="1"/>
          </p:cNvSpPr>
          <p:nvPr>
            <p:ph type="title"/>
          </p:nvPr>
        </p:nvSpPr>
        <p:spPr bwMode="auto">
          <a:xfrm>
            <a:off x="534988" y="301625"/>
            <a:ext cx="962025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smtClean="0"/>
              <a:t>Click to edit the title text format</a:t>
            </a:r>
          </a:p>
        </p:txBody>
      </p:sp>
      <p:sp>
        <p:nvSpPr>
          <p:cNvPr id="3" name="PlaceHolder 2"/>
          <p:cNvSpPr>
            <a:spLocks noGrp="1"/>
          </p:cNvSpPr>
          <p:nvPr>
            <p:ph type="body"/>
          </p:nvPr>
        </p:nvSpPr>
        <p:spPr>
          <a:xfrm>
            <a:off x="534988" y="1770063"/>
            <a:ext cx="9620250" cy="4384675"/>
          </a:xfrm>
          <a:prstGeom prst="rect">
            <a:avLst/>
          </a:prstGeom>
        </p:spPr>
        <p:txBody>
          <a:bodyPr lIns="0" tIns="0" rIns="0" bIns="0">
            <a:normAutofit/>
          </a:bodyPr>
          <a:lstStyle/>
          <a:p>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DejaVu Sans"/>
          <a:cs typeface="DejaVu Sans"/>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a:cs typeface="DejaVu Sans"/>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ustomShape 1"/>
          <p:cNvSpPr/>
          <p:nvPr/>
        </p:nvSpPr>
        <p:spPr>
          <a:xfrm>
            <a:off x="712788" y="239713"/>
            <a:ext cx="9240837" cy="10366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marL="720" algn="ctr" eaLnBrk="1" fontAlgn="auto" hangingPunct="1">
              <a:spcBef>
                <a:spcPts val="0"/>
              </a:spcBef>
              <a:spcAft>
                <a:spcPts val="0"/>
              </a:spcAft>
              <a:buClr>
                <a:srgbClr val="000000"/>
              </a:buClr>
              <a:buSzPct val="45000"/>
              <a:defRPr/>
            </a:pPr>
            <a:r>
              <a:rPr lang="en-US" sz="2800" b="1" spc="-1" dirty="0">
                <a:solidFill>
                  <a:srgbClr val="000000"/>
                </a:solidFill>
              </a:rPr>
              <a:t>Ilia State University</a:t>
            </a:r>
            <a:r>
              <a:rPr sz="2800" b="1" dirty="0"/>
              <a:t/>
            </a:r>
            <a:br>
              <a:rPr sz="2800" b="1" dirty="0"/>
            </a:br>
            <a:r>
              <a:rPr lang="en-US" sz="2800" b="1" spc="-1" dirty="0">
                <a:solidFill>
                  <a:srgbClr val="000000"/>
                </a:solidFill>
              </a:rPr>
              <a:t>Prof. Dr. George </a:t>
            </a:r>
            <a:r>
              <a:rPr lang="en-US" sz="2800" b="1" spc="-1" dirty="0" err="1">
                <a:solidFill>
                  <a:srgbClr val="000000"/>
                </a:solidFill>
              </a:rPr>
              <a:t>Partskhaladze</a:t>
            </a:r>
            <a:endParaRPr lang="en-US" sz="2800" b="1" spc="-1" dirty="0"/>
          </a:p>
        </p:txBody>
      </p:sp>
      <p:sp>
        <p:nvSpPr>
          <p:cNvPr id="236" name="CustomShape 2"/>
          <p:cNvSpPr/>
          <p:nvPr/>
        </p:nvSpPr>
        <p:spPr>
          <a:xfrm>
            <a:off x="712788" y="1779588"/>
            <a:ext cx="9139238" cy="1249362"/>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lIns="90000" tIns="46800" rIns="90000" bIns="46800" anchor="b">
            <a:normAutofit fontScale="82500" lnSpcReduction="20000"/>
          </a:bodyPr>
          <a:lstStyle/>
          <a:p>
            <a:pPr algn="ctr" eaLnBrk="1" fontAlgn="auto" hangingPunct="1">
              <a:lnSpc>
                <a:spcPct val="120000"/>
              </a:lnSpc>
              <a:spcBef>
                <a:spcPts val="0"/>
              </a:spcBef>
              <a:spcAft>
                <a:spcPts val="0"/>
              </a:spcAft>
              <a:defRPr/>
            </a:pPr>
            <a:r>
              <a:rPr lang="en-US" sz="4400" b="1" spc="-1" dirty="0" smtClean="0">
                <a:solidFill>
                  <a:srgbClr val="000000"/>
                </a:solidFill>
                <a:ea typeface="Times New Roman"/>
              </a:rPr>
              <a:t>Computer Graphics and</a:t>
            </a:r>
          </a:p>
          <a:p>
            <a:pPr algn="ctr" eaLnBrk="1" fontAlgn="auto" hangingPunct="1">
              <a:lnSpc>
                <a:spcPct val="120000"/>
              </a:lnSpc>
              <a:spcBef>
                <a:spcPts val="0"/>
              </a:spcBef>
              <a:spcAft>
                <a:spcPts val="0"/>
              </a:spcAft>
              <a:defRPr/>
            </a:pPr>
            <a:r>
              <a:rPr lang="en-US" sz="4400" b="1" spc="-1" dirty="0" smtClean="0">
                <a:solidFill>
                  <a:srgbClr val="000000"/>
                </a:solidFill>
              </a:rPr>
              <a:t>Computational Geometry</a:t>
            </a:r>
            <a:endParaRPr lang="en-US" sz="4400" spc="-1" dirty="0"/>
          </a:p>
        </p:txBody>
      </p:sp>
      <p:sp>
        <p:nvSpPr>
          <p:cNvPr id="237" name="CustomShape 3"/>
          <p:cNvSpPr/>
          <p:nvPr/>
        </p:nvSpPr>
        <p:spPr>
          <a:xfrm>
            <a:off x="814387" y="3781424"/>
            <a:ext cx="9139238" cy="18859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2000" b="1" dirty="0" smtClean="0"/>
              <a:t>Lecture 1.</a:t>
            </a:r>
          </a:p>
          <a:p>
            <a:pPr algn="ctr"/>
            <a:endParaRPr lang="en-US" sz="2000" b="1" dirty="0" smtClean="0"/>
          </a:p>
          <a:p>
            <a:pPr algn="ctr"/>
            <a:r>
              <a:rPr lang="en-US" sz="4800" b="1" spc="-1" dirty="0" smtClean="0">
                <a:solidFill>
                  <a:srgbClr val="C00000"/>
                </a:solidFill>
              </a:rPr>
              <a:t>Color Models</a:t>
            </a:r>
            <a:endParaRPr lang="en-US" sz="4800" b="1" spc="-1" dirty="0">
              <a:solidFill>
                <a:srgbClr val="C00000"/>
              </a:solidFill>
            </a:endParaRPr>
          </a:p>
          <a:p>
            <a:pPr algn="ctr" eaLnBrk="1" fontAlgn="auto" hangingPunct="1">
              <a:lnSpc>
                <a:spcPct val="90000"/>
              </a:lnSpc>
              <a:spcBef>
                <a:spcPts val="998"/>
              </a:spcBef>
              <a:spcAft>
                <a:spcPts val="0"/>
              </a:spcAft>
              <a:defRPr/>
            </a:pPr>
            <a:endParaRPr lang="en-US" sz="3200" spc="-1" dirty="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800" y="300600"/>
            <a:ext cx="9618840" cy="881086"/>
          </a:xfrm>
        </p:spPr>
        <p:txBody>
          <a:bodyPr/>
          <a:lstStyle/>
          <a:p>
            <a:pPr algn="ctr"/>
            <a:r>
              <a:rPr lang="en-US" sz="3600" dirty="0">
                <a:solidFill>
                  <a:srgbClr val="C00000"/>
                </a:solidFill>
              </a:rPr>
              <a:t>Color </a:t>
            </a:r>
            <a:r>
              <a:rPr lang="en-US" sz="3600" dirty="0" smtClean="0">
                <a:solidFill>
                  <a:srgbClr val="C00000"/>
                </a:solidFill>
              </a:rPr>
              <a:t>Models </a:t>
            </a:r>
            <a:endParaRPr lang="en-US" sz="3600" dirty="0">
              <a:solidFill>
                <a:srgbClr val="C00000"/>
              </a:solidFill>
            </a:endParaRPr>
          </a:p>
        </p:txBody>
      </p:sp>
      <p:sp>
        <p:nvSpPr>
          <p:cNvPr id="8" name="Rectangle 7"/>
          <p:cNvSpPr/>
          <p:nvPr/>
        </p:nvSpPr>
        <p:spPr>
          <a:xfrm>
            <a:off x="624189" y="1096263"/>
            <a:ext cx="3301768" cy="461665"/>
          </a:xfrm>
          <a:prstGeom prst="rect">
            <a:avLst/>
          </a:prstGeom>
        </p:spPr>
        <p:txBody>
          <a:bodyPr wrap="square">
            <a:spAutoFit/>
          </a:bodyPr>
          <a:lstStyle/>
          <a:p>
            <a:r>
              <a:rPr lang="en-US" sz="2400" dirty="0" err="1"/>
              <a:t>Grassmann's</a:t>
            </a:r>
            <a:r>
              <a:rPr lang="en-US" sz="2400" dirty="0"/>
              <a:t> Laws:</a:t>
            </a:r>
          </a:p>
        </p:txBody>
      </p:sp>
      <p:pic>
        <p:nvPicPr>
          <p:cNvPr id="1026" name="Picture 2" descr="1_color_system_ostwald_0_selb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1250" y="1653657"/>
            <a:ext cx="2003425"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624189" y="1691976"/>
            <a:ext cx="6262386" cy="646331"/>
          </a:xfrm>
          <a:prstGeom prst="rect">
            <a:avLst/>
          </a:prstGeom>
        </p:spPr>
        <p:txBody>
          <a:bodyPr wrap="square">
            <a:spAutoFit/>
          </a:bodyPr>
          <a:lstStyle/>
          <a:p>
            <a:r>
              <a:rPr lang="en-US" dirty="0"/>
              <a:t>For every color, there is another homogeneous color which, when mixed with it, produces colorless light</a:t>
            </a:r>
            <a:r>
              <a:rPr lang="en-US" dirty="0" smtClean="0"/>
              <a:t>.</a:t>
            </a:r>
            <a:endParaRPr lang="en-US" dirty="0"/>
          </a:p>
        </p:txBody>
      </p:sp>
      <p:sp>
        <p:nvSpPr>
          <p:cNvPr id="10" name="Rectangle 4"/>
          <p:cNvSpPr>
            <a:spLocks noChangeArrowheads="1"/>
          </p:cNvSpPr>
          <p:nvPr/>
        </p:nvSpPr>
        <p:spPr bwMode="auto">
          <a:xfrm>
            <a:off x="624189" y="2428626"/>
            <a:ext cx="630140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ka-GE"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Any color can be obtained using three other colors, none of which can be derived from the other two (i.e., three independent colors).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5"/>
          <p:cNvSpPr>
            <a:spLocks noChangeArrowheads="1"/>
          </p:cNvSpPr>
          <p:nvPr/>
        </p:nvSpPr>
        <p:spPr bwMode="auto">
          <a:xfrm>
            <a:off x="1073589" y="3580953"/>
            <a:ext cx="3468594"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C = </a:t>
            </a:r>
            <a:r>
              <a:rPr kumimoji="0" lang="de-DE" altLang="en-US" sz="2000" b="0" i="0" u="none" strike="noStrike" cap="none" normalizeH="0" baseline="0" dirty="0" err="1"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err="1"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r</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a:t>
            </a:r>
            <a:r>
              <a:rPr kumimoji="0" lang="de-DE" altLang="en-US" sz="2000" b="1" i="0" u="none" strike="noStrike" cap="none" normalizeH="0" baseline="0" dirty="0" smtClean="0">
                <a:ln>
                  <a:noFill/>
                </a:ln>
                <a:solidFill>
                  <a:srgbClr val="FF0000"/>
                </a:solidFill>
                <a:effectLst/>
                <a:latin typeface="Arial Unicode MS" panose="020B0604020202020204" pitchFamily="34" charset="-128"/>
                <a:ea typeface="Times New Roman" panose="02020603050405020304" pitchFamily="18" charset="0"/>
                <a:cs typeface="Courier New" panose="02070309020205020404" pitchFamily="49" charset="0"/>
              </a:rPr>
              <a:t>R</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g</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a:t>
            </a:r>
            <a:r>
              <a:rPr kumimoji="0" lang="de-DE" altLang="en-US" sz="2000" b="1" i="0" u="none" strike="noStrike" cap="none" normalizeH="0" baseline="0" dirty="0" smtClean="0">
                <a:ln>
                  <a:noFill/>
                </a:ln>
                <a:solidFill>
                  <a:srgbClr val="00B050"/>
                </a:solidFill>
                <a:effectLst/>
                <a:latin typeface="Arial Unicode MS" panose="020B0604020202020204" pitchFamily="34" charset="-128"/>
                <a:ea typeface="Times New Roman" panose="02020603050405020304" pitchFamily="18" charset="0"/>
                <a:cs typeface="Courier New" panose="02070309020205020404" pitchFamily="49" charset="0"/>
              </a:rPr>
              <a:t>G</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 </a:t>
            </a:r>
            <a:r>
              <a:rPr kumimoji="0" lang="de-DE" altLang="en-US" sz="2000" b="0" i="0" u="none" strike="noStrike" cap="none" normalizeH="0" baseline="0" dirty="0" err="1"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err="1"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b</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a:t>
            </a:r>
            <a:r>
              <a:rPr kumimoji="0" lang="de-DE" altLang="en-US" sz="2000" b="1" i="0" u="none" strike="noStrike" cap="none" normalizeH="0" baseline="0" dirty="0" smtClean="0">
                <a:ln>
                  <a:noFill/>
                </a:ln>
                <a:solidFill>
                  <a:srgbClr val="4472C4"/>
                </a:solidFill>
                <a:effectLst/>
                <a:latin typeface="Arial Unicode MS" panose="020B0604020202020204" pitchFamily="34" charset="-128"/>
                <a:ea typeface="Times New Roman" panose="02020603050405020304" pitchFamily="18" charset="0"/>
                <a:cs typeface="Courier New" panose="02070309020205020404" pitchFamily="49" charset="0"/>
              </a:rPr>
              <a:t>B</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a:t>
            </a:r>
            <a:r>
              <a:rPr kumimoji="0" lang="en-US" altLang="en-US" sz="7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11"/>
          <p:cNvSpPr/>
          <p:nvPr/>
        </p:nvSpPr>
        <p:spPr>
          <a:xfrm>
            <a:off x="1772678" y="4062036"/>
            <a:ext cx="5152920" cy="646331"/>
          </a:xfrm>
          <a:prstGeom prst="rect">
            <a:avLst/>
          </a:prstGeom>
        </p:spPr>
        <p:txBody>
          <a:bodyPr wrap="square">
            <a:spAutoFit/>
          </a:bodyPr>
          <a:lstStyle/>
          <a:p>
            <a:r>
              <a:rPr lang="en-US" i="1" dirty="0"/>
              <a:t>Where </a:t>
            </a:r>
            <a:r>
              <a:rPr lang="en-US" b="1" i="1" dirty="0" smtClean="0"/>
              <a:t>K</a:t>
            </a:r>
            <a:r>
              <a:rPr lang="en-US" b="1" i="1" baseline="-25000" dirty="0" smtClean="0"/>
              <a:t>r</a:t>
            </a:r>
            <a:r>
              <a:rPr lang="ka-GE" b="1" i="1" baseline="-25000" dirty="0" smtClean="0"/>
              <a:t> </a:t>
            </a:r>
            <a:r>
              <a:rPr lang="en-US" b="1" i="1" dirty="0" smtClean="0"/>
              <a:t>, K</a:t>
            </a:r>
            <a:r>
              <a:rPr lang="en-US" b="1" i="1" baseline="-25000" dirty="0" smtClean="0"/>
              <a:t>g</a:t>
            </a:r>
            <a:r>
              <a:rPr lang="ka-GE" b="1" i="1" baseline="-25000" dirty="0" smtClean="0"/>
              <a:t> </a:t>
            </a:r>
            <a:r>
              <a:rPr lang="en-US" b="1" i="1" dirty="0" smtClean="0"/>
              <a:t>, </a:t>
            </a:r>
            <a:r>
              <a:rPr lang="en-US" b="1" i="1" dirty="0"/>
              <a:t>K</a:t>
            </a:r>
            <a:r>
              <a:rPr lang="en-US" b="1" i="1" baseline="-25000" dirty="0"/>
              <a:t>b</a:t>
            </a:r>
            <a:r>
              <a:rPr lang="en-US" i="1" dirty="0"/>
              <a:t> are the coefficients of each component.</a:t>
            </a:r>
          </a:p>
        </p:txBody>
      </p:sp>
      <p:sp>
        <p:nvSpPr>
          <p:cNvPr id="13" name="Rectangle 12"/>
          <p:cNvSpPr/>
          <p:nvPr/>
        </p:nvSpPr>
        <p:spPr>
          <a:xfrm>
            <a:off x="624189" y="4781640"/>
            <a:ext cx="9527451" cy="707886"/>
          </a:xfrm>
          <a:prstGeom prst="rect">
            <a:avLst/>
          </a:prstGeom>
        </p:spPr>
        <p:txBody>
          <a:bodyPr wrap="square">
            <a:spAutoFit/>
          </a:bodyPr>
          <a:lstStyle/>
          <a:p>
            <a:r>
              <a:rPr lang="ka-GE" sz="2000" dirty="0" smtClean="0"/>
              <a:t>2. </a:t>
            </a:r>
            <a:r>
              <a:rPr lang="en-US" sz="2000" dirty="0" smtClean="0"/>
              <a:t>The </a:t>
            </a:r>
            <a:r>
              <a:rPr lang="en-US" sz="2000" dirty="0"/>
              <a:t>result of combining any two colors can be obtained by combining the individual components of these colors, i.e.:</a:t>
            </a:r>
          </a:p>
        </p:txBody>
      </p:sp>
      <p:sp>
        <p:nvSpPr>
          <p:cNvPr id="14" name="Rectangle 6"/>
          <p:cNvSpPr>
            <a:spLocks noChangeArrowheads="1"/>
          </p:cNvSpPr>
          <p:nvPr/>
        </p:nvSpPr>
        <p:spPr bwMode="auto">
          <a:xfrm>
            <a:off x="1073589" y="5562799"/>
            <a:ext cx="8954994"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C3(C3) =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1</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(C1) +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2</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(C2) =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1*</a:t>
            </a:r>
            <a:r>
              <a:rPr kumimoji="0" lang="de-DE" altLang="en-US" sz="2000" b="0" i="0" u="none" strike="noStrike" cap="none" normalizeH="0" baseline="0" dirty="0" smtClean="0">
                <a:ln>
                  <a:noFill/>
                </a:ln>
                <a:solidFill>
                  <a:srgbClr val="FF000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FF0000"/>
                </a:solidFill>
                <a:effectLst/>
                <a:latin typeface="Arial Unicode MS" panose="020B0604020202020204" pitchFamily="34" charset="-128"/>
                <a:ea typeface="Times New Roman" panose="02020603050405020304" pitchFamily="18" charset="0"/>
                <a:cs typeface="Courier New" panose="02070309020205020404" pitchFamily="49" charset="0"/>
              </a:rPr>
              <a:t>r1</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2*</a:t>
            </a:r>
            <a:r>
              <a:rPr kumimoji="0" lang="de-DE" altLang="en-US" sz="2000" b="0" i="0" u="none" strike="noStrike" cap="none" normalizeH="0" baseline="0" dirty="0" smtClean="0">
                <a:ln>
                  <a:noFill/>
                </a:ln>
                <a:solidFill>
                  <a:srgbClr val="FF000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FF0000"/>
                </a:solidFill>
                <a:effectLst/>
                <a:latin typeface="Arial Unicode MS" panose="020B0604020202020204" pitchFamily="34" charset="-128"/>
                <a:ea typeface="Times New Roman" panose="02020603050405020304" pitchFamily="18" charset="0"/>
                <a:cs typeface="Courier New" panose="02070309020205020404" pitchFamily="49" charset="0"/>
              </a:rPr>
              <a:t>r2</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1*</a:t>
            </a:r>
            <a:r>
              <a:rPr kumimoji="0" lang="de-DE" altLang="en-US" sz="2000" b="0" i="0" u="none" strike="noStrike" cap="none" normalizeH="0" baseline="0" dirty="0" smtClean="0">
                <a:ln>
                  <a:noFill/>
                </a:ln>
                <a:solidFill>
                  <a:srgbClr val="00B05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00B050"/>
                </a:solidFill>
                <a:effectLst/>
                <a:latin typeface="Arial Unicode MS" panose="020B0604020202020204" pitchFamily="34" charset="-128"/>
                <a:ea typeface="Times New Roman" panose="02020603050405020304" pitchFamily="18" charset="0"/>
                <a:cs typeface="Courier New" panose="02070309020205020404" pitchFamily="49" charset="0"/>
              </a:rPr>
              <a:t>g1</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2*</a:t>
            </a:r>
            <a:r>
              <a:rPr kumimoji="0" lang="de-DE" altLang="en-US" sz="2000" b="0" i="0" u="none" strike="noStrike" cap="none" normalizeH="0" baseline="0" dirty="0" smtClean="0">
                <a:ln>
                  <a:noFill/>
                </a:ln>
                <a:solidFill>
                  <a:srgbClr val="00B05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00B050"/>
                </a:solidFill>
                <a:effectLst/>
                <a:latin typeface="Arial Unicode MS" panose="020B0604020202020204" pitchFamily="34" charset="-128"/>
                <a:ea typeface="Times New Roman" panose="02020603050405020304" pitchFamily="18" charset="0"/>
                <a:cs typeface="Courier New" panose="02070309020205020404" pitchFamily="49" charset="0"/>
              </a:rPr>
              <a:t>g2</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1*</a:t>
            </a:r>
            <a:r>
              <a:rPr kumimoji="0" lang="de-DE" altLang="en-US" sz="2000" b="0" i="0" u="none" strike="noStrike" cap="none" normalizeH="0" baseline="0" dirty="0" smtClean="0">
                <a:ln>
                  <a:noFill/>
                </a:ln>
                <a:solidFill>
                  <a:srgbClr val="0070C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0070C0"/>
                </a:solidFill>
                <a:effectLst/>
                <a:latin typeface="Arial Unicode MS" panose="020B0604020202020204" pitchFamily="34" charset="-128"/>
                <a:ea typeface="Times New Roman" panose="02020603050405020304" pitchFamily="18" charset="0"/>
                <a:cs typeface="Courier New" panose="02070309020205020404" pitchFamily="49" charset="0"/>
              </a:rPr>
              <a:t>b1</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 K</a:t>
            </a:r>
            <a:r>
              <a:rPr kumimoji="0" lang="de-DE" altLang="en-US" sz="2000" b="0" i="0" u="none" strike="noStrike" cap="none" normalizeH="0" baseline="-3000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2*</a:t>
            </a:r>
            <a:r>
              <a:rPr kumimoji="0" lang="de-DE" altLang="en-US" sz="2000" b="0" i="0" u="none" strike="noStrike" cap="none" normalizeH="0" baseline="0" dirty="0" smtClean="0">
                <a:ln>
                  <a:noFill/>
                </a:ln>
                <a:solidFill>
                  <a:srgbClr val="0070C0"/>
                </a:solidFill>
                <a:effectLst/>
                <a:latin typeface="Arial Unicode MS" panose="020B0604020202020204" pitchFamily="34" charset="-128"/>
                <a:ea typeface="Times New Roman" panose="02020603050405020304" pitchFamily="18" charset="0"/>
                <a:cs typeface="Courier New" panose="02070309020205020404" pitchFamily="49" charset="0"/>
              </a:rPr>
              <a:t>K</a:t>
            </a:r>
            <a:r>
              <a:rPr kumimoji="0" lang="de-DE" altLang="en-US" sz="2000" b="0" i="0" u="none" strike="noStrike" cap="none" normalizeH="0" baseline="-30000" dirty="0" smtClean="0">
                <a:ln>
                  <a:noFill/>
                </a:ln>
                <a:solidFill>
                  <a:srgbClr val="0070C0"/>
                </a:solidFill>
                <a:effectLst/>
                <a:latin typeface="Arial Unicode MS" panose="020B0604020202020204" pitchFamily="34" charset="-128"/>
                <a:ea typeface="Times New Roman" panose="02020603050405020304" pitchFamily="18" charset="0"/>
                <a:cs typeface="Courier New" panose="02070309020205020404" pitchFamily="49" charset="0"/>
              </a:rPr>
              <a:t>b2</a:t>
            </a:r>
            <a:r>
              <a:rPr kumimoji="0" lang="de-DE" altLang="en-US" sz="2000" b="0" i="0" u="none" strike="noStrike" cap="none" normalizeH="0" baseline="0" dirty="0" smtClean="0">
                <a:ln>
                  <a:noFill/>
                </a:ln>
                <a:solidFill>
                  <a:srgbClr val="000000"/>
                </a:solidFill>
                <a:effectLst/>
                <a:latin typeface="Arial Unicode MS" panose="020B0604020202020204" pitchFamily="34" charset="-128"/>
                <a:ea typeface="Times New Roman" panose="02020603050405020304" pitchFamily="18" charset="0"/>
                <a:cs typeface="Courier New" panose="02070309020205020404" pitchFamily="49" charset="0"/>
              </a:rPr>
              <a:t>]</a:t>
            </a:r>
            <a:r>
              <a:rPr kumimoji="0" lang="en-US" altLang="en-US" sz="2000" b="0" i="0" u="none" strike="noStrike" cap="none" normalizeH="0" baseline="0" dirty="0" smtClean="0">
                <a:ln>
                  <a:noFill/>
                </a:ln>
                <a:solidFill>
                  <a:schemeClr val="tx1"/>
                </a:solidFill>
                <a:effectLst/>
              </a:rPr>
              <a:t> </a:t>
            </a:r>
          </a:p>
        </p:txBody>
      </p:sp>
      <p:sp>
        <p:nvSpPr>
          <p:cNvPr id="17" name="Rectangle 6"/>
          <p:cNvSpPr>
            <a:spLocks noChangeArrowheads="1"/>
          </p:cNvSpPr>
          <p:nvPr/>
        </p:nvSpPr>
        <p:spPr bwMode="auto">
          <a:xfrm>
            <a:off x="910417" y="5999638"/>
            <a:ext cx="895499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i.e. if  C</a:t>
            </a:r>
            <a:r>
              <a:rPr lang="en-US" altLang="en-US" sz="2000" baseline="-25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1</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 0.3 </a:t>
            </a:r>
            <a:r>
              <a:rPr lang="en-US" altLang="en-US" sz="2000" b="1" dirty="0" smtClean="0">
                <a:solidFill>
                  <a:srgbClr val="FF0000"/>
                </a:solidFill>
                <a:latin typeface="Arial Unicode MS" panose="020B0604020202020204" pitchFamily="34" charset="-128"/>
                <a:ea typeface="Times New Roman" panose="02020603050405020304" pitchFamily="18" charset="0"/>
                <a:cs typeface="Courier New" panose="02070309020205020404" pitchFamily="49" charset="0"/>
              </a:rPr>
              <a:t>R</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0.5</a:t>
            </a:r>
            <a:r>
              <a:rPr lang="en-US" altLang="en-US" sz="2000" b="1" dirty="0" smtClean="0">
                <a:solidFill>
                  <a:srgbClr val="00B050"/>
                </a:solidFill>
                <a:latin typeface="Arial Unicode MS" panose="020B0604020202020204" pitchFamily="34" charset="-128"/>
                <a:ea typeface="Times New Roman" panose="02020603050405020304" pitchFamily="18" charset="0"/>
                <a:cs typeface="Courier New" panose="02070309020205020404" pitchFamily="49" charset="0"/>
              </a:rPr>
              <a:t>G</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0.1 </a:t>
            </a:r>
            <a:r>
              <a:rPr lang="en-US" altLang="en-US" sz="2000" b="1" dirty="0" smtClean="0">
                <a:solidFill>
                  <a:srgbClr val="0070C0"/>
                </a:solidFill>
                <a:latin typeface="Arial Unicode MS" panose="020B0604020202020204" pitchFamily="34" charset="-128"/>
                <a:ea typeface="Times New Roman" panose="02020603050405020304" pitchFamily="18" charset="0"/>
                <a:cs typeface="Courier New" panose="02070309020205020404" pitchFamily="49" charset="0"/>
              </a:rPr>
              <a:t>B</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and C</a:t>
            </a:r>
            <a:r>
              <a:rPr lang="en-US" altLang="en-US" sz="2000" baseline="-25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2</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 1.0</a:t>
            </a:r>
            <a:r>
              <a:rPr lang="en-US" altLang="en-US" sz="2000" b="1" dirty="0" smtClean="0">
                <a:solidFill>
                  <a:srgbClr val="FF0000"/>
                </a:solidFill>
                <a:latin typeface="Arial Unicode MS" panose="020B0604020202020204" pitchFamily="34" charset="-128"/>
                <a:ea typeface="Times New Roman" panose="02020603050405020304" pitchFamily="18" charset="0"/>
                <a:cs typeface="Courier New" panose="02070309020205020404" pitchFamily="49" charset="0"/>
              </a:rPr>
              <a:t>R</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0.5</a:t>
            </a:r>
            <a:r>
              <a:rPr lang="en-US" altLang="en-US" sz="2000" b="1" dirty="0" smtClean="0">
                <a:solidFill>
                  <a:srgbClr val="00B050"/>
                </a:solidFill>
                <a:latin typeface="Arial Unicode MS" panose="020B0604020202020204" pitchFamily="34" charset="-128"/>
                <a:ea typeface="Times New Roman" panose="02020603050405020304" pitchFamily="18" charset="0"/>
                <a:cs typeface="Courier New" panose="02070309020205020404" pitchFamily="49" charset="0"/>
              </a:rPr>
              <a:t>G</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1</a:t>
            </a:r>
            <a:r>
              <a:rPr lang="en-US" altLang="en-US" sz="2000" b="1" dirty="0" smtClean="0">
                <a:solidFill>
                  <a:srgbClr val="0070C0"/>
                </a:solidFill>
                <a:latin typeface="Arial Unicode MS" panose="020B0604020202020204" pitchFamily="34" charset="-128"/>
                <a:ea typeface="Times New Roman" panose="02020603050405020304" pitchFamily="18" charset="0"/>
                <a:cs typeface="Courier New" panose="02070309020205020404" pitchFamily="49" charset="0"/>
              </a:rPr>
              <a:t>B</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then, if C</a:t>
            </a:r>
            <a:r>
              <a:rPr lang="en-US" altLang="en-US" sz="2000" baseline="-25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3</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 0.5C</a:t>
            </a:r>
            <a:r>
              <a:rPr lang="en-US" altLang="en-US" sz="2000" baseline="-25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1</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+0.2C</a:t>
            </a:r>
            <a:r>
              <a:rPr lang="en-US" altLang="en-US" sz="2000" baseline="-25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2</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C3 = (0.15+0.2)</a:t>
            </a:r>
            <a:r>
              <a:rPr lang="en-US" altLang="en-US" sz="2000" b="1" dirty="0" smtClean="0">
                <a:solidFill>
                  <a:srgbClr val="FF0000"/>
                </a:solidFill>
                <a:latin typeface="Arial Unicode MS" panose="020B0604020202020204" pitchFamily="34" charset="-128"/>
                <a:ea typeface="Times New Roman" panose="02020603050405020304" pitchFamily="18" charset="0"/>
                <a:cs typeface="Courier New" panose="02070309020205020404" pitchFamily="49" charset="0"/>
              </a:rPr>
              <a:t>R</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(0.25+0.1)</a:t>
            </a:r>
            <a:r>
              <a:rPr lang="en-US" altLang="en-US" sz="2000" b="1" dirty="0" smtClean="0">
                <a:solidFill>
                  <a:srgbClr val="00B050"/>
                </a:solidFill>
                <a:latin typeface="Arial Unicode MS" panose="020B0604020202020204" pitchFamily="34" charset="-128"/>
                <a:ea typeface="Times New Roman" panose="02020603050405020304" pitchFamily="18" charset="0"/>
                <a:cs typeface="Courier New" panose="02070309020205020404" pitchFamily="49" charset="0"/>
              </a:rPr>
              <a:t>G</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a:t>
            </a:r>
            <a:r>
              <a:rPr lang="ka-GE"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0.05 + 0.2)</a:t>
            </a:r>
            <a:r>
              <a:rPr lang="en-US" altLang="en-US" sz="2000" b="1" dirty="0" smtClean="0">
                <a:solidFill>
                  <a:srgbClr val="0070C0"/>
                </a:solidFill>
                <a:latin typeface="Arial Unicode MS" panose="020B0604020202020204" pitchFamily="34" charset="-128"/>
                <a:ea typeface="Times New Roman" panose="02020603050405020304" pitchFamily="18" charset="0"/>
                <a:cs typeface="Courier New" panose="02070309020205020404" pitchFamily="49" charset="0"/>
              </a:rPr>
              <a:t>B</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 0.35</a:t>
            </a:r>
            <a:r>
              <a:rPr lang="en-US" altLang="en-US" sz="2000" b="1" dirty="0" smtClean="0">
                <a:solidFill>
                  <a:srgbClr val="FF0000"/>
                </a:solidFill>
                <a:latin typeface="Arial Unicode MS" panose="020B0604020202020204" pitchFamily="34" charset="-128"/>
                <a:ea typeface="Times New Roman" panose="02020603050405020304" pitchFamily="18" charset="0"/>
                <a:cs typeface="Courier New" panose="02070309020205020404" pitchFamily="49" charset="0"/>
              </a:rPr>
              <a:t>R</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0.35</a:t>
            </a:r>
            <a:r>
              <a:rPr lang="en-US" altLang="en-US" sz="2000" b="1" dirty="0" smtClean="0">
                <a:solidFill>
                  <a:srgbClr val="00B050"/>
                </a:solidFill>
                <a:latin typeface="Arial Unicode MS" panose="020B0604020202020204" pitchFamily="34" charset="-128"/>
                <a:ea typeface="Times New Roman" panose="02020603050405020304" pitchFamily="18" charset="0"/>
                <a:cs typeface="Courier New" panose="02070309020205020404" pitchFamily="49" charset="0"/>
              </a:rPr>
              <a:t>G</a:t>
            </a:r>
            <a:r>
              <a:rPr lang="en-US" altLang="en-US" sz="2000" dirty="0" smtClean="0">
                <a:solidFill>
                  <a:srgbClr val="000000"/>
                </a:solidFill>
                <a:latin typeface="Arial Unicode MS" panose="020B0604020202020204" pitchFamily="34" charset="-128"/>
                <a:ea typeface="Times New Roman" panose="02020603050405020304" pitchFamily="18" charset="0"/>
                <a:cs typeface="Courier New" panose="02070309020205020404" pitchFamily="49" charset="0"/>
              </a:rPr>
              <a:t>, 0.25</a:t>
            </a:r>
            <a:r>
              <a:rPr lang="en-US" altLang="en-US" sz="2000" b="1" dirty="0" smtClean="0">
                <a:solidFill>
                  <a:srgbClr val="0070C0"/>
                </a:solidFill>
                <a:latin typeface="Arial Unicode MS" panose="020B0604020202020204" pitchFamily="34" charset="-128"/>
                <a:ea typeface="Times New Roman" panose="02020603050405020304" pitchFamily="18" charset="0"/>
                <a:cs typeface="Courier New" panose="02070309020205020404" pitchFamily="49" charset="0"/>
              </a:rPr>
              <a:t>B</a:t>
            </a:r>
          </a:p>
        </p:txBody>
      </p:sp>
    </p:spTree>
    <p:extLst>
      <p:ext uri="{BB962C8B-B14F-4D97-AF65-F5344CB8AC3E}">
        <p14:creationId xmlns:p14="http://schemas.microsoft.com/office/powerpoint/2010/main" val="42613087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2800" y="300600"/>
            <a:ext cx="9618840" cy="941791"/>
          </a:xfrm>
        </p:spPr>
        <p:txBody>
          <a:bodyPr/>
          <a:lstStyle/>
          <a:p>
            <a:r>
              <a:rPr lang="en-US" sz="2000" dirty="0" smtClean="0"/>
              <a:t>3. A </a:t>
            </a:r>
            <a:r>
              <a:rPr lang="en-US" sz="2000" dirty="0"/>
              <a:t>gradual change in any component results in a gradual (continuous) change in the outcome</a:t>
            </a:r>
            <a:r>
              <a:rPr lang="en-US" sz="2000" dirty="0" smtClean="0"/>
              <a:t>.</a:t>
            </a:r>
            <a:endParaRPr lang="en-US" dirty="0"/>
          </a:p>
        </p:txBody>
      </p:sp>
      <p:sp>
        <p:nvSpPr>
          <p:cNvPr id="4" name="Rectangle 3"/>
          <p:cNvSpPr/>
          <p:nvPr/>
        </p:nvSpPr>
        <p:spPr>
          <a:xfrm>
            <a:off x="1858617" y="1313353"/>
            <a:ext cx="8293023" cy="1323439"/>
          </a:xfrm>
          <a:prstGeom prst="rect">
            <a:avLst/>
          </a:prstGeom>
        </p:spPr>
        <p:txBody>
          <a:bodyPr wrap="square">
            <a:spAutoFit/>
          </a:bodyPr>
          <a:lstStyle/>
          <a:p>
            <a:r>
              <a:rPr lang="en-US" sz="2000" b="1" i="1" dirty="0"/>
              <a:t>Based on these three laws, we can represent any color as a point in a three-dimensional space, where the coordinate axes correspond to three independent colors (e.g., </a:t>
            </a:r>
            <a:r>
              <a:rPr lang="en-US" sz="2000" b="1" i="1" dirty="0">
                <a:solidFill>
                  <a:srgbClr val="FF0000"/>
                </a:solidFill>
              </a:rPr>
              <a:t>red</a:t>
            </a:r>
            <a:r>
              <a:rPr lang="en-US" sz="2000" b="1" i="1" dirty="0"/>
              <a:t>, </a:t>
            </a:r>
            <a:r>
              <a:rPr lang="en-US" sz="2000" b="1" i="1" dirty="0">
                <a:solidFill>
                  <a:srgbClr val="00B050"/>
                </a:solidFill>
              </a:rPr>
              <a:t>green</a:t>
            </a:r>
            <a:r>
              <a:rPr lang="en-US" sz="2000" b="1" i="1" dirty="0"/>
              <a:t>, and </a:t>
            </a:r>
            <a:r>
              <a:rPr lang="en-US" sz="2000" b="1" i="1" dirty="0">
                <a:solidFill>
                  <a:srgbClr val="0070C0"/>
                </a:solidFill>
              </a:rPr>
              <a:t>blue</a:t>
            </a:r>
            <a:r>
              <a:rPr lang="en-US" sz="2000" b="1" i="1" dirty="0"/>
              <a:t>).</a:t>
            </a:r>
            <a:br>
              <a:rPr lang="en-US" sz="2000" b="1" i="1" dirty="0"/>
            </a:br>
            <a:endParaRPr lang="en-US" sz="2000" b="1" i="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297" y="2825213"/>
            <a:ext cx="2736145" cy="2250700"/>
          </a:xfrm>
          <a:prstGeom prst="rect">
            <a:avLst/>
          </a:prstGeom>
        </p:spPr>
      </p:pic>
    </p:spTree>
    <p:extLst>
      <p:ext uri="{BB962C8B-B14F-4D97-AF65-F5344CB8AC3E}">
        <p14:creationId xmlns:p14="http://schemas.microsoft.com/office/powerpoint/2010/main" val="40111119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051" name="Picture 3" descr="rgb_space_02_0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3650" y="1076325"/>
            <a:ext cx="6621463"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2800" y="300600"/>
            <a:ext cx="5010750" cy="775725"/>
          </a:xfrm>
        </p:spPr>
        <p:txBody>
          <a:bodyPr/>
          <a:lstStyle/>
          <a:p>
            <a:r>
              <a:rPr lang="en-US" sz="2400" b="1" dirty="0">
                <a:solidFill>
                  <a:schemeClr val="bg1"/>
                </a:solidFill>
              </a:rPr>
              <a:t>Additive Color Mixing</a:t>
            </a:r>
          </a:p>
        </p:txBody>
      </p:sp>
      <p:sp>
        <p:nvSpPr>
          <p:cNvPr id="6" name="Rectangle 5"/>
          <p:cNvSpPr/>
          <p:nvPr/>
        </p:nvSpPr>
        <p:spPr>
          <a:xfrm>
            <a:off x="7464990" y="1262360"/>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
        <p:nvSpPr>
          <p:cNvPr id="7" name="Rectangle 6"/>
          <p:cNvSpPr/>
          <p:nvPr/>
        </p:nvSpPr>
        <p:spPr>
          <a:xfrm>
            <a:off x="532800" y="1348085"/>
            <a:ext cx="60585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8" name="Rectangle 7"/>
          <p:cNvSpPr/>
          <p:nvPr/>
        </p:nvSpPr>
        <p:spPr>
          <a:xfrm>
            <a:off x="200025" y="3121491"/>
            <a:ext cx="5343525" cy="1200329"/>
          </a:xfrm>
          <a:prstGeom prst="rect">
            <a:avLst/>
          </a:prstGeom>
        </p:spPr>
        <p:txBody>
          <a:bodyPr>
            <a:spAutoFit/>
          </a:bodyPr>
          <a:lstStyle/>
          <a:p>
            <a:r>
              <a:rPr lang="en-US" dirty="0">
                <a:solidFill>
                  <a:schemeClr val="bg1">
                    <a:lumMod val="50000"/>
                  </a:schemeClr>
                </a:solidFill>
              </a:rPr>
              <a:t>The emission of red light </a:t>
            </a:r>
            <a:endParaRPr lang="en-US" dirty="0" smtClean="0">
              <a:solidFill>
                <a:schemeClr val="bg1">
                  <a:lumMod val="50000"/>
                </a:schemeClr>
              </a:solidFill>
            </a:endParaRPr>
          </a:p>
          <a:p>
            <a:r>
              <a:rPr lang="en-US" dirty="0" smtClean="0">
                <a:solidFill>
                  <a:schemeClr val="bg1">
                    <a:lumMod val="50000"/>
                  </a:schemeClr>
                </a:solidFill>
              </a:rPr>
              <a:t>(</a:t>
            </a:r>
            <a:r>
              <a:rPr lang="en-US" dirty="0">
                <a:solidFill>
                  <a:schemeClr val="tx1">
                    <a:lumMod val="75000"/>
                    <a:lumOff val="25000"/>
                  </a:schemeClr>
                </a:solidFill>
              </a:rPr>
              <a:t>0</a:t>
            </a:r>
            <a:r>
              <a:rPr lang="en-US" dirty="0">
                <a:solidFill>
                  <a:schemeClr val="bg1">
                    <a:lumMod val="50000"/>
                  </a:schemeClr>
                </a:solidFill>
              </a:rPr>
              <a:t> </a:t>
            </a:r>
            <a:r>
              <a:rPr lang="en-US" dirty="0">
                <a:solidFill>
                  <a:schemeClr val="tx1">
                    <a:lumMod val="75000"/>
                    <a:lumOff val="25000"/>
                  </a:schemeClr>
                </a:solidFill>
              </a:rPr>
              <a:t>at one end – weak, meaning a very dark color, almost black; </a:t>
            </a:r>
            <a:r>
              <a:rPr lang="en-US" dirty="0">
                <a:solidFill>
                  <a:srgbClr val="FF0000"/>
                </a:solidFill>
              </a:rPr>
              <a:t>1</a:t>
            </a:r>
            <a:r>
              <a:rPr lang="en-US" dirty="0">
                <a:solidFill>
                  <a:schemeClr val="bg1">
                    <a:lumMod val="50000"/>
                  </a:schemeClr>
                </a:solidFill>
              </a:rPr>
              <a:t> </a:t>
            </a:r>
            <a:r>
              <a:rPr lang="en-US" dirty="0">
                <a:solidFill>
                  <a:srgbClr val="FF0000"/>
                </a:solidFill>
              </a:rPr>
              <a:t>at the other end – maximally intense</a:t>
            </a:r>
            <a:r>
              <a:rPr lang="en-US" dirty="0">
                <a:solidFill>
                  <a:schemeClr val="bg1">
                    <a:lumMod val="50000"/>
                  </a:schemeClr>
                </a:solidFill>
              </a:rPr>
              <a:t>).</a:t>
            </a:r>
          </a:p>
        </p:txBody>
      </p:sp>
    </p:spTree>
    <p:extLst>
      <p:ext uri="{BB962C8B-B14F-4D97-AF65-F5344CB8AC3E}">
        <p14:creationId xmlns:p14="http://schemas.microsoft.com/office/powerpoint/2010/main" val="34057395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pic>
        <p:nvPicPr>
          <p:cNvPr id="2050" name="Picture 2" descr="rgb_space_01_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50" y="1348085"/>
            <a:ext cx="6621463"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32800" y="978753"/>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6" name="Rectangle 5"/>
          <p:cNvSpPr/>
          <p:nvPr/>
        </p:nvSpPr>
        <p:spPr>
          <a:xfrm>
            <a:off x="7464990" y="1769715"/>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Tree>
    <p:extLst>
      <p:ext uri="{BB962C8B-B14F-4D97-AF65-F5344CB8AC3E}">
        <p14:creationId xmlns:p14="http://schemas.microsoft.com/office/powerpoint/2010/main" val="40046280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074" name="Picture 2" descr="rgb_space_05_X0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2225" y="978753"/>
            <a:ext cx="6621463"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sp>
        <p:nvSpPr>
          <p:cNvPr id="3" name="Rectangle 2"/>
          <p:cNvSpPr/>
          <p:nvPr/>
        </p:nvSpPr>
        <p:spPr>
          <a:xfrm>
            <a:off x="532800" y="978753"/>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6" name="Rectangle 5"/>
          <p:cNvSpPr/>
          <p:nvPr/>
        </p:nvSpPr>
        <p:spPr>
          <a:xfrm>
            <a:off x="7464990" y="1769715"/>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
        <p:nvSpPr>
          <p:cNvPr id="4" name="Rectangle 3"/>
          <p:cNvSpPr/>
          <p:nvPr/>
        </p:nvSpPr>
        <p:spPr>
          <a:xfrm>
            <a:off x="701675" y="1954589"/>
            <a:ext cx="5343525" cy="369332"/>
          </a:xfrm>
          <a:prstGeom prst="rect">
            <a:avLst/>
          </a:prstGeom>
        </p:spPr>
        <p:txBody>
          <a:bodyPr>
            <a:spAutoFit/>
          </a:bodyPr>
          <a:lstStyle/>
          <a:p>
            <a:r>
              <a:rPr lang="en-US" b="1" dirty="0">
                <a:solidFill>
                  <a:srgbClr val="FF0000"/>
                </a:solidFill>
              </a:rPr>
              <a:t>R</a:t>
            </a:r>
            <a:r>
              <a:rPr lang="en-US" b="1" dirty="0">
                <a:solidFill>
                  <a:srgbClr val="00B050"/>
                </a:solidFill>
              </a:rPr>
              <a:t>G</a:t>
            </a:r>
            <a:r>
              <a:rPr lang="en-US" b="1" dirty="0">
                <a:solidFill>
                  <a:schemeClr val="bg1">
                    <a:lumMod val="50000"/>
                  </a:schemeClr>
                </a:solidFill>
              </a:rPr>
              <a:t> Plane (Square</a:t>
            </a:r>
            <a:r>
              <a:rPr lang="en-US" b="1" dirty="0" smtClean="0">
                <a:solidFill>
                  <a:schemeClr val="bg1">
                    <a:lumMod val="50000"/>
                  </a:schemeClr>
                </a:solidFill>
              </a:rPr>
              <a:t>)</a:t>
            </a:r>
          </a:p>
        </p:txBody>
      </p:sp>
    </p:spTree>
    <p:extLst>
      <p:ext uri="{BB962C8B-B14F-4D97-AF65-F5344CB8AC3E}">
        <p14:creationId xmlns:p14="http://schemas.microsoft.com/office/powerpoint/2010/main" val="11048131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098" name="Picture 2" descr="rgb_space_08_ZYX_kedleb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4125" y="1450538"/>
            <a:ext cx="6621463"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sp>
        <p:nvSpPr>
          <p:cNvPr id="3" name="Rectangle 2"/>
          <p:cNvSpPr/>
          <p:nvPr/>
        </p:nvSpPr>
        <p:spPr>
          <a:xfrm>
            <a:off x="532800" y="978753"/>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6" name="Rectangle 5"/>
          <p:cNvSpPr/>
          <p:nvPr/>
        </p:nvSpPr>
        <p:spPr>
          <a:xfrm>
            <a:off x="7464990" y="1769715"/>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
        <p:nvSpPr>
          <p:cNvPr id="5" name="Rectangle 4"/>
          <p:cNvSpPr/>
          <p:nvPr/>
        </p:nvSpPr>
        <p:spPr>
          <a:xfrm>
            <a:off x="532800" y="2139047"/>
            <a:ext cx="5343525" cy="646331"/>
          </a:xfrm>
          <a:prstGeom prst="rect">
            <a:avLst/>
          </a:prstGeom>
        </p:spPr>
        <p:txBody>
          <a:bodyPr>
            <a:spAutoFit/>
          </a:bodyPr>
          <a:lstStyle/>
          <a:p>
            <a:r>
              <a:rPr lang="en-US" dirty="0">
                <a:solidFill>
                  <a:schemeClr val="bg1">
                    <a:lumMod val="50000"/>
                  </a:schemeClr>
                </a:solidFill>
              </a:rPr>
              <a:t>The three "walls" represent the result of combining two components at a time (either </a:t>
            </a:r>
            <a:r>
              <a:rPr lang="en-US" dirty="0">
                <a:solidFill>
                  <a:srgbClr val="FF0000"/>
                </a:solidFill>
              </a:rPr>
              <a:t>R</a:t>
            </a:r>
            <a:r>
              <a:rPr lang="en-US" dirty="0">
                <a:solidFill>
                  <a:srgbClr val="00B050"/>
                </a:solidFill>
              </a:rPr>
              <a:t>G</a:t>
            </a:r>
            <a:r>
              <a:rPr lang="en-US" dirty="0">
                <a:solidFill>
                  <a:schemeClr val="bg1">
                    <a:lumMod val="50000"/>
                  </a:schemeClr>
                </a:solidFill>
              </a:rPr>
              <a:t>, </a:t>
            </a:r>
            <a:r>
              <a:rPr lang="en-US" dirty="0">
                <a:solidFill>
                  <a:srgbClr val="FF0000"/>
                </a:solidFill>
              </a:rPr>
              <a:t>R</a:t>
            </a:r>
            <a:r>
              <a:rPr lang="en-US" dirty="0">
                <a:solidFill>
                  <a:srgbClr val="0070C0"/>
                </a:solidFill>
              </a:rPr>
              <a:t>B</a:t>
            </a:r>
            <a:r>
              <a:rPr lang="en-US" dirty="0">
                <a:solidFill>
                  <a:schemeClr val="bg1">
                    <a:lumMod val="50000"/>
                  </a:schemeClr>
                </a:solidFill>
              </a:rPr>
              <a:t>, or </a:t>
            </a:r>
            <a:r>
              <a:rPr lang="en-US" dirty="0">
                <a:solidFill>
                  <a:srgbClr val="00B050"/>
                </a:solidFill>
              </a:rPr>
              <a:t>G</a:t>
            </a:r>
            <a:r>
              <a:rPr lang="en-US" dirty="0">
                <a:solidFill>
                  <a:srgbClr val="0070C0"/>
                </a:solidFill>
              </a:rPr>
              <a:t>B</a:t>
            </a:r>
            <a:r>
              <a:rPr lang="en-US" dirty="0">
                <a:solidFill>
                  <a:schemeClr val="bg1">
                    <a:lumMod val="50000"/>
                  </a:schemeClr>
                </a:solidFill>
              </a:rPr>
              <a:t>).</a:t>
            </a:r>
            <a:endParaRPr lang="en-US" dirty="0">
              <a:solidFill>
                <a:schemeClr val="bg1">
                  <a:lumMod val="50000"/>
                </a:schemeClr>
              </a:solidFill>
            </a:endParaRPr>
          </a:p>
        </p:txBody>
      </p:sp>
    </p:spTree>
    <p:extLst>
      <p:ext uri="{BB962C8B-B14F-4D97-AF65-F5344CB8AC3E}">
        <p14:creationId xmlns:p14="http://schemas.microsoft.com/office/powerpoint/2010/main" val="37652905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122" name="Picture 2" descr="rgb_space_10_fu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175" y="1257300"/>
            <a:ext cx="6621463"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sp>
        <p:nvSpPr>
          <p:cNvPr id="3" name="Rectangle 2"/>
          <p:cNvSpPr/>
          <p:nvPr/>
        </p:nvSpPr>
        <p:spPr>
          <a:xfrm>
            <a:off x="532800" y="978753"/>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6" name="Rectangle 5"/>
          <p:cNvSpPr/>
          <p:nvPr/>
        </p:nvSpPr>
        <p:spPr>
          <a:xfrm>
            <a:off x="7464990" y="1769715"/>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
        <p:nvSpPr>
          <p:cNvPr id="4" name="Rectangle 3"/>
          <p:cNvSpPr/>
          <p:nvPr/>
        </p:nvSpPr>
        <p:spPr>
          <a:xfrm>
            <a:off x="532800" y="2139047"/>
            <a:ext cx="5343525" cy="923330"/>
          </a:xfrm>
          <a:prstGeom prst="rect">
            <a:avLst/>
          </a:prstGeom>
        </p:spPr>
        <p:txBody>
          <a:bodyPr>
            <a:spAutoFit/>
          </a:bodyPr>
          <a:lstStyle/>
          <a:p>
            <a:r>
              <a:rPr lang="en-US" b="1" dirty="0">
                <a:solidFill>
                  <a:srgbClr val="FF0000"/>
                </a:solidFill>
              </a:rPr>
              <a:t>R</a:t>
            </a:r>
            <a:r>
              <a:rPr lang="en-US" b="1" dirty="0">
                <a:solidFill>
                  <a:srgbClr val="00B050"/>
                </a:solidFill>
              </a:rPr>
              <a:t>G</a:t>
            </a:r>
            <a:r>
              <a:rPr lang="en-US" b="1" dirty="0">
                <a:solidFill>
                  <a:srgbClr val="0070C0"/>
                </a:solidFill>
              </a:rPr>
              <a:t>B </a:t>
            </a:r>
            <a:r>
              <a:rPr lang="en-US" b="1" dirty="0">
                <a:solidFill>
                  <a:schemeClr val="bg1">
                    <a:lumMod val="50000"/>
                  </a:schemeClr>
                </a:solidFill>
              </a:rPr>
              <a:t>Cube:</a:t>
            </a:r>
            <a:r>
              <a:rPr lang="en-US" dirty="0">
                <a:solidFill>
                  <a:schemeClr val="bg1">
                    <a:lumMod val="50000"/>
                  </a:schemeClr>
                </a:solidFill>
              </a:rPr>
              <a:t> Represents the result of combining all three components. When all three are at maximum intensity, the result [</a:t>
            </a:r>
            <a:r>
              <a:rPr lang="en-US" dirty="0" smtClean="0">
                <a:solidFill>
                  <a:schemeClr val="bg1">
                    <a:lumMod val="50000"/>
                  </a:schemeClr>
                </a:solidFill>
              </a:rPr>
              <a:t>1,1,1] is </a:t>
            </a:r>
            <a:r>
              <a:rPr lang="en-US" dirty="0">
                <a:solidFill>
                  <a:schemeClr val="bg1"/>
                </a:solidFill>
              </a:rPr>
              <a:t>white</a:t>
            </a:r>
            <a:r>
              <a:rPr lang="en-US" dirty="0">
                <a:solidFill>
                  <a:schemeClr val="bg1">
                    <a:lumMod val="50000"/>
                  </a:schemeClr>
                </a:solidFill>
              </a:rPr>
              <a:t>.</a:t>
            </a:r>
          </a:p>
        </p:txBody>
      </p:sp>
    </p:spTree>
    <p:extLst>
      <p:ext uri="{BB962C8B-B14F-4D97-AF65-F5344CB8AC3E}">
        <p14:creationId xmlns:p14="http://schemas.microsoft.com/office/powerpoint/2010/main" val="9949415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146" name="Picture 2" descr="rgb_space_12_rgb1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225" y="1769715"/>
            <a:ext cx="5440363"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sp>
        <p:nvSpPr>
          <p:cNvPr id="3" name="Rectangle 2"/>
          <p:cNvSpPr/>
          <p:nvPr/>
        </p:nvSpPr>
        <p:spPr>
          <a:xfrm>
            <a:off x="532800" y="978753"/>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6" name="Rectangle 5"/>
          <p:cNvSpPr/>
          <p:nvPr/>
        </p:nvSpPr>
        <p:spPr>
          <a:xfrm>
            <a:off x="7728938" y="1503015"/>
            <a:ext cx="2686650" cy="369332"/>
          </a:xfrm>
          <a:prstGeom prst="rect">
            <a:avLst/>
          </a:prstGeom>
        </p:spPr>
        <p:txBody>
          <a:bodyPr wrap="square">
            <a:spAutoFit/>
          </a:bodyPr>
          <a:lstStyle/>
          <a:p>
            <a:r>
              <a:rPr lang="en-US" b="1" dirty="0">
                <a:solidFill>
                  <a:srgbClr val="FF0000"/>
                </a:solidFill>
              </a:rPr>
              <a:t>R</a:t>
            </a:r>
            <a:r>
              <a:rPr lang="en-US" b="1" dirty="0">
                <a:solidFill>
                  <a:srgbClr val="00B050"/>
                </a:solidFill>
              </a:rPr>
              <a:t>G</a:t>
            </a:r>
            <a:r>
              <a:rPr lang="en-US" b="1" dirty="0">
                <a:solidFill>
                  <a:srgbClr val="0070C0"/>
                </a:solidFill>
              </a:rPr>
              <a:t>B</a:t>
            </a:r>
            <a:r>
              <a:rPr lang="en-US" b="1" dirty="0">
                <a:solidFill>
                  <a:srgbClr val="FFFF00"/>
                </a:solidFill>
              </a:rPr>
              <a:t> </a:t>
            </a:r>
            <a:r>
              <a:rPr lang="en-US" b="1" dirty="0">
                <a:solidFill>
                  <a:schemeClr val="bg1"/>
                </a:solidFill>
              </a:rPr>
              <a:t>Coordinates</a:t>
            </a:r>
            <a:r>
              <a:rPr lang="en-US" b="1" dirty="0" smtClean="0">
                <a:solidFill>
                  <a:srgbClr val="FFFF00"/>
                </a:solidFill>
              </a:rPr>
              <a:t>:</a:t>
            </a:r>
            <a:endParaRPr lang="en-US" dirty="0">
              <a:solidFill>
                <a:srgbClr val="FFFF00"/>
              </a:solidFill>
            </a:endParaRPr>
          </a:p>
        </p:txBody>
      </p:sp>
      <p:sp>
        <p:nvSpPr>
          <p:cNvPr id="5" name="Rectangle 4"/>
          <p:cNvSpPr/>
          <p:nvPr/>
        </p:nvSpPr>
        <p:spPr>
          <a:xfrm>
            <a:off x="463550" y="1954381"/>
            <a:ext cx="5343525" cy="923330"/>
          </a:xfrm>
          <a:prstGeom prst="rect">
            <a:avLst/>
          </a:prstGeom>
        </p:spPr>
        <p:txBody>
          <a:bodyPr>
            <a:spAutoFit/>
          </a:bodyPr>
          <a:lstStyle/>
          <a:p>
            <a:r>
              <a:rPr lang="en-US" dirty="0">
                <a:solidFill>
                  <a:schemeClr val="bg1">
                    <a:lumMod val="50000"/>
                  </a:schemeClr>
                </a:solidFill>
              </a:rPr>
              <a:t>A cross-section of the </a:t>
            </a:r>
            <a:r>
              <a:rPr lang="en-US" dirty="0">
                <a:solidFill>
                  <a:srgbClr val="FF0000"/>
                </a:solidFill>
              </a:rPr>
              <a:t>R</a:t>
            </a:r>
            <a:r>
              <a:rPr lang="en-US" dirty="0">
                <a:solidFill>
                  <a:srgbClr val="00B050"/>
                </a:solidFill>
              </a:rPr>
              <a:t>G</a:t>
            </a:r>
            <a:r>
              <a:rPr lang="en-US" dirty="0">
                <a:solidFill>
                  <a:srgbClr val="0070C0"/>
                </a:solidFill>
              </a:rPr>
              <a:t>B</a:t>
            </a:r>
            <a:r>
              <a:rPr lang="en-US" dirty="0">
                <a:solidFill>
                  <a:schemeClr val="bg1">
                    <a:lumMod val="50000"/>
                  </a:schemeClr>
                </a:solidFill>
              </a:rPr>
              <a:t> cube with a plane where </a:t>
            </a:r>
            <a:r>
              <a:rPr lang="en-US" dirty="0" smtClean="0">
                <a:solidFill>
                  <a:srgbClr val="FF0000"/>
                </a:solidFill>
              </a:rPr>
              <a:t>R</a:t>
            </a:r>
            <a:r>
              <a:rPr lang="en-US" dirty="0" smtClean="0">
                <a:solidFill>
                  <a:schemeClr val="bg1">
                    <a:lumMod val="50000"/>
                  </a:schemeClr>
                </a:solidFill>
              </a:rPr>
              <a:t>+</a:t>
            </a:r>
            <a:r>
              <a:rPr lang="en-US" dirty="0" smtClean="0">
                <a:solidFill>
                  <a:srgbClr val="00B050"/>
                </a:solidFill>
              </a:rPr>
              <a:t>G</a:t>
            </a:r>
            <a:r>
              <a:rPr lang="en-US" dirty="0" smtClean="0">
                <a:solidFill>
                  <a:schemeClr val="bg1">
                    <a:lumMod val="50000"/>
                  </a:schemeClr>
                </a:solidFill>
              </a:rPr>
              <a:t>+</a:t>
            </a:r>
            <a:r>
              <a:rPr lang="en-US" dirty="0" smtClean="0">
                <a:solidFill>
                  <a:srgbClr val="0070C0"/>
                </a:solidFill>
              </a:rPr>
              <a:t>B</a:t>
            </a:r>
            <a:r>
              <a:rPr lang="en-US" dirty="0" smtClean="0">
                <a:solidFill>
                  <a:schemeClr val="bg1">
                    <a:lumMod val="50000"/>
                  </a:schemeClr>
                </a:solidFill>
              </a:rPr>
              <a:t>=1</a:t>
            </a:r>
            <a:r>
              <a:rPr lang="en-US" dirty="0">
                <a:solidFill>
                  <a:schemeClr val="bg1">
                    <a:lumMod val="50000"/>
                  </a:schemeClr>
                </a:solidFill>
              </a:rPr>
              <a:t>, meaning that all points in this section have the same overall intensity.</a:t>
            </a:r>
          </a:p>
        </p:txBody>
      </p:sp>
    </p:spTree>
    <p:extLst>
      <p:ext uri="{BB962C8B-B14F-4D97-AF65-F5344CB8AC3E}">
        <p14:creationId xmlns:p14="http://schemas.microsoft.com/office/powerpoint/2010/main" val="3135983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2800" y="300600"/>
            <a:ext cx="4134450" cy="575700"/>
          </a:xfrm>
        </p:spPr>
        <p:txBody>
          <a:bodyPr/>
          <a:lstStyle/>
          <a:p>
            <a:r>
              <a:rPr lang="en-US" sz="2400" b="1" dirty="0">
                <a:solidFill>
                  <a:schemeClr val="bg1"/>
                </a:solidFill>
              </a:rPr>
              <a:t>Additive Color Mixing</a:t>
            </a:r>
          </a:p>
        </p:txBody>
      </p:sp>
      <p:sp>
        <p:nvSpPr>
          <p:cNvPr id="3" name="Rectangle 2"/>
          <p:cNvSpPr/>
          <p:nvPr/>
        </p:nvSpPr>
        <p:spPr>
          <a:xfrm>
            <a:off x="454025" y="691634"/>
            <a:ext cx="7023100" cy="369332"/>
          </a:xfrm>
          <a:prstGeom prst="rect">
            <a:avLst/>
          </a:prstGeom>
        </p:spPr>
        <p:txBody>
          <a:bodyPr wrap="square">
            <a:spAutoFit/>
          </a:bodyPr>
          <a:lstStyle/>
          <a:p>
            <a:r>
              <a:rPr lang="en-US" dirty="0">
                <a:solidFill>
                  <a:schemeClr val="bg1">
                    <a:lumMod val="50000"/>
                  </a:schemeClr>
                </a:solidFill>
              </a:rPr>
              <a:t>Here, color represents light that "shines in the darkness."</a:t>
            </a:r>
          </a:p>
        </p:txBody>
      </p:sp>
      <p:sp>
        <p:nvSpPr>
          <p:cNvPr id="5" name="Rectangle 4"/>
          <p:cNvSpPr/>
          <p:nvPr/>
        </p:nvSpPr>
        <p:spPr>
          <a:xfrm>
            <a:off x="454025" y="1187385"/>
            <a:ext cx="7461250" cy="646331"/>
          </a:xfrm>
          <a:prstGeom prst="rect">
            <a:avLst/>
          </a:prstGeom>
        </p:spPr>
        <p:txBody>
          <a:bodyPr wrap="square">
            <a:spAutoFit/>
          </a:bodyPr>
          <a:lstStyle/>
          <a:p>
            <a:r>
              <a:rPr lang="en-US" dirty="0">
                <a:solidFill>
                  <a:schemeClr val="bg1">
                    <a:lumMod val="50000"/>
                  </a:schemeClr>
                </a:solidFill>
              </a:rPr>
              <a:t>A cross-section of the </a:t>
            </a:r>
            <a:r>
              <a:rPr lang="en-US" dirty="0">
                <a:solidFill>
                  <a:srgbClr val="FF0000"/>
                </a:solidFill>
              </a:rPr>
              <a:t>R</a:t>
            </a:r>
            <a:r>
              <a:rPr lang="en-US" dirty="0">
                <a:solidFill>
                  <a:srgbClr val="00B050"/>
                </a:solidFill>
              </a:rPr>
              <a:t>G</a:t>
            </a:r>
            <a:r>
              <a:rPr lang="en-US" dirty="0">
                <a:solidFill>
                  <a:srgbClr val="0070C0"/>
                </a:solidFill>
              </a:rPr>
              <a:t>B</a:t>
            </a:r>
            <a:r>
              <a:rPr lang="en-US" dirty="0">
                <a:solidFill>
                  <a:schemeClr val="bg1">
                    <a:lumMod val="50000"/>
                  </a:schemeClr>
                </a:solidFill>
              </a:rPr>
              <a:t> cube with a plane where </a:t>
            </a:r>
            <a:r>
              <a:rPr lang="en-US" dirty="0" smtClean="0">
                <a:solidFill>
                  <a:srgbClr val="FF0000"/>
                </a:solidFill>
              </a:rPr>
              <a:t>R</a:t>
            </a:r>
            <a:r>
              <a:rPr lang="en-US" dirty="0" smtClean="0">
                <a:solidFill>
                  <a:schemeClr val="bg1">
                    <a:lumMod val="50000"/>
                  </a:schemeClr>
                </a:solidFill>
              </a:rPr>
              <a:t>+</a:t>
            </a:r>
            <a:r>
              <a:rPr lang="en-US" dirty="0" smtClean="0">
                <a:solidFill>
                  <a:srgbClr val="00B050"/>
                </a:solidFill>
              </a:rPr>
              <a:t>G</a:t>
            </a:r>
            <a:r>
              <a:rPr lang="en-US" dirty="0" smtClean="0">
                <a:solidFill>
                  <a:schemeClr val="bg1">
                    <a:lumMod val="50000"/>
                  </a:schemeClr>
                </a:solidFill>
              </a:rPr>
              <a:t>+</a:t>
            </a:r>
            <a:r>
              <a:rPr lang="en-US" dirty="0" smtClean="0">
                <a:solidFill>
                  <a:srgbClr val="0070C0"/>
                </a:solidFill>
              </a:rPr>
              <a:t>B </a:t>
            </a:r>
            <a:r>
              <a:rPr lang="en-US" dirty="0" smtClean="0">
                <a:solidFill>
                  <a:schemeClr val="bg1">
                    <a:lumMod val="50000"/>
                  </a:schemeClr>
                </a:solidFill>
              </a:rPr>
              <a:t>= </a:t>
            </a:r>
            <a:r>
              <a:rPr lang="en-US" dirty="0" smtClean="0">
                <a:solidFill>
                  <a:srgbClr val="FFC000"/>
                </a:solidFill>
              </a:rPr>
              <a:t>k</a:t>
            </a:r>
            <a:r>
              <a:rPr lang="en-US" dirty="0" smtClean="0">
                <a:solidFill>
                  <a:schemeClr val="bg1">
                    <a:lumMod val="50000"/>
                  </a:schemeClr>
                </a:solidFill>
              </a:rPr>
              <a:t>, </a:t>
            </a:r>
            <a:r>
              <a:rPr lang="en-US" dirty="0">
                <a:solidFill>
                  <a:schemeClr val="bg1">
                    <a:lumMod val="50000"/>
                  </a:schemeClr>
                </a:solidFill>
              </a:rPr>
              <a:t>meaning that all points in this section have the same </a:t>
            </a:r>
            <a:r>
              <a:rPr lang="en-US" dirty="0">
                <a:solidFill>
                  <a:srgbClr val="FFC000"/>
                </a:solidFill>
              </a:rPr>
              <a:t>overall intensity</a:t>
            </a:r>
            <a:r>
              <a:rPr lang="en-US" dirty="0">
                <a:solidFill>
                  <a:schemeClr val="bg1">
                    <a:lumMod val="50000"/>
                  </a:schemeClr>
                </a:solidFill>
              </a:rPr>
              <a:t>.</a:t>
            </a:r>
          </a:p>
        </p:txBody>
      </p:sp>
      <p:pic>
        <p:nvPicPr>
          <p:cNvPr id="7170" name="Picture 2" descr="rgb_space_12_rgb0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4887" y="3122056"/>
            <a:ext cx="4756525" cy="380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descr="rgb_space_12_rgb19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86" y="3113706"/>
            <a:ext cx="4776702" cy="381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2673350" y="3319760"/>
            <a:ext cx="5343525" cy="923330"/>
          </a:xfrm>
          <a:prstGeom prst="rect">
            <a:avLst/>
          </a:prstGeom>
        </p:spPr>
        <p:txBody>
          <a:bodyPr>
            <a:spAutoFit/>
          </a:bodyPr>
          <a:lstStyle/>
          <a:p>
            <a:r>
              <a:rPr lang="en-US" dirty="0"/>
              <a:t>Other cross-sections of the RGB cube represent colors with lower intensity on the left and higher intensity on the right.</a:t>
            </a:r>
          </a:p>
        </p:txBody>
      </p:sp>
      <p:sp>
        <p:nvSpPr>
          <p:cNvPr id="7" name="Rectangle 6"/>
          <p:cNvSpPr/>
          <p:nvPr/>
        </p:nvSpPr>
        <p:spPr>
          <a:xfrm>
            <a:off x="1779517" y="3781425"/>
            <a:ext cx="986167" cy="369332"/>
          </a:xfrm>
          <a:prstGeom prst="rect">
            <a:avLst/>
          </a:prstGeom>
        </p:spPr>
        <p:txBody>
          <a:bodyPr wrap="none">
            <a:spAutoFit/>
          </a:bodyPr>
          <a:lstStyle/>
          <a:p>
            <a:r>
              <a:rPr lang="en-US" dirty="0" smtClean="0">
                <a:solidFill>
                  <a:schemeClr val="tx1">
                    <a:lumMod val="65000"/>
                    <a:lumOff val="35000"/>
                  </a:schemeClr>
                </a:solidFill>
              </a:rPr>
              <a:t>K = 0.7 </a:t>
            </a:r>
            <a:endParaRPr lang="en-US" dirty="0">
              <a:solidFill>
                <a:schemeClr val="tx1">
                  <a:lumMod val="65000"/>
                  <a:lumOff val="35000"/>
                </a:schemeClr>
              </a:solidFill>
            </a:endParaRPr>
          </a:p>
        </p:txBody>
      </p:sp>
      <p:sp>
        <p:nvSpPr>
          <p:cNvPr id="11" name="Rectangle 10"/>
          <p:cNvSpPr/>
          <p:nvPr/>
        </p:nvSpPr>
        <p:spPr>
          <a:xfrm>
            <a:off x="6626583" y="3781425"/>
            <a:ext cx="986167" cy="369332"/>
          </a:xfrm>
          <a:prstGeom prst="rect">
            <a:avLst/>
          </a:prstGeom>
        </p:spPr>
        <p:txBody>
          <a:bodyPr wrap="none">
            <a:spAutoFit/>
          </a:bodyPr>
          <a:lstStyle/>
          <a:p>
            <a:r>
              <a:rPr lang="en-US" dirty="0" smtClean="0">
                <a:solidFill>
                  <a:schemeClr val="bg1">
                    <a:lumMod val="85000"/>
                  </a:schemeClr>
                </a:solidFill>
              </a:rPr>
              <a:t>K = 1.2 </a:t>
            </a:r>
            <a:endParaRPr lang="en-US" dirty="0">
              <a:solidFill>
                <a:schemeClr val="bg1">
                  <a:lumMod val="85000"/>
                </a:schemeClr>
              </a:solidFill>
            </a:endParaRPr>
          </a:p>
        </p:txBody>
      </p:sp>
      <p:sp>
        <p:nvSpPr>
          <p:cNvPr id="8" name="Rectangle 7"/>
          <p:cNvSpPr/>
          <p:nvPr/>
        </p:nvSpPr>
        <p:spPr>
          <a:xfrm>
            <a:off x="454025" y="2031420"/>
            <a:ext cx="9430350" cy="646331"/>
          </a:xfrm>
          <a:prstGeom prst="rect">
            <a:avLst/>
          </a:prstGeom>
        </p:spPr>
        <p:txBody>
          <a:bodyPr wrap="square">
            <a:spAutoFit/>
          </a:bodyPr>
          <a:lstStyle/>
          <a:p>
            <a:r>
              <a:rPr lang="en-US" dirty="0">
                <a:solidFill>
                  <a:schemeClr val="tx1">
                    <a:lumMod val="65000"/>
                    <a:lumOff val="35000"/>
                  </a:schemeClr>
                </a:solidFill>
              </a:rPr>
              <a:t>Other cross-sections of the RGB cube represent colors with </a:t>
            </a:r>
            <a:r>
              <a:rPr lang="en-US" dirty="0">
                <a:solidFill>
                  <a:schemeClr val="tx1">
                    <a:lumMod val="85000"/>
                    <a:lumOff val="15000"/>
                  </a:schemeClr>
                </a:solidFill>
              </a:rPr>
              <a:t>lower intensity </a:t>
            </a:r>
            <a:r>
              <a:rPr lang="en-US" dirty="0">
                <a:solidFill>
                  <a:schemeClr val="tx1">
                    <a:lumMod val="65000"/>
                    <a:lumOff val="35000"/>
                  </a:schemeClr>
                </a:solidFill>
              </a:rPr>
              <a:t>on the left and </a:t>
            </a:r>
            <a:r>
              <a:rPr lang="en-US" dirty="0">
                <a:solidFill>
                  <a:schemeClr val="bg1">
                    <a:lumMod val="95000"/>
                  </a:schemeClr>
                </a:solidFill>
              </a:rPr>
              <a:t>higher intensity </a:t>
            </a:r>
            <a:r>
              <a:rPr lang="en-US" dirty="0">
                <a:solidFill>
                  <a:schemeClr val="tx1">
                    <a:lumMod val="65000"/>
                    <a:lumOff val="35000"/>
                  </a:schemeClr>
                </a:solidFill>
              </a:rPr>
              <a:t>on the right.</a:t>
            </a:r>
          </a:p>
        </p:txBody>
      </p:sp>
    </p:spTree>
    <p:extLst>
      <p:ext uri="{BB962C8B-B14F-4D97-AF65-F5344CB8AC3E}">
        <p14:creationId xmlns:p14="http://schemas.microsoft.com/office/powerpoint/2010/main" val="12762717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p:cNvSpPr/>
          <p:nvPr/>
        </p:nvSpPr>
        <p:spPr>
          <a:xfrm>
            <a:off x="549275" y="723811"/>
            <a:ext cx="9032875" cy="646331"/>
          </a:xfrm>
          <a:prstGeom prst="rect">
            <a:avLst/>
          </a:prstGeom>
        </p:spPr>
        <p:txBody>
          <a:bodyPr wrap="square">
            <a:spAutoFit/>
          </a:bodyPr>
          <a:lstStyle/>
          <a:p>
            <a:r>
              <a:rPr lang="ru-RU" dirty="0" smtClean="0">
                <a:solidFill>
                  <a:schemeClr val="bg1">
                    <a:lumMod val="95000"/>
                  </a:schemeClr>
                </a:solidFill>
              </a:rPr>
              <a:t>Т</a:t>
            </a:r>
            <a:r>
              <a:rPr lang="en-US" dirty="0" err="1" smtClean="0">
                <a:solidFill>
                  <a:schemeClr val="bg1">
                    <a:lumMod val="95000"/>
                  </a:schemeClr>
                </a:solidFill>
              </a:rPr>
              <a:t>heoretically</a:t>
            </a:r>
            <a:r>
              <a:rPr lang="en-US" dirty="0">
                <a:solidFill>
                  <a:schemeClr val="bg1">
                    <a:lumMod val="95000"/>
                  </a:schemeClr>
                </a:solidFill>
              </a:rPr>
              <a:t>, if we take three colors (</a:t>
            </a:r>
            <a:r>
              <a:rPr lang="en-US" dirty="0">
                <a:solidFill>
                  <a:srgbClr val="FF0000"/>
                </a:solidFill>
              </a:rPr>
              <a:t>red</a:t>
            </a:r>
            <a:r>
              <a:rPr lang="en-US" dirty="0">
                <a:solidFill>
                  <a:schemeClr val="bg1">
                    <a:lumMod val="95000"/>
                  </a:schemeClr>
                </a:solidFill>
              </a:rPr>
              <a:t>, </a:t>
            </a:r>
            <a:r>
              <a:rPr lang="en-US" dirty="0">
                <a:solidFill>
                  <a:srgbClr val="00B050"/>
                </a:solidFill>
              </a:rPr>
              <a:t>green</a:t>
            </a:r>
            <a:r>
              <a:rPr lang="en-US" dirty="0">
                <a:solidFill>
                  <a:schemeClr val="bg1">
                    <a:lumMod val="95000"/>
                  </a:schemeClr>
                </a:solidFill>
              </a:rPr>
              <a:t>, and </a:t>
            </a:r>
            <a:r>
              <a:rPr lang="en-US" dirty="0">
                <a:solidFill>
                  <a:srgbClr val="0070C0"/>
                </a:solidFill>
              </a:rPr>
              <a:t>blue</a:t>
            </a:r>
            <a:r>
              <a:rPr lang="en-US" dirty="0">
                <a:solidFill>
                  <a:schemeClr val="bg1">
                    <a:lumMod val="95000"/>
                  </a:schemeClr>
                </a:solidFill>
              </a:rPr>
              <a:t>) as three coordinates, we can obtain any other color. For example, </a:t>
            </a:r>
            <a:r>
              <a:rPr lang="en-US" dirty="0">
                <a:solidFill>
                  <a:srgbClr val="FFFF00"/>
                </a:solidFill>
              </a:rPr>
              <a:t>yellow</a:t>
            </a:r>
            <a:r>
              <a:rPr lang="en-US" dirty="0">
                <a:solidFill>
                  <a:schemeClr val="bg1">
                    <a:lumMod val="95000"/>
                  </a:schemeClr>
                </a:solidFill>
              </a:rPr>
              <a:t> is created by combining </a:t>
            </a:r>
            <a:r>
              <a:rPr lang="en-US" dirty="0">
                <a:solidFill>
                  <a:srgbClr val="FF0000"/>
                </a:solidFill>
              </a:rPr>
              <a:t>red</a:t>
            </a:r>
            <a:r>
              <a:rPr lang="en-US" dirty="0">
                <a:solidFill>
                  <a:schemeClr val="bg1">
                    <a:lumMod val="95000"/>
                  </a:schemeClr>
                </a:solidFill>
              </a:rPr>
              <a:t> and </a:t>
            </a:r>
            <a:r>
              <a:rPr lang="en-US" dirty="0">
                <a:solidFill>
                  <a:srgbClr val="00B050"/>
                </a:solidFill>
              </a:rPr>
              <a:t>green</a:t>
            </a:r>
            <a:r>
              <a:rPr lang="en-US" dirty="0">
                <a:solidFill>
                  <a:schemeClr val="bg1">
                    <a:lumMod val="95000"/>
                  </a:schemeClr>
                </a:solidFill>
              </a:rPr>
              <a:t>.</a:t>
            </a:r>
          </a:p>
        </p:txBody>
      </p:sp>
      <p:sp>
        <p:nvSpPr>
          <p:cNvPr id="10" name="Rectangle 9"/>
          <p:cNvSpPr/>
          <p:nvPr/>
        </p:nvSpPr>
        <p:spPr>
          <a:xfrm>
            <a:off x="549275" y="1799361"/>
            <a:ext cx="7070725" cy="1200329"/>
          </a:xfrm>
          <a:prstGeom prst="rect">
            <a:avLst/>
          </a:prstGeom>
        </p:spPr>
        <p:txBody>
          <a:bodyPr wrap="square">
            <a:spAutoFit/>
          </a:bodyPr>
          <a:lstStyle/>
          <a:p>
            <a:r>
              <a:rPr lang="en-US" dirty="0">
                <a:solidFill>
                  <a:schemeClr val="bg1">
                    <a:lumMod val="50000"/>
                  </a:schemeClr>
                </a:solidFill>
              </a:rPr>
              <a:t>That is, if you turn on </a:t>
            </a:r>
            <a:r>
              <a:rPr lang="en-US" dirty="0">
                <a:solidFill>
                  <a:srgbClr val="FF0000"/>
                </a:solidFill>
              </a:rPr>
              <a:t>red</a:t>
            </a:r>
            <a:r>
              <a:rPr lang="en-US" dirty="0">
                <a:solidFill>
                  <a:schemeClr val="bg1">
                    <a:lumMod val="50000"/>
                  </a:schemeClr>
                </a:solidFill>
              </a:rPr>
              <a:t> and </a:t>
            </a:r>
            <a:r>
              <a:rPr lang="en-US" dirty="0">
                <a:solidFill>
                  <a:srgbClr val="00B050"/>
                </a:solidFill>
              </a:rPr>
              <a:t>green</a:t>
            </a:r>
            <a:r>
              <a:rPr lang="en-US" dirty="0">
                <a:solidFill>
                  <a:schemeClr val="bg1">
                    <a:lumMod val="50000"/>
                  </a:schemeClr>
                </a:solidFill>
              </a:rPr>
              <a:t> lamps next to each other in the dark, from a distance, it will appear as if a single yellow light is shining. (This is exactly how a monitor works—what we perceive as a </a:t>
            </a:r>
            <a:r>
              <a:rPr lang="en-US" dirty="0">
                <a:solidFill>
                  <a:srgbClr val="FFFF00"/>
                </a:solidFill>
              </a:rPr>
              <a:t>yellow</a:t>
            </a:r>
            <a:r>
              <a:rPr lang="en-US" dirty="0">
                <a:solidFill>
                  <a:schemeClr val="bg1">
                    <a:lumMod val="50000"/>
                  </a:schemeClr>
                </a:solidFill>
              </a:rPr>
              <a:t> pixel is actually </a:t>
            </a:r>
            <a:r>
              <a:rPr lang="en-US" dirty="0">
                <a:solidFill>
                  <a:srgbClr val="FF0000"/>
                </a:solidFill>
              </a:rPr>
              <a:t>red</a:t>
            </a:r>
            <a:r>
              <a:rPr lang="en-US" dirty="0">
                <a:solidFill>
                  <a:schemeClr val="bg1">
                    <a:lumMod val="50000"/>
                  </a:schemeClr>
                </a:solidFill>
              </a:rPr>
              <a:t> and </a:t>
            </a:r>
            <a:r>
              <a:rPr lang="en-US" dirty="0">
                <a:solidFill>
                  <a:srgbClr val="00B050"/>
                </a:solidFill>
              </a:rPr>
              <a:t>green</a:t>
            </a:r>
            <a:r>
              <a:rPr lang="en-US" dirty="0">
                <a:solidFill>
                  <a:schemeClr val="bg1">
                    <a:lumMod val="50000"/>
                  </a:schemeClr>
                </a:solidFill>
              </a:rPr>
              <a:t> LEDs lit up side by side.)</a:t>
            </a:r>
          </a:p>
        </p:txBody>
      </p:sp>
      <p:grpSp>
        <p:nvGrpSpPr>
          <p:cNvPr id="18" name="Group 17"/>
          <p:cNvGrpSpPr/>
          <p:nvPr/>
        </p:nvGrpSpPr>
        <p:grpSpPr>
          <a:xfrm>
            <a:off x="7890892" y="2091080"/>
            <a:ext cx="1957958" cy="443984"/>
            <a:chOff x="7890892" y="2265447"/>
            <a:chExt cx="1957958" cy="443984"/>
          </a:xfrm>
        </p:grpSpPr>
        <p:sp>
          <p:nvSpPr>
            <p:cNvPr id="12" name="Sun 11"/>
            <p:cNvSpPr/>
            <p:nvPr/>
          </p:nvSpPr>
          <p:spPr>
            <a:xfrm>
              <a:off x="7890892" y="2290331"/>
              <a:ext cx="476250" cy="419100"/>
            </a:xfrm>
            <a:prstGeom prst="su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un 14"/>
            <p:cNvSpPr/>
            <p:nvPr/>
          </p:nvSpPr>
          <p:spPr>
            <a:xfrm>
              <a:off x="8365878" y="2265447"/>
              <a:ext cx="476250" cy="419100"/>
            </a:xfrm>
            <a:prstGeom prst="sun">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n 15"/>
            <p:cNvSpPr/>
            <p:nvPr/>
          </p:nvSpPr>
          <p:spPr>
            <a:xfrm>
              <a:off x="9372600" y="2265447"/>
              <a:ext cx="476250" cy="419100"/>
            </a:xfrm>
            <a:prstGeom prst="sun">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912934" y="2290331"/>
              <a:ext cx="319318" cy="369332"/>
            </a:xfrm>
            <a:prstGeom prst="rect">
              <a:avLst/>
            </a:prstGeom>
          </p:spPr>
          <p:txBody>
            <a:bodyPr wrap="none">
              <a:spAutoFit/>
            </a:bodyPr>
            <a:lstStyle/>
            <a:p>
              <a:r>
                <a:rPr lang="en-US" dirty="0" smtClean="0">
                  <a:solidFill>
                    <a:schemeClr val="bg1">
                      <a:lumMod val="50000"/>
                    </a:schemeClr>
                  </a:solidFill>
                </a:rPr>
                <a:t>=</a:t>
              </a:r>
              <a:endParaRPr lang="en-US" dirty="0"/>
            </a:p>
          </p:txBody>
        </p:sp>
      </p:grpSp>
      <p:sp>
        <p:nvSpPr>
          <p:cNvPr id="14" name="Rectangle 13"/>
          <p:cNvSpPr/>
          <p:nvPr/>
        </p:nvSpPr>
        <p:spPr>
          <a:xfrm>
            <a:off x="549275" y="3231118"/>
            <a:ext cx="9299575" cy="923330"/>
          </a:xfrm>
          <a:prstGeom prst="rect">
            <a:avLst/>
          </a:prstGeom>
        </p:spPr>
        <p:txBody>
          <a:bodyPr wrap="square">
            <a:spAutoFit/>
          </a:bodyPr>
          <a:lstStyle/>
          <a:p>
            <a:r>
              <a:rPr lang="en-US" dirty="0">
                <a:solidFill>
                  <a:schemeClr val="bg1">
                    <a:lumMod val="50000"/>
                  </a:schemeClr>
                </a:solidFill>
              </a:rPr>
              <a:t>This means that two electromagnetic </a:t>
            </a:r>
            <a:r>
              <a:rPr lang="en-US" dirty="0" smtClean="0">
                <a:solidFill>
                  <a:schemeClr val="bg1">
                    <a:lumMod val="50000"/>
                  </a:schemeClr>
                </a:solidFill>
              </a:rPr>
              <a:t>waves</a:t>
            </a:r>
            <a:r>
              <a:rPr lang="ru-RU" dirty="0" smtClean="0">
                <a:solidFill>
                  <a:schemeClr val="bg1">
                    <a:lumMod val="50000"/>
                  </a:schemeClr>
                </a:solidFill>
              </a:rPr>
              <a:t> </a:t>
            </a:r>
            <a:r>
              <a:rPr lang="en-US" dirty="0" smtClean="0">
                <a:solidFill>
                  <a:schemeClr val="bg1">
                    <a:lumMod val="50000"/>
                  </a:schemeClr>
                </a:solidFill>
              </a:rPr>
              <a:t>—</a:t>
            </a:r>
            <a:r>
              <a:rPr lang="ru-RU" dirty="0" smtClean="0">
                <a:solidFill>
                  <a:schemeClr val="bg1">
                    <a:lumMod val="50000"/>
                  </a:schemeClr>
                </a:solidFill>
              </a:rPr>
              <a:t> </a:t>
            </a:r>
            <a:r>
              <a:rPr lang="en-US" dirty="0" smtClean="0">
                <a:solidFill>
                  <a:schemeClr val="bg1">
                    <a:lumMod val="50000"/>
                  </a:schemeClr>
                </a:solidFill>
              </a:rPr>
              <a:t>one </a:t>
            </a:r>
            <a:r>
              <a:rPr lang="en-US" dirty="0">
                <a:solidFill>
                  <a:schemeClr val="bg1">
                    <a:lumMod val="50000"/>
                  </a:schemeClr>
                </a:solidFill>
              </a:rPr>
              <a:t>with a wavelength corresponding to </a:t>
            </a:r>
            <a:r>
              <a:rPr lang="en-US" dirty="0" smtClean="0">
                <a:solidFill>
                  <a:srgbClr val="FF0000"/>
                </a:solidFill>
              </a:rPr>
              <a:t>red</a:t>
            </a:r>
            <a:r>
              <a:rPr lang="en-US" dirty="0" smtClean="0">
                <a:solidFill>
                  <a:schemeClr val="bg1">
                    <a:lumMod val="50000"/>
                  </a:schemeClr>
                </a:solidFill>
              </a:rPr>
              <a:t> </a:t>
            </a:r>
            <a:r>
              <a:rPr lang="en-US" dirty="0">
                <a:solidFill>
                  <a:schemeClr val="bg1">
                    <a:lumMod val="50000"/>
                  </a:schemeClr>
                </a:solidFill>
              </a:rPr>
              <a:t>light and the other with a wavelength corresponding to </a:t>
            </a:r>
            <a:r>
              <a:rPr lang="en-US" dirty="0">
                <a:solidFill>
                  <a:srgbClr val="00B050"/>
                </a:solidFill>
              </a:rPr>
              <a:t>green</a:t>
            </a:r>
            <a:r>
              <a:rPr lang="en-US" dirty="0">
                <a:solidFill>
                  <a:schemeClr val="bg1">
                    <a:lumMod val="50000"/>
                  </a:schemeClr>
                </a:solidFill>
              </a:rPr>
              <a:t> </a:t>
            </a:r>
            <a:r>
              <a:rPr lang="en-US" dirty="0" smtClean="0">
                <a:solidFill>
                  <a:schemeClr val="bg1">
                    <a:lumMod val="50000"/>
                  </a:schemeClr>
                </a:solidFill>
              </a:rPr>
              <a:t>light — together </a:t>
            </a:r>
            <a:r>
              <a:rPr lang="en-US" dirty="0">
                <a:solidFill>
                  <a:schemeClr val="bg1">
                    <a:lumMod val="50000"/>
                  </a:schemeClr>
                </a:solidFill>
              </a:rPr>
              <a:t>produce a wave of </a:t>
            </a:r>
            <a:r>
              <a:rPr lang="en-US" dirty="0">
                <a:solidFill>
                  <a:srgbClr val="FFFF00"/>
                </a:solidFill>
              </a:rPr>
              <a:t>yellow</a:t>
            </a:r>
            <a:r>
              <a:rPr lang="en-US" dirty="0">
                <a:solidFill>
                  <a:schemeClr val="bg1">
                    <a:lumMod val="50000"/>
                  </a:schemeClr>
                </a:solidFill>
              </a:rPr>
              <a:t> light.</a:t>
            </a:r>
          </a:p>
        </p:txBody>
      </p:sp>
      <p:sp>
        <p:nvSpPr>
          <p:cNvPr id="19" name="Rectangle 18"/>
          <p:cNvSpPr/>
          <p:nvPr/>
        </p:nvSpPr>
        <p:spPr>
          <a:xfrm>
            <a:off x="549275" y="5339015"/>
            <a:ext cx="5822950" cy="1754326"/>
          </a:xfrm>
          <a:prstGeom prst="rect">
            <a:avLst/>
          </a:prstGeom>
        </p:spPr>
        <p:txBody>
          <a:bodyPr wrap="square">
            <a:spAutoFit/>
          </a:bodyPr>
          <a:lstStyle/>
          <a:p>
            <a:r>
              <a:rPr lang="en-US" dirty="0">
                <a:solidFill>
                  <a:schemeClr val="bg1">
                    <a:lumMod val="50000"/>
                  </a:schemeClr>
                </a:solidFill>
              </a:rPr>
              <a:t>But the thing is, a "pure" electromagnetic wave with a frequency corresponding to yellow light will produce a more intense color, which cannot be achieved by mixing our red and green waves. Therefore, no device that uses three (or more) primary colors can display all colors at the maximum intensity available to our eyes.</a:t>
            </a:r>
          </a:p>
        </p:txBody>
      </p:sp>
      <p:grpSp>
        <p:nvGrpSpPr>
          <p:cNvPr id="29" name="Group 28"/>
          <p:cNvGrpSpPr/>
          <p:nvPr/>
        </p:nvGrpSpPr>
        <p:grpSpPr>
          <a:xfrm>
            <a:off x="922020" y="4582872"/>
            <a:ext cx="2042160" cy="551105"/>
            <a:chOff x="922020" y="4850502"/>
            <a:chExt cx="941070" cy="283475"/>
          </a:xfrm>
        </p:grpSpPr>
        <p:cxnSp>
          <p:nvCxnSpPr>
            <p:cNvPr id="21" name="Straight Arrow Connector 20"/>
            <p:cNvCxnSpPr/>
            <p:nvPr/>
          </p:nvCxnSpPr>
          <p:spPr>
            <a:xfrm flipV="1">
              <a:off x="922020" y="5133976"/>
              <a:ext cx="941070" cy="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Freeform 21"/>
            <p:cNvSpPr/>
            <p:nvPr/>
          </p:nvSpPr>
          <p:spPr>
            <a:xfrm>
              <a:off x="1112520" y="4850502"/>
              <a:ext cx="461010" cy="255272"/>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1203960" y="4850502"/>
              <a:ext cx="461010" cy="255272"/>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p:cNvGrpSpPr/>
          <p:nvPr/>
        </p:nvGrpSpPr>
        <p:grpSpPr>
          <a:xfrm>
            <a:off x="3162608" y="4582873"/>
            <a:ext cx="2042160" cy="551105"/>
            <a:chOff x="3162608" y="4582873"/>
            <a:chExt cx="2042160" cy="551105"/>
          </a:xfrm>
        </p:grpSpPr>
        <p:cxnSp>
          <p:nvCxnSpPr>
            <p:cNvPr id="30" name="Straight Arrow Connector 29"/>
            <p:cNvCxnSpPr/>
            <p:nvPr/>
          </p:nvCxnSpPr>
          <p:spPr>
            <a:xfrm flipV="1">
              <a:off x="3162608" y="5133976"/>
              <a:ext cx="2042160" cy="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Freeform 30"/>
            <p:cNvSpPr/>
            <p:nvPr/>
          </p:nvSpPr>
          <p:spPr>
            <a:xfrm>
              <a:off x="3576001" y="4582873"/>
              <a:ext cx="1000410" cy="496275"/>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a:off x="3774429" y="4582873"/>
              <a:ext cx="1000410" cy="496275"/>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63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3520440" y="4663440"/>
              <a:ext cx="1356360" cy="415707"/>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19050">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6248708" y="5940625"/>
            <a:ext cx="1642184" cy="551105"/>
            <a:chOff x="6248708" y="5940625"/>
            <a:chExt cx="1642184" cy="551105"/>
          </a:xfrm>
        </p:grpSpPr>
        <p:cxnSp>
          <p:nvCxnSpPr>
            <p:cNvPr id="48" name="Straight Arrow Connector 47"/>
            <p:cNvCxnSpPr/>
            <p:nvPr/>
          </p:nvCxnSpPr>
          <p:spPr>
            <a:xfrm>
              <a:off x="6248708" y="6491730"/>
              <a:ext cx="1642184"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Freeform 48"/>
            <p:cNvSpPr/>
            <p:nvPr/>
          </p:nvSpPr>
          <p:spPr>
            <a:xfrm>
              <a:off x="6414451" y="5940625"/>
              <a:ext cx="1000410" cy="496275"/>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6612879" y="5940625"/>
              <a:ext cx="1000410" cy="496275"/>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63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a:off x="6358890" y="6021192"/>
              <a:ext cx="1356360" cy="415707"/>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19050">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p:cNvGrpSpPr/>
          <p:nvPr/>
        </p:nvGrpSpPr>
        <p:grpSpPr>
          <a:xfrm>
            <a:off x="8117895" y="5848350"/>
            <a:ext cx="1642184" cy="643380"/>
            <a:chOff x="8117895" y="5848350"/>
            <a:chExt cx="1642184" cy="643380"/>
          </a:xfrm>
        </p:grpSpPr>
        <p:cxnSp>
          <p:nvCxnSpPr>
            <p:cNvPr id="60" name="Straight Arrow Connector 59"/>
            <p:cNvCxnSpPr/>
            <p:nvPr/>
          </p:nvCxnSpPr>
          <p:spPr>
            <a:xfrm>
              <a:off x="8117895" y="6491730"/>
              <a:ext cx="1642184"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Freeform 62"/>
            <p:cNvSpPr/>
            <p:nvPr/>
          </p:nvSpPr>
          <p:spPr>
            <a:xfrm>
              <a:off x="8365878" y="5848350"/>
              <a:ext cx="1006722" cy="588549"/>
            </a:xfrm>
            <a:custGeom>
              <a:avLst/>
              <a:gdLst>
                <a:gd name="connsiteX0" fmla="*/ 0 w 868680"/>
                <a:gd name="connsiteY0" fmla="*/ 251462 h 251462"/>
                <a:gd name="connsiteX1" fmla="*/ 308610 w 868680"/>
                <a:gd name="connsiteY1" fmla="*/ 186692 h 251462"/>
                <a:gd name="connsiteX2" fmla="*/ 510540 w 868680"/>
                <a:gd name="connsiteY2" fmla="*/ 2 h 251462"/>
                <a:gd name="connsiteX3" fmla="*/ 662940 w 868680"/>
                <a:gd name="connsiteY3" fmla="*/ 190502 h 251462"/>
                <a:gd name="connsiteX4" fmla="*/ 868680 w 868680"/>
                <a:gd name="connsiteY4" fmla="*/ 247652 h 251462"/>
                <a:gd name="connsiteX0" fmla="*/ 0 w 868680"/>
                <a:gd name="connsiteY0" fmla="*/ 251467 h 251467"/>
                <a:gd name="connsiteX1" fmla="*/ 237300 w 868680"/>
                <a:gd name="connsiteY1" fmla="*/ 198127 h 251467"/>
                <a:gd name="connsiteX2" fmla="*/ 510540 w 868680"/>
                <a:gd name="connsiteY2" fmla="*/ 7 h 251467"/>
                <a:gd name="connsiteX3" fmla="*/ 662940 w 868680"/>
                <a:gd name="connsiteY3" fmla="*/ 190507 h 251467"/>
                <a:gd name="connsiteX4" fmla="*/ 868680 w 868680"/>
                <a:gd name="connsiteY4" fmla="*/ 247657 h 251467"/>
                <a:gd name="connsiteX0" fmla="*/ 0 w 868680"/>
                <a:gd name="connsiteY0" fmla="*/ 251467 h 251467"/>
                <a:gd name="connsiteX1" fmla="*/ 237300 w 868680"/>
                <a:gd name="connsiteY1" fmla="*/ 198127 h 251467"/>
                <a:gd name="connsiteX2" fmla="*/ 367921 w 868680"/>
                <a:gd name="connsiteY2" fmla="*/ 7 h 251467"/>
                <a:gd name="connsiteX3" fmla="*/ 662940 w 868680"/>
                <a:gd name="connsiteY3" fmla="*/ 190507 h 251467"/>
                <a:gd name="connsiteX4" fmla="*/ 868680 w 868680"/>
                <a:gd name="connsiteY4" fmla="*/ 247657 h 251467"/>
                <a:gd name="connsiteX0" fmla="*/ 0 w 868680"/>
                <a:gd name="connsiteY0" fmla="*/ 251460 h 251460"/>
                <a:gd name="connsiteX1" fmla="*/ 237300 w 868680"/>
                <a:gd name="connsiteY1" fmla="*/ 198120 h 251460"/>
                <a:gd name="connsiteX2" fmla="*/ 367921 w 868680"/>
                <a:gd name="connsiteY2" fmla="*/ 0 h 251460"/>
                <a:gd name="connsiteX3" fmla="*/ 500873 w 868680"/>
                <a:gd name="connsiteY3" fmla="*/ 198120 h 251460"/>
                <a:gd name="connsiteX4" fmla="*/ 868680 w 868680"/>
                <a:gd name="connsiteY4" fmla="*/ 247650 h 251460"/>
                <a:gd name="connsiteX0" fmla="*/ 0 w 868680"/>
                <a:gd name="connsiteY0" fmla="*/ 255270 h 255270"/>
                <a:gd name="connsiteX1" fmla="*/ 237300 w 868680"/>
                <a:gd name="connsiteY1" fmla="*/ 201930 h 255270"/>
                <a:gd name="connsiteX2" fmla="*/ 361438 w 868680"/>
                <a:gd name="connsiteY2" fmla="*/ 0 h 255270"/>
                <a:gd name="connsiteX3" fmla="*/ 500873 w 868680"/>
                <a:gd name="connsiteY3" fmla="*/ 201930 h 255270"/>
                <a:gd name="connsiteX4" fmla="*/ 868680 w 868680"/>
                <a:gd name="connsiteY4" fmla="*/ 251460 h 255270"/>
                <a:gd name="connsiteX0" fmla="*/ 0 w 868680"/>
                <a:gd name="connsiteY0" fmla="*/ 255335 h 255335"/>
                <a:gd name="connsiteX1" fmla="*/ 237300 w 868680"/>
                <a:gd name="connsiteY1" fmla="*/ 201995 h 255335"/>
                <a:gd name="connsiteX2" fmla="*/ 361438 w 868680"/>
                <a:gd name="connsiteY2" fmla="*/ 65 h 255335"/>
                <a:gd name="connsiteX3" fmla="*/ 500873 w 868680"/>
                <a:gd name="connsiteY3" fmla="*/ 201995 h 255335"/>
                <a:gd name="connsiteX4" fmla="*/ 868680 w 868680"/>
                <a:gd name="connsiteY4" fmla="*/ 251525 h 255335"/>
                <a:gd name="connsiteX0" fmla="*/ 0 w 868680"/>
                <a:gd name="connsiteY0" fmla="*/ 255278 h 255278"/>
                <a:gd name="connsiteX1" fmla="*/ 198404 w 868680"/>
                <a:gd name="connsiteY1" fmla="*/ 194318 h 255278"/>
                <a:gd name="connsiteX2" fmla="*/ 361438 w 868680"/>
                <a:gd name="connsiteY2" fmla="*/ 8 h 255278"/>
                <a:gd name="connsiteX3" fmla="*/ 500873 w 868680"/>
                <a:gd name="connsiteY3" fmla="*/ 201938 h 255278"/>
                <a:gd name="connsiteX4" fmla="*/ 868680 w 868680"/>
                <a:gd name="connsiteY4" fmla="*/ 251468 h 255278"/>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 name="connsiteX0" fmla="*/ 0 w 868680"/>
                <a:gd name="connsiteY0" fmla="*/ 255272 h 255272"/>
                <a:gd name="connsiteX1" fmla="*/ 198404 w 868680"/>
                <a:gd name="connsiteY1" fmla="*/ 194312 h 255272"/>
                <a:gd name="connsiteX2" fmla="*/ 361438 w 868680"/>
                <a:gd name="connsiteY2" fmla="*/ 2 h 255272"/>
                <a:gd name="connsiteX3" fmla="*/ 552735 w 868680"/>
                <a:gd name="connsiteY3" fmla="*/ 198122 h 255272"/>
                <a:gd name="connsiteX4" fmla="*/ 868680 w 868680"/>
                <a:gd name="connsiteY4" fmla="*/ 251462 h 25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680" h="255272">
                  <a:moveTo>
                    <a:pt x="0" y="255272"/>
                  </a:moveTo>
                  <a:cubicBezTo>
                    <a:pt x="111760" y="243842"/>
                    <a:pt x="138164" y="236857"/>
                    <a:pt x="198404" y="194312"/>
                  </a:cubicBezTo>
                  <a:cubicBezTo>
                    <a:pt x="258644" y="151767"/>
                    <a:pt x="244039" y="-633"/>
                    <a:pt x="361438" y="2"/>
                  </a:cubicBezTo>
                  <a:cubicBezTo>
                    <a:pt x="478837" y="637"/>
                    <a:pt x="468195" y="156212"/>
                    <a:pt x="552735" y="198122"/>
                  </a:cubicBezTo>
                  <a:cubicBezTo>
                    <a:pt x="637275" y="240032"/>
                    <a:pt x="795655" y="243524"/>
                    <a:pt x="868680" y="251462"/>
                  </a:cubicBezTo>
                </a:path>
              </a:pathLst>
            </a:custGeom>
            <a:noFill/>
            <a:ln w="19050">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676080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 name="Picture 2" descr="rgb_space_12_rgb100"/>
          <p:cNvPicPr>
            <a:picLocks noChangeAspect="1" noChangeArrowheads="1"/>
          </p:cNvPicPr>
          <p:nvPr/>
        </p:nvPicPr>
        <p:blipFill rotWithShape="1">
          <a:blip r:embed="rId2">
            <a:extLst>
              <a:ext uri="{28A0092B-C50C-407E-A947-70E740481C1C}">
                <a14:useLocalDpi xmlns:a14="http://schemas.microsoft.com/office/drawing/2010/main" val="0"/>
              </a:ext>
            </a:extLst>
          </a:blip>
          <a:srcRect l="17877" t="3713" r="14626" b="20159"/>
          <a:stretch/>
        </p:blipFill>
        <p:spPr bwMode="auto">
          <a:xfrm>
            <a:off x="1276605" y="0"/>
            <a:ext cx="8105520" cy="697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p:cNvSpPr/>
          <p:nvPr/>
        </p:nvSpPr>
        <p:spPr>
          <a:xfrm>
            <a:off x="5457825" y="2609850"/>
            <a:ext cx="276225" cy="276225"/>
          </a:xfrm>
          <a:prstGeom prst="ellipse">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6610350" y="4086225"/>
            <a:ext cx="276225" cy="276225"/>
          </a:xfrm>
          <a:prstGeom prst="ellipse">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4581525" y="5019675"/>
            <a:ext cx="276225" cy="276225"/>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7055001" y="3855392"/>
            <a:ext cx="521297" cy="461665"/>
          </a:xfrm>
          <a:prstGeom prst="rect">
            <a:avLst/>
          </a:prstGeom>
        </p:spPr>
        <p:txBody>
          <a:bodyPr wrap="none">
            <a:spAutoFit/>
          </a:bodyPr>
          <a:lstStyle/>
          <a:p>
            <a:r>
              <a:rPr lang="en-US" sz="2400" dirty="0" smtClean="0">
                <a:ln>
                  <a:solidFill>
                    <a:srgbClr val="FF0000"/>
                  </a:solidFill>
                </a:ln>
                <a:solidFill>
                  <a:srgbClr val="FF0000"/>
                </a:solidFill>
              </a:rPr>
              <a:t>C</a:t>
            </a:r>
            <a:r>
              <a:rPr lang="en-US" sz="2400" baseline="-25000" dirty="0" smtClean="0">
                <a:ln>
                  <a:solidFill>
                    <a:srgbClr val="FF0000"/>
                  </a:solidFill>
                </a:ln>
                <a:solidFill>
                  <a:srgbClr val="FF0000"/>
                </a:solidFill>
              </a:rPr>
              <a:t>1</a:t>
            </a:r>
            <a:endParaRPr lang="en-US" sz="2400" baseline="-25000" dirty="0">
              <a:ln>
                <a:solidFill>
                  <a:srgbClr val="FF0000"/>
                </a:solidFill>
              </a:ln>
              <a:solidFill>
                <a:srgbClr val="FF0000"/>
              </a:solidFill>
            </a:endParaRPr>
          </a:p>
        </p:txBody>
      </p:sp>
      <p:sp>
        <p:nvSpPr>
          <p:cNvPr id="37" name="Rectangle 36"/>
          <p:cNvSpPr/>
          <p:nvPr/>
        </p:nvSpPr>
        <p:spPr>
          <a:xfrm>
            <a:off x="4719637" y="5443432"/>
            <a:ext cx="521297" cy="461665"/>
          </a:xfrm>
          <a:prstGeom prst="rect">
            <a:avLst/>
          </a:prstGeom>
          <a:ln>
            <a:noFill/>
          </a:ln>
        </p:spPr>
        <p:txBody>
          <a:bodyPr wrap="none">
            <a:spAutoFit/>
          </a:bodyPr>
          <a:lstStyle/>
          <a:p>
            <a:r>
              <a:rPr lang="en-US" sz="2400" dirty="0" smtClean="0">
                <a:ln>
                  <a:solidFill>
                    <a:srgbClr val="00B050"/>
                  </a:solidFill>
                </a:ln>
                <a:solidFill>
                  <a:srgbClr val="00B050"/>
                </a:solidFill>
              </a:rPr>
              <a:t>C</a:t>
            </a:r>
            <a:r>
              <a:rPr lang="en-US" sz="2400" baseline="-25000" dirty="0" smtClean="0">
                <a:ln>
                  <a:solidFill>
                    <a:srgbClr val="00B050"/>
                  </a:solidFill>
                </a:ln>
                <a:solidFill>
                  <a:srgbClr val="00B050"/>
                </a:solidFill>
              </a:rPr>
              <a:t>2</a:t>
            </a:r>
            <a:endParaRPr lang="en-US" sz="2400" baseline="-25000" dirty="0">
              <a:ln>
                <a:solidFill>
                  <a:srgbClr val="00B050"/>
                </a:solidFill>
              </a:ln>
              <a:solidFill>
                <a:srgbClr val="00B050"/>
              </a:solidFill>
            </a:endParaRPr>
          </a:p>
        </p:txBody>
      </p:sp>
      <p:sp>
        <p:nvSpPr>
          <p:cNvPr id="38" name="Rectangle 37"/>
          <p:cNvSpPr/>
          <p:nvPr/>
        </p:nvSpPr>
        <p:spPr>
          <a:xfrm>
            <a:off x="5734949" y="2379017"/>
            <a:ext cx="521297" cy="461665"/>
          </a:xfrm>
          <a:prstGeom prst="rect">
            <a:avLst/>
          </a:prstGeom>
        </p:spPr>
        <p:txBody>
          <a:bodyPr wrap="none">
            <a:spAutoFit/>
          </a:bodyPr>
          <a:lstStyle/>
          <a:p>
            <a:r>
              <a:rPr lang="en-US" sz="2400" dirty="0" smtClean="0">
                <a:ln>
                  <a:solidFill>
                    <a:srgbClr val="00B0F0"/>
                  </a:solidFill>
                </a:ln>
                <a:solidFill>
                  <a:srgbClr val="00B0F0"/>
                </a:solidFill>
              </a:rPr>
              <a:t>C</a:t>
            </a:r>
            <a:r>
              <a:rPr lang="en-US" sz="2400" baseline="-25000" dirty="0" smtClean="0">
                <a:ln>
                  <a:solidFill>
                    <a:srgbClr val="00B0F0"/>
                  </a:solidFill>
                </a:ln>
                <a:solidFill>
                  <a:srgbClr val="00B0F0"/>
                </a:solidFill>
              </a:rPr>
              <a:t>3</a:t>
            </a:r>
            <a:endParaRPr lang="en-US" sz="2400" baseline="-25000" dirty="0">
              <a:ln>
                <a:solidFill>
                  <a:srgbClr val="00B0F0"/>
                </a:solidFill>
              </a:ln>
              <a:solidFill>
                <a:srgbClr val="00B0F0"/>
              </a:solidFill>
            </a:endParaRPr>
          </a:p>
        </p:txBody>
      </p:sp>
      <p:cxnSp>
        <p:nvCxnSpPr>
          <p:cNvPr id="5" name="Straight Connector 4"/>
          <p:cNvCxnSpPr/>
          <p:nvPr/>
        </p:nvCxnSpPr>
        <p:spPr>
          <a:xfrm flipV="1">
            <a:off x="4719637" y="2886075"/>
            <a:ext cx="804863" cy="21336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5" idx="3"/>
          </p:cNvCxnSpPr>
          <p:nvPr/>
        </p:nvCxnSpPr>
        <p:spPr>
          <a:xfrm flipV="1">
            <a:off x="4871281" y="4321998"/>
            <a:ext cx="1779521" cy="80807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5" idx="1"/>
            <a:endCxn id="2" idx="5"/>
          </p:cNvCxnSpPr>
          <p:nvPr/>
        </p:nvCxnSpPr>
        <p:spPr>
          <a:xfrm flipH="1" flipV="1">
            <a:off x="5693598" y="2845623"/>
            <a:ext cx="957204" cy="1281054"/>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6" name="Rectangle 1"/>
          <p:cNvSpPr>
            <a:spLocks noChangeArrowheads="1"/>
          </p:cNvSpPr>
          <p:nvPr/>
        </p:nvSpPr>
        <p:spPr bwMode="auto">
          <a:xfrm>
            <a:off x="7005383" y="2457360"/>
            <a:ext cx="290988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The color range that </a:t>
            </a:r>
            <a:r>
              <a:rPr kumimoji="0" lang="en-US" altLang="en-US" sz="1800" b="1" i="0" u="none" strike="noStrike" cap="none" normalizeH="0" baseline="0" dirty="0" smtClean="0">
                <a:ln>
                  <a:noFill/>
                </a:ln>
                <a:solidFill>
                  <a:schemeClr val="bg1">
                    <a:lumMod val="50000"/>
                  </a:schemeClr>
                </a:solidFill>
                <a:effectLst/>
                <a:latin typeface="Arial" panose="020B0604020202020204" pitchFamily="34" charset="0"/>
              </a:rPr>
              <a:t>can</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be obtained by mixing colors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1</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2</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and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3</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endParaRPr>
          </a:p>
        </p:txBody>
      </p:sp>
      <p:sp>
        <p:nvSpPr>
          <p:cNvPr id="52" name="Rectangle 1"/>
          <p:cNvSpPr>
            <a:spLocks noChangeArrowheads="1"/>
          </p:cNvSpPr>
          <p:nvPr/>
        </p:nvSpPr>
        <p:spPr bwMode="auto">
          <a:xfrm>
            <a:off x="819151" y="2926348"/>
            <a:ext cx="316476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The color range that can </a:t>
            </a:r>
            <a:r>
              <a:rPr kumimoji="0" lang="en-US" altLang="en-US" sz="1800" b="1" i="0" u="none" strike="noStrike" cap="none" normalizeH="0" baseline="0" dirty="0" smtClean="0">
                <a:ln>
                  <a:noFill/>
                </a:ln>
                <a:solidFill>
                  <a:schemeClr val="bg1">
                    <a:lumMod val="50000"/>
                  </a:schemeClr>
                </a:solidFill>
                <a:effectLst/>
                <a:latin typeface="Arial" panose="020B0604020202020204" pitchFamily="34" charset="0"/>
              </a:rPr>
              <a:t>not</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be obtained by mixing colors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1</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2</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 and C</a:t>
            </a:r>
            <a:r>
              <a:rPr kumimoji="0" lang="en-US" altLang="en-US" sz="1800" b="0" i="0" u="none" strike="noStrike" cap="none" normalizeH="0" baseline="-25000" dirty="0" smtClean="0">
                <a:ln>
                  <a:noFill/>
                </a:ln>
                <a:solidFill>
                  <a:schemeClr val="bg1">
                    <a:lumMod val="50000"/>
                  </a:schemeClr>
                </a:solidFill>
                <a:effectLst/>
                <a:latin typeface="Arial" panose="020B0604020202020204" pitchFamily="34" charset="0"/>
              </a:rPr>
              <a:t>3</a:t>
            </a:r>
            <a:r>
              <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lumMod val="50000"/>
                </a:schemeClr>
              </a:solidFill>
              <a:effectLst/>
              <a:latin typeface="Arial" panose="020B0604020202020204" pitchFamily="34" charset="0"/>
            </a:endParaRPr>
          </a:p>
        </p:txBody>
      </p:sp>
      <p:cxnSp>
        <p:nvCxnSpPr>
          <p:cNvPr id="39" name="Straight Connector 38"/>
          <p:cNvCxnSpPr/>
          <p:nvPr/>
        </p:nvCxnSpPr>
        <p:spPr>
          <a:xfrm flipH="1">
            <a:off x="5876925" y="3429000"/>
            <a:ext cx="1266825" cy="65722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flipV="1">
            <a:off x="3181271" y="3657689"/>
            <a:ext cx="1369269" cy="86668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505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5755" y="1421190"/>
            <a:ext cx="5577820" cy="5674935"/>
          </a:xfrm>
          <a:prstGeom prst="rect">
            <a:avLst/>
          </a:prstGeom>
        </p:spPr>
      </p:pic>
      <p:sp>
        <p:nvSpPr>
          <p:cNvPr id="17" name="Rectangle 16"/>
          <p:cNvSpPr/>
          <p:nvPr/>
        </p:nvSpPr>
        <p:spPr>
          <a:xfrm>
            <a:off x="520700" y="581710"/>
            <a:ext cx="2803525" cy="584775"/>
          </a:xfrm>
          <a:prstGeom prst="rect">
            <a:avLst/>
          </a:prstGeom>
        </p:spPr>
        <p:txBody>
          <a:bodyPr wrap="square">
            <a:spAutoFit/>
          </a:bodyPr>
          <a:lstStyle/>
          <a:p>
            <a:r>
              <a:rPr lang="en-US" sz="3200" dirty="0" smtClean="0">
                <a:solidFill>
                  <a:srgbClr val="FFFF00"/>
                </a:solidFill>
              </a:rPr>
              <a:t>Color Gamut</a:t>
            </a:r>
            <a:endParaRPr lang="en-US" sz="3200" dirty="0">
              <a:solidFill>
                <a:srgbClr val="FFFF00"/>
              </a:solidFill>
            </a:endParaRPr>
          </a:p>
        </p:txBody>
      </p:sp>
      <p:sp>
        <p:nvSpPr>
          <p:cNvPr id="8" name="Rectangle 7"/>
          <p:cNvSpPr/>
          <p:nvPr/>
        </p:nvSpPr>
        <p:spPr>
          <a:xfrm>
            <a:off x="520700" y="1421190"/>
            <a:ext cx="5343526" cy="3139321"/>
          </a:xfrm>
          <a:prstGeom prst="rect">
            <a:avLst/>
          </a:prstGeom>
        </p:spPr>
        <p:txBody>
          <a:bodyPr>
            <a:spAutoFit/>
          </a:bodyPr>
          <a:lstStyle/>
          <a:p>
            <a:r>
              <a:rPr lang="en-US" dirty="0">
                <a:solidFill>
                  <a:schemeClr val="bg1"/>
                </a:solidFill>
              </a:rPr>
              <a:t>In color reproduction and </a:t>
            </a:r>
            <a:r>
              <a:rPr lang="en-US" dirty="0" err="1">
                <a:solidFill>
                  <a:schemeClr val="bg1"/>
                </a:solidFill>
              </a:rPr>
              <a:t>colorimetry</a:t>
            </a:r>
            <a:r>
              <a:rPr lang="en-US" dirty="0">
                <a:solidFill>
                  <a:schemeClr val="bg1"/>
                </a:solidFill>
              </a:rPr>
              <a:t>, a gamut, or color gamut /ˈ</a:t>
            </a:r>
            <a:r>
              <a:rPr lang="en-US" dirty="0" err="1">
                <a:solidFill>
                  <a:schemeClr val="bg1"/>
                </a:solidFill>
              </a:rPr>
              <a:t>ɡæmət</a:t>
            </a:r>
            <a:r>
              <a:rPr lang="en-US" dirty="0">
                <a:solidFill>
                  <a:schemeClr val="bg1"/>
                </a:solidFill>
              </a:rPr>
              <a:t>/, is a convex set containing the colors that can be accurately represented, i.e. reproduced by an output device (e.g. printer or display) or measured by an input device (e.g. camera or visual system). Devices with a larger gamut can represent more colors. Similarly, gamut may also refer to the colors within a defined color space, which is not linked to a specific device. A trichromatic gamut is often visualized as a color triangle.</a:t>
            </a:r>
            <a:endParaRPr lang="en-US" dirty="0">
              <a:solidFill>
                <a:schemeClr val="bg1"/>
              </a:solidFill>
            </a:endParaRPr>
          </a:p>
        </p:txBody>
      </p:sp>
      <p:sp>
        <p:nvSpPr>
          <p:cNvPr id="9" name="Rectangle 8"/>
          <p:cNvSpPr/>
          <p:nvPr/>
        </p:nvSpPr>
        <p:spPr>
          <a:xfrm>
            <a:off x="4089365" y="689431"/>
            <a:ext cx="3749744" cy="369332"/>
          </a:xfrm>
          <a:prstGeom prst="rect">
            <a:avLst/>
          </a:prstGeom>
        </p:spPr>
        <p:txBody>
          <a:bodyPr wrap="none">
            <a:spAutoFit/>
          </a:bodyPr>
          <a:lstStyle/>
          <a:p>
            <a:r>
              <a:rPr lang="en-US" dirty="0">
                <a:solidFill>
                  <a:srgbClr val="00B0F0"/>
                </a:solidFill>
              </a:rPr>
              <a:t>https://en.wikipedia.org/wiki/Gamut</a:t>
            </a:r>
          </a:p>
        </p:txBody>
      </p:sp>
    </p:spTree>
    <p:extLst>
      <p:ext uri="{BB962C8B-B14F-4D97-AF65-F5344CB8AC3E}">
        <p14:creationId xmlns:p14="http://schemas.microsoft.com/office/powerpoint/2010/main" val="11282698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 name="Rectangle 16"/>
          <p:cNvSpPr/>
          <p:nvPr/>
        </p:nvSpPr>
        <p:spPr>
          <a:xfrm>
            <a:off x="863600" y="406508"/>
            <a:ext cx="2803525" cy="584775"/>
          </a:xfrm>
          <a:prstGeom prst="rect">
            <a:avLst/>
          </a:prstGeom>
        </p:spPr>
        <p:txBody>
          <a:bodyPr wrap="square">
            <a:spAutoFit/>
          </a:bodyPr>
          <a:lstStyle/>
          <a:p>
            <a:r>
              <a:rPr lang="en-US" sz="3200" dirty="0" smtClean="0">
                <a:solidFill>
                  <a:srgbClr val="FFFF00"/>
                </a:solidFill>
              </a:rPr>
              <a:t>Color Gamut</a:t>
            </a:r>
            <a:endParaRPr lang="en-US" sz="3200" dirty="0">
              <a:solidFill>
                <a:srgbClr val="FFFF00"/>
              </a:solidFill>
            </a:endParaRPr>
          </a:p>
        </p:txBody>
      </p:sp>
      <p:pic>
        <p:nvPicPr>
          <p:cNvPr id="12290" name="Picture 2" descr="undef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1" y="698896"/>
            <a:ext cx="5730650" cy="6404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5893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my_space_rgb_sp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350" y="0"/>
            <a:ext cx="9449875" cy="755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a:xfrm>
            <a:off x="380400" y="138675"/>
            <a:ext cx="9618840" cy="941791"/>
          </a:xfrm>
        </p:spPr>
        <p:txBody>
          <a:bodyPr/>
          <a:lstStyle/>
          <a:p>
            <a:r>
              <a:rPr lang="en-US" sz="3600" b="1" dirty="0"/>
              <a:t>Subtractive Color Mixing</a:t>
            </a:r>
          </a:p>
        </p:txBody>
      </p:sp>
      <p:sp>
        <p:nvSpPr>
          <p:cNvPr id="2" name="Rectangle 1"/>
          <p:cNvSpPr/>
          <p:nvPr/>
        </p:nvSpPr>
        <p:spPr>
          <a:xfrm>
            <a:off x="664831" y="1119036"/>
            <a:ext cx="3515325" cy="1631216"/>
          </a:xfrm>
          <a:prstGeom prst="rect">
            <a:avLst/>
          </a:prstGeom>
        </p:spPr>
        <p:txBody>
          <a:bodyPr wrap="square">
            <a:spAutoFit/>
          </a:bodyPr>
          <a:lstStyle/>
          <a:p>
            <a:r>
              <a:rPr lang="en-US" sz="2000" dirty="0"/>
              <a:t>The physical analogy here is applying paints to white paper. In other words, the result of adding colors becomes darker.</a:t>
            </a:r>
          </a:p>
        </p:txBody>
      </p:sp>
      <p:sp>
        <p:nvSpPr>
          <p:cNvPr id="6" name="Rectangle 5"/>
          <p:cNvSpPr/>
          <p:nvPr/>
        </p:nvSpPr>
        <p:spPr>
          <a:xfrm>
            <a:off x="8193772" y="4092059"/>
            <a:ext cx="784189" cy="400110"/>
          </a:xfrm>
          <a:prstGeom prst="rect">
            <a:avLst/>
          </a:prstGeom>
        </p:spPr>
        <p:txBody>
          <a:bodyPr wrap="none">
            <a:spAutoFit/>
          </a:bodyPr>
          <a:lstStyle/>
          <a:p>
            <a:r>
              <a:rPr lang="en-US" sz="2000" dirty="0">
                <a:solidFill>
                  <a:srgbClr val="00B0F0"/>
                </a:solidFill>
              </a:rPr>
              <a:t>Cyan</a:t>
            </a:r>
          </a:p>
        </p:txBody>
      </p:sp>
      <p:sp>
        <p:nvSpPr>
          <p:cNvPr id="8" name="Rectangle 7"/>
          <p:cNvSpPr/>
          <p:nvPr/>
        </p:nvSpPr>
        <p:spPr>
          <a:xfrm>
            <a:off x="3552508" y="4887634"/>
            <a:ext cx="1181734" cy="400110"/>
          </a:xfrm>
          <a:prstGeom prst="rect">
            <a:avLst/>
          </a:prstGeom>
        </p:spPr>
        <p:txBody>
          <a:bodyPr wrap="none">
            <a:spAutoFit/>
          </a:bodyPr>
          <a:lstStyle/>
          <a:p>
            <a:r>
              <a:rPr lang="en-US" sz="2000" dirty="0" smtClean="0">
                <a:solidFill>
                  <a:srgbClr val="7030A0"/>
                </a:solidFill>
              </a:rPr>
              <a:t>Magenta</a:t>
            </a:r>
            <a:endParaRPr lang="en-US" sz="2000" dirty="0">
              <a:solidFill>
                <a:srgbClr val="7030A0"/>
              </a:solidFill>
            </a:endParaRPr>
          </a:p>
        </p:txBody>
      </p:sp>
      <p:sp>
        <p:nvSpPr>
          <p:cNvPr id="9" name="Rectangle 8"/>
          <p:cNvSpPr/>
          <p:nvPr/>
        </p:nvSpPr>
        <p:spPr>
          <a:xfrm>
            <a:off x="5965287" y="1186130"/>
            <a:ext cx="919354" cy="400110"/>
          </a:xfrm>
          <a:prstGeom prst="rect">
            <a:avLst/>
          </a:prstGeom>
        </p:spPr>
        <p:txBody>
          <a:bodyPr wrap="none">
            <a:spAutoFit/>
          </a:bodyPr>
          <a:lstStyle/>
          <a:p>
            <a:r>
              <a:rPr lang="en-US" sz="2000" dirty="0" smtClean="0">
                <a:solidFill>
                  <a:srgbClr val="FFC000"/>
                </a:solidFill>
              </a:rPr>
              <a:t>Yellow</a:t>
            </a:r>
            <a:endParaRPr lang="en-US" sz="2000" dirty="0">
              <a:solidFill>
                <a:srgbClr val="FFC000"/>
              </a:solidFill>
            </a:endParaRPr>
          </a:p>
        </p:txBody>
      </p:sp>
      <p:sp>
        <p:nvSpPr>
          <p:cNvPr id="10" name="Rectangle 9"/>
          <p:cNvSpPr/>
          <p:nvPr/>
        </p:nvSpPr>
        <p:spPr>
          <a:xfrm>
            <a:off x="1409100" y="6624514"/>
            <a:ext cx="4972649" cy="523220"/>
          </a:xfrm>
          <a:prstGeom prst="rect">
            <a:avLst/>
          </a:prstGeom>
        </p:spPr>
        <p:txBody>
          <a:bodyPr wrap="square">
            <a:spAutoFit/>
          </a:bodyPr>
          <a:lstStyle/>
          <a:p>
            <a:r>
              <a:rPr lang="en-US" sz="2800" dirty="0" smtClean="0"/>
              <a:t>[</a:t>
            </a:r>
            <a:r>
              <a:rPr lang="en-US" sz="2800" dirty="0" smtClean="0">
                <a:solidFill>
                  <a:srgbClr val="00B0F0"/>
                </a:solidFill>
              </a:rPr>
              <a:t>C</a:t>
            </a:r>
            <a:r>
              <a:rPr lang="en-US" sz="2800" dirty="0" smtClean="0"/>
              <a:t>, </a:t>
            </a:r>
            <a:r>
              <a:rPr lang="en-US" sz="2800" dirty="0" smtClean="0">
                <a:solidFill>
                  <a:srgbClr val="7030A0"/>
                </a:solidFill>
              </a:rPr>
              <a:t>M</a:t>
            </a:r>
            <a:r>
              <a:rPr lang="en-US" sz="2800" dirty="0" smtClean="0"/>
              <a:t>, </a:t>
            </a:r>
            <a:r>
              <a:rPr lang="en-US" sz="2800" dirty="0" smtClean="0">
                <a:solidFill>
                  <a:srgbClr val="FFC000"/>
                </a:solidFill>
              </a:rPr>
              <a:t>Y</a:t>
            </a:r>
            <a:r>
              <a:rPr lang="en-US" sz="2800" dirty="0" smtClean="0"/>
              <a:t>] = [1-</a:t>
            </a:r>
            <a:r>
              <a:rPr lang="en-US" sz="2800" dirty="0" smtClean="0">
                <a:solidFill>
                  <a:srgbClr val="FF0000"/>
                </a:solidFill>
              </a:rPr>
              <a:t>R</a:t>
            </a:r>
            <a:r>
              <a:rPr lang="en-US" sz="2800" dirty="0" smtClean="0"/>
              <a:t>, 1-</a:t>
            </a:r>
            <a:r>
              <a:rPr lang="en-US" sz="2800" dirty="0" smtClean="0">
                <a:solidFill>
                  <a:srgbClr val="00B050"/>
                </a:solidFill>
              </a:rPr>
              <a:t>G</a:t>
            </a:r>
            <a:r>
              <a:rPr lang="en-US" sz="2800" dirty="0" smtClean="0"/>
              <a:t>, 1-</a:t>
            </a:r>
            <a:r>
              <a:rPr lang="en-US" sz="2800" dirty="0" smtClean="0">
                <a:solidFill>
                  <a:srgbClr val="0070C0"/>
                </a:solidFill>
              </a:rPr>
              <a:t>B</a:t>
            </a:r>
            <a:r>
              <a:rPr lang="en-US" sz="2800" dirty="0" smtClean="0"/>
              <a:t>]</a:t>
            </a:r>
            <a:endParaRPr lang="en-US" sz="2800" dirty="0"/>
          </a:p>
        </p:txBody>
      </p:sp>
      <p:sp>
        <p:nvSpPr>
          <p:cNvPr id="11" name="Rectangle 10"/>
          <p:cNvSpPr/>
          <p:nvPr/>
        </p:nvSpPr>
        <p:spPr>
          <a:xfrm>
            <a:off x="6749451" y="6747624"/>
            <a:ext cx="3118449" cy="400110"/>
          </a:xfrm>
          <a:prstGeom prst="rect">
            <a:avLst/>
          </a:prstGeom>
        </p:spPr>
        <p:txBody>
          <a:bodyPr wrap="square">
            <a:spAutoFit/>
          </a:bodyPr>
          <a:lstStyle/>
          <a:p>
            <a:r>
              <a:rPr lang="en-US" sz="2000" dirty="0" smtClean="0"/>
              <a:t>[</a:t>
            </a:r>
            <a:r>
              <a:rPr lang="en-US" sz="2000" dirty="0" smtClean="0">
                <a:solidFill>
                  <a:srgbClr val="00B0F0"/>
                </a:solidFill>
              </a:rPr>
              <a:t>0.5</a:t>
            </a:r>
            <a:r>
              <a:rPr lang="en-US" sz="2000" dirty="0" smtClean="0"/>
              <a:t>, </a:t>
            </a:r>
            <a:r>
              <a:rPr lang="en-US" sz="2000" dirty="0" smtClean="0">
                <a:solidFill>
                  <a:srgbClr val="7030A0"/>
                </a:solidFill>
              </a:rPr>
              <a:t>1</a:t>
            </a:r>
            <a:r>
              <a:rPr lang="en-US" sz="2000" dirty="0" smtClean="0"/>
              <a:t>, </a:t>
            </a:r>
            <a:r>
              <a:rPr lang="en-US" sz="2000" dirty="0" smtClean="0">
                <a:solidFill>
                  <a:srgbClr val="FFC000"/>
                </a:solidFill>
              </a:rPr>
              <a:t>0.3</a:t>
            </a:r>
            <a:r>
              <a:rPr lang="en-US" sz="2000" dirty="0" smtClean="0"/>
              <a:t>] = [</a:t>
            </a:r>
            <a:r>
              <a:rPr lang="en-US" sz="2000" dirty="0" smtClean="0">
                <a:solidFill>
                  <a:srgbClr val="FF0000"/>
                </a:solidFill>
              </a:rPr>
              <a:t>0.5</a:t>
            </a:r>
            <a:r>
              <a:rPr lang="en-US" sz="2000" dirty="0" smtClean="0"/>
              <a:t>, </a:t>
            </a:r>
            <a:r>
              <a:rPr lang="en-US" sz="2000" dirty="0" smtClean="0">
                <a:solidFill>
                  <a:srgbClr val="00B050"/>
                </a:solidFill>
              </a:rPr>
              <a:t>0</a:t>
            </a:r>
            <a:r>
              <a:rPr lang="en-US" sz="2000" dirty="0" smtClean="0"/>
              <a:t>, </a:t>
            </a:r>
            <a:r>
              <a:rPr lang="en-US" sz="2000" dirty="0" smtClean="0">
                <a:solidFill>
                  <a:srgbClr val="0070C0"/>
                </a:solidFill>
              </a:rPr>
              <a:t>0.7</a:t>
            </a:r>
            <a:r>
              <a:rPr lang="en-US" sz="2000" dirty="0" smtClean="0"/>
              <a:t>]</a:t>
            </a:r>
            <a:endParaRPr lang="en-US" sz="2000" dirty="0"/>
          </a:p>
        </p:txBody>
      </p:sp>
      <p:sp>
        <p:nvSpPr>
          <p:cNvPr id="7" name="Rectangle 6"/>
          <p:cNvSpPr/>
          <p:nvPr/>
        </p:nvSpPr>
        <p:spPr>
          <a:xfrm>
            <a:off x="664831" y="5707715"/>
            <a:ext cx="3276859" cy="707886"/>
          </a:xfrm>
          <a:prstGeom prst="rect">
            <a:avLst/>
          </a:prstGeom>
        </p:spPr>
        <p:txBody>
          <a:bodyPr wrap="none">
            <a:spAutoFit/>
          </a:bodyPr>
          <a:lstStyle/>
          <a:p>
            <a:r>
              <a:rPr lang="en-US" sz="2000" dirty="0"/>
              <a:t>The spaces </a:t>
            </a:r>
            <a:r>
              <a:rPr lang="en-US" sz="2000" dirty="0" smtClean="0"/>
              <a:t>RGB and CMY</a:t>
            </a:r>
          </a:p>
          <a:p>
            <a:r>
              <a:rPr lang="en-US" sz="2000" dirty="0" smtClean="0"/>
              <a:t>are </a:t>
            </a:r>
            <a:r>
              <a:rPr lang="en-US" sz="2000" dirty="0"/>
              <a:t>mutually opposite.</a:t>
            </a:r>
          </a:p>
        </p:txBody>
      </p:sp>
    </p:spTree>
    <p:extLst>
      <p:ext uri="{BB962C8B-B14F-4D97-AF65-F5344CB8AC3E}">
        <p14:creationId xmlns:p14="http://schemas.microsoft.com/office/powerpoint/2010/main" val="5949436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90175" y="3377175"/>
            <a:ext cx="6115650" cy="941791"/>
          </a:xfrm>
        </p:spPr>
        <p:txBody>
          <a:bodyPr/>
          <a:lstStyle/>
          <a:p>
            <a:pPr algn="ctr"/>
            <a:r>
              <a:rPr lang="en-US" sz="3200" b="1" dirty="0" smtClean="0">
                <a:solidFill>
                  <a:schemeClr val="bg1">
                    <a:lumMod val="50000"/>
                  </a:schemeClr>
                </a:solidFill>
              </a:rPr>
              <a:t>Thank You!</a:t>
            </a:r>
            <a:endParaRPr lang="en-US" sz="3200" b="1" dirty="0">
              <a:solidFill>
                <a:schemeClr val="bg1">
                  <a:lumMod val="50000"/>
                </a:schemeClr>
              </a:solidFill>
            </a:endParaRPr>
          </a:p>
        </p:txBody>
      </p:sp>
    </p:spTree>
    <p:extLst>
      <p:ext uri="{BB962C8B-B14F-4D97-AF65-F5344CB8AC3E}">
        <p14:creationId xmlns:p14="http://schemas.microsoft.com/office/powerpoint/2010/main" val="3275694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4845</TotalTime>
  <Words>967</Words>
  <Application>Microsoft Office PowerPoint</Application>
  <PresentationFormat>Custom</PresentationFormat>
  <Paragraphs>74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 Unicode MS</vt:lpstr>
      <vt:lpstr>Arial</vt:lpstr>
      <vt:lpstr>Calibri</vt:lpstr>
      <vt:lpstr>Courier New</vt:lpstr>
      <vt:lpstr>DejaVu Sans</vt:lpstr>
      <vt:lpstr>Times New Roman</vt:lpstr>
      <vt:lpstr>Office Theme</vt:lpstr>
      <vt:lpstr>PowerPoint Presentation</vt:lpstr>
      <vt:lpstr>Color Models </vt:lpstr>
      <vt:lpstr>3. A gradual change in any component results in a gradual (continuous) change in the outcome.</vt:lpstr>
      <vt:lpstr>Additive Color Mixing</vt:lpstr>
      <vt:lpstr>Additive Color Mixing</vt:lpstr>
      <vt:lpstr>Additive Color Mixing</vt:lpstr>
      <vt:lpstr>Additive Color Mixing</vt:lpstr>
      <vt:lpstr>Additive Color Mixing</vt:lpstr>
      <vt:lpstr>Additive Color Mixing</vt:lpstr>
      <vt:lpstr>Additive Color Mixing</vt:lpstr>
      <vt:lpstr>PowerPoint Presentation</vt:lpstr>
      <vt:lpstr>PowerPoint Presentation</vt:lpstr>
      <vt:lpstr>PowerPoint Presentation</vt:lpstr>
      <vt:lpstr>PowerPoint Presentation</vt:lpstr>
      <vt:lpstr>Subtractive Color Mixing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Gia</dc:creator>
  <dc:description/>
  <cp:lastModifiedBy>gia</cp:lastModifiedBy>
  <cp:revision>262</cp:revision>
  <dcterms:created xsi:type="dcterms:W3CDTF">2020-03-23T22:11:02Z</dcterms:created>
  <dcterms:modified xsi:type="dcterms:W3CDTF">2025-03-12T00:15:16Z</dcterms:modified>
  <dc:language>en-US</dc:language>
</cp:coreProperties>
</file>